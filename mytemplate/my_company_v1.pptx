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58" r:id="rId2"/>
    <p:sldId id="359" r:id="rId3"/>
    <p:sldId id="285" r:id="rId4"/>
    <p:sldId id="309" r:id="rId5"/>
    <p:sldId id="352" r:id="rId6"/>
    <p:sldId id="299" r:id="rId7"/>
    <p:sldId id="357" r:id="rId8"/>
    <p:sldId id="360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  <p:cmAuthor id="2" name="bbs" initials="b" lastIdx="0" clrIdx="1"/>
  <p:cmAuthor id="3" name="fei peng" initials="fp" lastIdx="0" clrIdx="2"/>
  <p:cmAuthor id="4" name="Janus Way" initials="JW" lastIdx="0" clrIdx="3"/>
  <p:cmAuthor id="5" name="User" initials="U" lastIdx="0" clrIdx="4"/>
  <p:cmAuthor id="6" name="cheny" initials="c" lastIdx="0" clrIdx="5"/>
  <p:cmAuthor id="7" name="刘 先生" initials="刘" lastIdx="0" clrIdx="6"/>
  <p:cmAuthor id="8" name="haoze li" initials="hl" lastIdx="0" clrIdx="7"/>
  <p:cmAuthor id="9" name="Mumu Wen" initials="M" lastIdx="0" clrIdx="8"/>
  <p:cmAuthor id="10" name="Xiaofei Wang" initials="X" lastIdx="0" clrIdx="9"/>
  <p:cmAuthor id="11" name="GW-RDUser" initials="G" lastIdx="0" clrIdx="10"/>
  <p:cmAuthor id="12" name="余丽琼" initials="余" lastIdx="0" clrIdx="11"/>
  <p:cmAuthor id="13" name="yulq" initials="y" lastIdx="0" clrIdx="12"/>
  <p:cmAuthor id="14" name="10118178" initials="1" lastIdx="0" clrIdx="13"/>
  <p:cmAuthor id="15" name="WPS_1679281038" initials="W" lastIdx="0" clrIdx="14"/>
  <p:cmAuthor id="16" name="zhouwd" initials="z" lastIdx="0" clrIdx="15"/>
  <p:cmAuthor id="17" name="马云飞10014438" initials="马" lastIdx="0" clrIdx="16"/>
  <p:cmAuthor id="18" name="John" initials="J" lastIdx="0" clrIdx="17"/>
  <p:cmAuthor id="19" name="10025093" initials="1" lastIdx="0" clrIdx="18"/>
  <p:cmAuthor id="20" name="10078380" initials="1" lastIdx="0" clrIdx="19"/>
  <p:cmAuthor id="21" name="00035181" initials="0" lastIdx="0" clrIdx="20"/>
  <p:cmAuthor id="22" name="张燕" initials="张" lastIdx="0" clrIdx="21"/>
  <p:cmAuthor id="23" name="Saku Uchikawa" initials="S" lastIdx="0" clrIdx="22"/>
  <p:cmAuthor id="24" name="10066351" initials="1" lastIdx="0" clrIdx="23"/>
  <p:cmAuthor id="25" name="ThinkPad" initials="T" lastIdx="0" clrIdx="24"/>
  <p:cmAuthor id="26" name="亚洁 周" initials="亚洁" lastIdx="0" clrIdx="25"/>
  <p:cmAuthor id="27" name="fengyuan" initials="fy" lastIdx="0" clrIdx="26"/>
  <p:cmAuthor id="28" name="Li Yuzhao" initials="LY" lastIdx="0" clrIdx="27"/>
  <p:cmAuthor id="29" name="HHM" initials="H" lastIdx="0" clrIdx="28"/>
  <p:cmAuthor id="30" name="lu zhao" initials="lz" lastIdx="0" clrIdx="29"/>
  <p:cmAuthor id="31" name="drlaser" initials="d" lastIdx="0" clrIdx="30"/>
  <p:cmAuthor id="32" name="作者" initials="A" lastIdx="0" clrIdx="31"/>
  <p:cmAuthor id="33" name="WPS" initials="W" lastIdx="0" clrIdx="3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D2"/>
    <a:srgbClr val="EEEEFC"/>
    <a:srgbClr val="F1F1FD"/>
    <a:srgbClr val="F2F2FD"/>
    <a:srgbClr val="EFF0F5"/>
    <a:srgbClr val="F5F5F5"/>
    <a:srgbClr val="0B66F9"/>
    <a:srgbClr val="C98409"/>
    <a:srgbClr val="F2B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14" autoAdjust="0"/>
    <p:restoredTop sz="95238" autoAdjust="0"/>
  </p:normalViewPr>
  <p:slideViewPr>
    <p:cSldViewPr snapToGrid="0">
      <p:cViewPr varScale="1">
        <p:scale>
          <a:sx n="91" d="100"/>
          <a:sy n="91" d="100"/>
        </p:scale>
        <p:origin x="904" y="56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D71C9-CA43-4549-86BE-FDB46A1ED9A7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70EED-034D-486F-B556-15B28D9DE1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827C7AC-9D18-E31F-6FDE-5B3293446A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921E115-4968-5CE4-0767-F587875EEE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6150" y="398029"/>
            <a:ext cx="2590805" cy="40843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B9BD364-5437-262F-C2FE-D8031BD523C8}"/>
              </a:ext>
            </a:extLst>
          </p:cNvPr>
          <p:cNvSpPr txBox="1"/>
          <p:nvPr userDrawn="1"/>
        </p:nvSpPr>
        <p:spPr>
          <a:xfrm>
            <a:off x="476150" y="5721093"/>
            <a:ext cx="2852063" cy="375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武汉达梦数据库股份有限公司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48BF26-2C24-6B5D-6325-6E6A2E259D9C}"/>
              </a:ext>
            </a:extLst>
          </p:cNvPr>
          <p:cNvSpPr txBox="1"/>
          <p:nvPr userDrawn="1"/>
        </p:nvSpPr>
        <p:spPr>
          <a:xfrm>
            <a:off x="3550998" y="5721093"/>
            <a:ext cx="1595309" cy="375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fld id="{727F4D80-7C35-4AB6-8DE5-34189E10CF51}" type="datetime2">
              <a:rPr lang="zh-CN" altLang="en-US" sz="1600" smtClean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2026年7月17日</a:t>
            </a:fld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CC2A8F2-3A52-95D0-F907-2B9D510D06F9}"/>
              </a:ext>
            </a:extLst>
          </p:cNvPr>
          <p:cNvCxnSpPr/>
          <p:nvPr userDrawn="1"/>
        </p:nvCxnSpPr>
        <p:spPr>
          <a:xfrm>
            <a:off x="3409711" y="5794895"/>
            <a:ext cx="0" cy="215187"/>
          </a:xfrm>
          <a:prstGeom prst="line">
            <a:avLst/>
          </a:prstGeom>
          <a:ln w="12700">
            <a:solidFill>
              <a:srgbClr val="265E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6A86FC-660F-6F0F-EB13-4E461ED870C4}"/>
              </a:ext>
            </a:extLst>
          </p:cNvPr>
          <p:cNvSpPr/>
          <p:nvPr/>
        </p:nvSpPr>
        <p:spPr>
          <a:xfrm>
            <a:off x="476754" y="4379724"/>
            <a:ext cx="1895508" cy="393198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0000D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3BD04F-97B4-94E2-5A7E-B53D49B93206}"/>
              </a:ext>
            </a:extLst>
          </p:cNvPr>
          <p:cNvSpPr txBox="1"/>
          <p:nvPr userDrawn="1"/>
        </p:nvSpPr>
        <p:spPr>
          <a:xfrm>
            <a:off x="476150" y="3172603"/>
            <a:ext cx="4185761" cy="517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D2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打造中国的世界级数据库品牌</a:t>
            </a: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72620292-E0B5-6A9D-7BF6-BBABF32E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56" y="1754633"/>
            <a:ext cx="10515600" cy="1325563"/>
          </a:xfrm>
        </p:spPr>
        <p:txBody>
          <a:bodyPr/>
          <a:lstStyle>
            <a:lvl1pPr algn="l">
              <a:defRPr sz="5400">
                <a:latin typeface="HarmonyOS Sans SC Black" panose="00000A00000000000000" pitchFamily="2" charset="-122"/>
                <a:ea typeface="HarmonyOS Sans SC Black" panose="00000A00000000000000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723FA6A9-5528-947E-E885-A2CCBD9CDC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156" y="4426226"/>
            <a:ext cx="1699592" cy="305372"/>
          </a:xfrm>
        </p:spPr>
        <p:txBody>
          <a:bodyPr/>
          <a:lstStyle>
            <a:lvl1pPr algn="ctr">
              <a:buNone/>
              <a:defRPr sz="2000">
                <a:solidFill>
                  <a:schemeClr val="bg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defRPr>
            </a:lvl1pPr>
            <a:lvl2pPr>
              <a:buFontTx/>
              <a:buNone/>
              <a:defRPr/>
            </a:lvl2pPr>
          </a:lstStyle>
          <a:p>
            <a:pPr lvl="0"/>
            <a:r>
              <a:rPr lang="zh-CN" altLang="en-US" dirty="0"/>
              <a:t>作者</a:t>
            </a:r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98380" y="466355"/>
            <a:ext cx="2103385" cy="331593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CF962F45-F0E9-397D-5B1D-79679304E10A}"/>
              </a:ext>
            </a:extLst>
          </p:cNvPr>
          <p:cNvSpPr txBox="1"/>
          <p:nvPr userDrawn="1"/>
        </p:nvSpPr>
        <p:spPr>
          <a:xfrm>
            <a:off x="350680" y="884982"/>
            <a:ext cx="228460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CONTENT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41" name="标题 26">
            <a:extLst>
              <a:ext uri="{FF2B5EF4-FFF2-40B4-BE49-F238E27FC236}">
                <a16:creationId xmlns:a16="http://schemas.microsoft.com/office/drawing/2014/main" id="{63E28159-7BE3-2030-0D45-707285526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720" y="285651"/>
            <a:ext cx="10363200" cy="599331"/>
          </a:xfrm>
          <a:prstGeom prst="rect">
            <a:avLst/>
          </a:prstGeom>
        </p:spPr>
        <p:txBody>
          <a:bodyPr/>
          <a:lstStyle>
            <a:lvl1pPr>
              <a:defRPr b="1">
                <a:latin typeface="HarmonyOS Sans SC Black" panose="00000A00000000000000" pitchFamily="2" charset="-122"/>
                <a:ea typeface="HarmonyOS Sans SC Black" panose="00000A00000000000000" pitchFamily="2" charset="-122"/>
              </a:defRPr>
            </a:lvl1pPr>
          </a:lstStyle>
          <a:p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目录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31F0A72-C1F9-63EB-3AD1-8F10BE829B54}"/>
              </a:ext>
            </a:extLst>
          </p:cNvPr>
          <p:cNvSpPr txBox="1"/>
          <p:nvPr userDrawn="1"/>
        </p:nvSpPr>
        <p:spPr>
          <a:xfrm>
            <a:off x="10461215" y="6229592"/>
            <a:ext cx="163378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www.dameng.com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01D412B-F0CB-3B7A-796A-3C674DAA7266}"/>
              </a:ext>
            </a:extLst>
          </p:cNvPr>
          <p:cNvSpPr txBox="1"/>
          <p:nvPr userDrawn="1"/>
        </p:nvSpPr>
        <p:spPr>
          <a:xfrm>
            <a:off x="339780" y="6229592"/>
            <a:ext cx="2185214" cy="304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打造中国的世界级数据库品牌</a:t>
            </a:r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B60C5347-9414-0852-7F8B-91BA23F2CDF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239375" y="6291439"/>
            <a:ext cx="222250" cy="222250"/>
          </a:xfrm>
          <a:custGeom>
            <a:avLst/>
            <a:gdLst>
              <a:gd name="T0" fmla="*/ 300 w 600"/>
              <a:gd name="T1" fmla="*/ 600 h 600"/>
              <a:gd name="T2" fmla="*/ 379 w 600"/>
              <a:gd name="T3" fmla="*/ 561 h 600"/>
              <a:gd name="T4" fmla="*/ 427 w 600"/>
              <a:gd name="T5" fmla="*/ 485 h 600"/>
              <a:gd name="T6" fmla="*/ 481 w 600"/>
              <a:gd name="T7" fmla="*/ 508 h 600"/>
              <a:gd name="T8" fmla="*/ 383 w 600"/>
              <a:gd name="T9" fmla="*/ 568 h 600"/>
              <a:gd name="T10" fmla="*/ 442 w 600"/>
              <a:gd name="T11" fmla="*/ 314 h 600"/>
              <a:gd name="T12" fmla="*/ 416 w 600"/>
              <a:gd name="T13" fmla="*/ 449 h 600"/>
              <a:gd name="T14" fmla="*/ 310 w 600"/>
              <a:gd name="T15" fmla="*/ 310 h 600"/>
              <a:gd name="T16" fmla="*/ 414 w 600"/>
              <a:gd name="T17" fmla="*/ 469 h 600"/>
              <a:gd name="T18" fmla="*/ 310 w 600"/>
              <a:gd name="T19" fmla="*/ 580 h 600"/>
              <a:gd name="T20" fmla="*/ 410 w 600"/>
              <a:gd name="T21" fmla="*/ 467 h 600"/>
              <a:gd name="T22" fmla="*/ 435 w 600"/>
              <a:gd name="T23" fmla="*/ 123 h 600"/>
              <a:gd name="T24" fmla="*/ 427 w 600"/>
              <a:gd name="T25" fmla="*/ 114 h 600"/>
              <a:gd name="T26" fmla="*/ 379 w 600"/>
              <a:gd name="T27" fmla="*/ 39 h 600"/>
              <a:gd name="T28" fmla="*/ 481 w 600"/>
              <a:gd name="T29" fmla="*/ 86 h 600"/>
              <a:gd name="T30" fmla="*/ 416 w 600"/>
              <a:gd name="T31" fmla="*/ 152 h 600"/>
              <a:gd name="T32" fmla="*/ 442 w 600"/>
              <a:gd name="T33" fmla="*/ 286 h 600"/>
              <a:gd name="T34" fmla="*/ 310 w 600"/>
              <a:gd name="T35" fmla="*/ 171 h 600"/>
              <a:gd name="T36" fmla="*/ 310 w 600"/>
              <a:gd name="T37" fmla="*/ 152 h 600"/>
              <a:gd name="T38" fmla="*/ 412 w 600"/>
              <a:gd name="T39" fmla="*/ 128 h 600"/>
              <a:gd name="T40" fmla="*/ 314 w 600"/>
              <a:gd name="T41" fmla="*/ 152 h 600"/>
              <a:gd name="T42" fmla="*/ 496 w 600"/>
              <a:gd name="T43" fmla="*/ 495 h 600"/>
              <a:gd name="T44" fmla="*/ 440 w 600"/>
              <a:gd name="T45" fmla="*/ 451 h 600"/>
              <a:gd name="T46" fmla="*/ 460 w 600"/>
              <a:gd name="T47" fmla="*/ 348 h 600"/>
              <a:gd name="T48" fmla="*/ 462 w 600"/>
              <a:gd name="T49" fmla="*/ 310 h 600"/>
              <a:gd name="T50" fmla="*/ 502 w 600"/>
              <a:gd name="T51" fmla="*/ 495 h 600"/>
              <a:gd name="T52" fmla="*/ 457 w 600"/>
              <a:gd name="T53" fmla="*/ 225 h 600"/>
              <a:gd name="T54" fmla="*/ 437 w 600"/>
              <a:gd name="T55" fmla="*/ 143 h 600"/>
              <a:gd name="T56" fmla="*/ 499 w 600"/>
              <a:gd name="T57" fmla="*/ 103 h 600"/>
              <a:gd name="T58" fmla="*/ 580 w 600"/>
              <a:gd name="T59" fmla="*/ 291 h 600"/>
              <a:gd name="T60" fmla="*/ 461 w 600"/>
              <a:gd name="T61" fmla="*/ 263 h 600"/>
              <a:gd name="T62" fmla="*/ 204 w 600"/>
              <a:gd name="T63" fmla="*/ 59 h 600"/>
              <a:gd name="T64" fmla="*/ 170 w 600"/>
              <a:gd name="T65" fmla="*/ 125 h 600"/>
              <a:gd name="T66" fmla="*/ 115 w 600"/>
              <a:gd name="T67" fmla="*/ 90 h 600"/>
              <a:gd name="T68" fmla="*/ 232 w 600"/>
              <a:gd name="T69" fmla="*/ 28 h 600"/>
              <a:gd name="T70" fmla="*/ 179 w 600"/>
              <a:gd name="T71" fmla="*/ 154 h 600"/>
              <a:gd name="T72" fmla="*/ 287 w 600"/>
              <a:gd name="T73" fmla="*/ 171 h 600"/>
              <a:gd name="T74" fmla="*/ 158 w 600"/>
              <a:gd name="T75" fmla="*/ 291 h 600"/>
              <a:gd name="T76" fmla="*/ 188 w 600"/>
              <a:gd name="T77" fmla="*/ 128 h 600"/>
              <a:gd name="T78" fmla="*/ 290 w 600"/>
              <a:gd name="T79" fmla="*/ 152 h 600"/>
              <a:gd name="T80" fmla="*/ 186 w 600"/>
              <a:gd name="T81" fmla="*/ 132 h 600"/>
              <a:gd name="T82" fmla="*/ 171 w 600"/>
              <a:gd name="T83" fmla="*/ 480 h 600"/>
              <a:gd name="T84" fmla="*/ 204 w 600"/>
              <a:gd name="T85" fmla="*/ 541 h 600"/>
              <a:gd name="T86" fmla="*/ 221 w 600"/>
              <a:gd name="T87" fmla="*/ 561 h 600"/>
              <a:gd name="T88" fmla="*/ 119 w 600"/>
              <a:gd name="T89" fmla="*/ 514 h 600"/>
              <a:gd name="T90" fmla="*/ 184 w 600"/>
              <a:gd name="T91" fmla="*/ 449 h 600"/>
              <a:gd name="T92" fmla="*/ 158 w 600"/>
              <a:gd name="T93" fmla="*/ 314 h 600"/>
              <a:gd name="T94" fmla="*/ 290 w 600"/>
              <a:gd name="T95" fmla="*/ 429 h 600"/>
              <a:gd name="T96" fmla="*/ 290 w 600"/>
              <a:gd name="T97" fmla="*/ 449 h 600"/>
              <a:gd name="T98" fmla="*/ 188 w 600"/>
              <a:gd name="T99" fmla="*/ 473 h 600"/>
              <a:gd name="T100" fmla="*/ 286 w 600"/>
              <a:gd name="T101" fmla="*/ 449 h 600"/>
              <a:gd name="T102" fmla="*/ 141 w 600"/>
              <a:gd name="T103" fmla="*/ 254 h 600"/>
              <a:gd name="T104" fmla="*/ 139 w 600"/>
              <a:gd name="T105" fmla="*/ 291 h 600"/>
              <a:gd name="T106" fmla="*/ 99 w 600"/>
              <a:gd name="T107" fmla="*/ 105 h 600"/>
              <a:gd name="T108" fmla="*/ 160 w 600"/>
              <a:gd name="T109" fmla="*/ 141 h 600"/>
              <a:gd name="T110" fmla="*/ 145 w 600"/>
              <a:gd name="T111" fmla="*/ 216 h 600"/>
              <a:gd name="T112" fmla="*/ 145 w 600"/>
              <a:gd name="T113" fmla="*/ 384 h 600"/>
              <a:gd name="T114" fmla="*/ 160 w 600"/>
              <a:gd name="T115" fmla="*/ 459 h 600"/>
              <a:gd name="T116" fmla="*/ 99 w 600"/>
              <a:gd name="T117" fmla="*/ 495 h 600"/>
              <a:gd name="T118" fmla="*/ 139 w 600"/>
              <a:gd name="T119" fmla="*/ 310 h 600"/>
              <a:gd name="T120" fmla="*/ 141 w 600"/>
              <a:gd name="T121" fmla="*/ 348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00" h="600">
                <a:moveTo>
                  <a:pt x="300" y="0"/>
                </a:moveTo>
                <a:cubicBezTo>
                  <a:pt x="135" y="0"/>
                  <a:pt x="0" y="135"/>
                  <a:pt x="0" y="300"/>
                </a:cubicBezTo>
                <a:cubicBezTo>
                  <a:pt x="0" y="466"/>
                  <a:pt x="135" y="600"/>
                  <a:pt x="300" y="600"/>
                </a:cubicBezTo>
                <a:cubicBezTo>
                  <a:pt x="466" y="600"/>
                  <a:pt x="600" y="466"/>
                  <a:pt x="600" y="300"/>
                </a:cubicBezTo>
                <a:cubicBezTo>
                  <a:pt x="600" y="135"/>
                  <a:pt x="466" y="0"/>
                  <a:pt x="300" y="0"/>
                </a:cubicBezTo>
                <a:close/>
                <a:moveTo>
                  <a:pt x="379" y="561"/>
                </a:moveTo>
                <a:cubicBezTo>
                  <a:pt x="385" y="556"/>
                  <a:pt x="390" y="549"/>
                  <a:pt x="396" y="541"/>
                </a:cubicBezTo>
                <a:cubicBezTo>
                  <a:pt x="398" y="539"/>
                  <a:pt x="398" y="539"/>
                  <a:pt x="398" y="539"/>
                </a:cubicBezTo>
                <a:cubicBezTo>
                  <a:pt x="409" y="524"/>
                  <a:pt x="418" y="506"/>
                  <a:pt x="427" y="485"/>
                </a:cubicBezTo>
                <a:cubicBezTo>
                  <a:pt x="431" y="476"/>
                  <a:pt x="431" y="476"/>
                  <a:pt x="431" y="476"/>
                </a:cubicBezTo>
                <a:cubicBezTo>
                  <a:pt x="435" y="478"/>
                  <a:pt x="435" y="478"/>
                  <a:pt x="435" y="478"/>
                </a:cubicBezTo>
                <a:cubicBezTo>
                  <a:pt x="452" y="486"/>
                  <a:pt x="467" y="496"/>
                  <a:pt x="481" y="508"/>
                </a:cubicBezTo>
                <a:cubicBezTo>
                  <a:pt x="485" y="511"/>
                  <a:pt x="485" y="511"/>
                  <a:pt x="485" y="511"/>
                </a:cubicBezTo>
                <a:cubicBezTo>
                  <a:pt x="481" y="514"/>
                  <a:pt x="481" y="514"/>
                  <a:pt x="481" y="514"/>
                </a:cubicBezTo>
                <a:cubicBezTo>
                  <a:pt x="453" y="539"/>
                  <a:pt x="419" y="557"/>
                  <a:pt x="383" y="568"/>
                </a:cubicBezTo>
                <a:cubicBezTo>
                  <a:pt x="368" y="573"/>
                  <a:pt x="368" y="573"/>
                  <a:pt x="368" y="573"/>
                </a:cubicBezTo>
                <a:cubicBezTo>
                  <a:pt x="379" y="561"/>
                  <a:pt x="379" y="561"/>
                  <a:pt x="379" y="561"/>
                </a:cubicBezTo>
                <a:close/>
                <a:moveTo>
                  <a:pt x="442" y="314"/>
                </a:moveTo>
                <a:cubicBezTo>
                  <a:pt x="441" y="361"/>
                  <a:pt x="434" y="406"/>
                  <a:pt x="421" y="446"/>
                </a:cubicBezTo>
                <a:cubicBezTo>
                  <a:pt x="420" y="451"/>
                  <a:pt x="420" y="451"/>
                  <a:pt x="420" y="451"/>
                </a:cubicBezTo>
                <a:cubicBezTo>
                  <a:pt x="416" y="449"/>
                  <a:pt x="416" y="449"/>
                  <a:pt x="416" y="449"/>
                </a:cubicBezTo>
                <a:cubicBezTo>
                  <a:pt x="385" y="437"/>
                  <a:pt x="350" y="431"/>
                  <a:pt x="314" y="429"/>
                </a:cubicBezTo>
                <a:cubicBezTo>
                  <a:pt x="310" y="429"/>
                  <a:pt x="310" y="429"/>
                  <a:pt x="310" y="429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442" y="310"/>
                  <a:pt x="442" y="310"/>
                  <a:pt x="442" y="310"/>
                </a:cubicBezTo>
                <a:lnTo>
                  <a:pt x="442" y="314"/>
                </a:lnTo>
                <a:close/>
                <a:moveTo>
                  <a:pt x="414" y="469"/>
                </a:moveTo>
                <a:cubicBezTo>
                  <a:pt x="412" y="473"/>
                  <a:pt x="412" y="473"/>
                  <a:pt x="412" y="473"/>
                </a:cubicBezTo>
                <a:cubicBezTo>
                  <a:pt x="388" y="534"/>
                  <a:pt x="354" y="572"/>
                  <a:pt x="315" y="579"/>
                </a:cubicBezTo>
                <a:cubicBezTo>
                  <a:pt x="310" y="580"/>
                  <a:pt x="310" y="580"/>
                  <a:pt x="310" y="580"/>
                </a:cubicBezTo>
                <a:cubicBezTo>
                  <a:pt x="310" y="449"/>
                  <a:pt x="310" y="449"/>
                  <a:pt x="310" y="449"/>
                </a:cubicBezTo>
                <a:cubicBezTo>
                  <a:pt x="314" y="449"/>
                  <a:pt x="314" y="449"/>
                  <a:pt x="314" y="449"/>
                </a:cubicBezTo>
                <a:cubicBezTo>
                  <a:pt x="348" y="450"/>
                  <a:pt x="381" y="456"/>
                  <a:pt x="410" y="467"/>
                </a:cubicBezTo>
                <a:lnTo>
                  <a:pt x="414" y="469"/>
                </a:lnTo>
                <a:close/>
                <a:moveTo>
                  <a:pt x="481" y="93"/>
                </a:moveTo>
                <a:cubicBezTo>
                  <a:pt x="467" y="104"/>
                  <a:pt x="451" y="114"/>
                  <a:pt x="435" y="123"/>
                </a:cubicBezTo>
                <a:cubicBezTo>
                  <a:pt x="430" y="123"/>
                  <a:pt x="430" y="123"/>
                  <a:pt x="430" y="123"/>
                </a:cubicBezTo>
                <a:cubicBezTo>
                  <a:pt x="429" y="119"/>
                  <a:pt x="429" y="119"/>
                  <a:pt x="429" y="119"/>
                </a:cubicBezTo>
                <a:cubicBezTo>
                  <a:pt x="427" y="114"/>
                  <a:pt x="427" y="114"/>
                  <a:pt x="427" y="114"/>
                </a:cubicBezTo>
                <a:cubicBezTo>
                  <a:pt x="419" y="95"/>
                  <a:pt x="409" y="78"/>
                  <a:pt x="397" y="61"/>
                </a:cubicBezTo>
                <a:cubicBezTo>
                  <a:pt x="396" y="59"/>
                  <a:pt x="396" y="59"/>
                  <a:pt x="396" y="59"/>
                </a:cubicBezTo>
                <a:cubicBezTo>
                  <a:pt x="391" y="52"/>
                  <a:pt x="385" y="45"/>
                  <a:pt x="379" y="39"/>
                </a:cubicBezTo>
                <a:cubicBezTo>
                  <a:pt x="368" y="28"/>
                  <a:pt x="368" y="28"/>
                  <a:pt x="368" y="28"/>
                </a:cubicBezTo>
                <a:cubicBezTo>
                  <a:pt x="383" y="32"/>
                  <a:pt x="383" y="32"/>
                  <a:pt x="383" y="32"/>
                </a:cubicBezTo>
                <a:cubicBezTo>
                  <a:pt x="419" y="43"/>
                  <a:pt x="453" y="62"/>
                  <a:pt x="481" y="86"/>
                </a:cubicBezTo>
                <a:cubicBezTo>
                  <a:pt x="485" y="89"/>
                  <a:pt x="485" y="89"/>
                  <a:pt x="485" y="89"/>
                </a:cubicBezTo>
                <a:cubicBezTo>
                  <a:pt x="481" y="93"/>
                  <a:pt x="481" y="93"/>
                  <a:pt x="481" y="93"/>
                </a:cubicBezTo>
                <a:close/>
                <a:moveTo>
                  <a:pt x="416" y="152"/>
                </a:moveTo>
                <a:cubicBezTo>
                  <a:pt x="420" y="150"/>
                  <a:pt x="420" y="150"/>
                  <a:pt x="420" y="150"/>
                </a:cubicBezTo>
                <a:cubicBezTo>
                  <a:pt x="421" y="154"/>
                  <a:pt x="421" y="154"/>
                  <a:pt x="421" y="154"/>
                </a:cubicBezTo>
                <a:cubicBezTo>
                  <a:pt x="434" y="194"/>
                  <a:pt x="441" y="240"/>
                  <a:pt x="442" y="286"/>
                </a:cubicBezTo>
                <a:cubicBezTo>
                  <a:pt x="442" y="291"/>
                  <a:pt x="442" y="291"/>
                  <a:pt x="442" y="291"/>
                </a:cubicBezTo>
                <a:cubicBezTo>
                  <a:pt x="310" y="291"/>
                  <a:pt x="310" y="291"/>
                  <a:pt x="310" y="291"/>
                </a:cubicBezTo>
                <a:cubicBezTo>
                  <a:pt x="310" y="171"/>
                  <a:pt x="310" y="171"/>
                  <a:pt x="310" y="171"/>
                </a:cubicBezTo>
                <a:cubicBezTo>
                  <a:pt x="314" y="171"/>
                  <a:pt x="314" y="171"/>
                  <a:pt x="314" y="171"/>
                </a:cubicBezTo>
                <a:cubicBezTo>
                  <a:pt x="350" y="170"/>
                  <a:pt x="385" y="163"/>
                  <a:pt x="416" y="152"/>
                </a:cubicBezTo>
                <a:close/>
                <a:moveTo>
                  <a:pt x="310" y="152"/>
                </a:moveTo>
                <a:cubicBezTo>
                  <a:pt x="310" y="20"/>
                  <a:pt x="310" y="20"/>
                  <a:pt x="310" y="20"/>
                </a:cubicBezTo>
                <a:cubicBezTo>
                  <a:pt x="315" y="21"/>
                  <a:pt x="315" y="21"/>
                  <a:pt x="315" y="21"/>
                </a:cubicBezTo>
                <a:cubicBezTo>
                  <a:pt x="354" y="29"/>
                  <a:pt x="388" y="67"/>
                  <a:pt x="412" y="128"/>
                </a:cubicBezTo>
                <a:cubicBezTo>
                  <a:pt x="414" y="132"/>
                  <a:pt x="414" y="132"/>
                  <a:pt x="414" y="132"/>
                </a:cubicBezTo>
                <a:cubicBezTo>
                  <a:pt x="410" y="133"/>
                  <a:pt x="410" y="133"/>
                  <a:pt x="410" y="133"/>
                </a:cubicBezTo>
                <a:cubicBezTo>
                  <a:pt x="381" y="144"/>
                  <a:pt x="348" y="150"/>
                  <a:pt x="314" y="152"/>
                </a:cubicBezTo>
                <a:lnTo>
                  <a:pt x="310" y="152"/>
                </a:lnTo>
                <a:close/>
                <a:moveTo>
                  <a:pt x="499" y="498"/>
                </a:moveTo>
                <a:cubicBezTo>
                  <a:pt x="496" y="495"/>
                  <a:pt x="496" y="495"/>
                  <a:pt x="496" y="495"/>
                </a:cubicBezTo>
                <a:cubicBezTo>
                  <a:pt x="479" y="481"/>
                  <a:pt x="461" y="469"/>
                  <a:pt x="441" y="459"/>
                </a:cubicBezTo>
                <a:cubicBezTo>
                  <a:pt x="437" y="458"/>
                  <a:pt x="437" y="458"/>
                  <a:pt x="437" y="458"/>
                </a:cubicBezTo>
                <a:cubicBezTo>
                  <a:pt x="440" y="451"/>
                  <a:pt x="440" y="451"/>
                  <a:pt x="440" y="451"/>
                </a:cubicBezTo>
                <a:cubicBezTo>
                  <a:pt x="446" y="430"/>
                  <a:pt x="452" y="407"/>
                  <a:pt x="455" y="384"/>
                </a:cubicBezTo>
                <a:cubicBezTo>
                  <a:pt x="457" y="375"/>
                  <a:pt x="457" y="375"/>
                  <a:pt x="457" y="375"/>
                </a:cubicBezTo>
                <a:cubicBezTo>
                  <a:pt x="458" y="366"/>
                  <a:pt x="459" y="357"/>
                  <a:pt x="460" y="348"/>
                </a:cubicBezTo>
                <a:cubicBezTo>
                  <a:pt x="461" y="338"/>
                  <a:pt x="461" y="338"/>
                  <a:pt x="461" y="338"/>
                </a:cubicBezTo>
                <a:cubicBezTo>
                  <a:pt x="461" y="332"/>
                  <a:pt x="461" y="326"/>
                  <a:pt x="461" y="320"/>
                </a:cubicBezTo>
                <a:cubicBezTo>
                  <a:pt x="462" y="310"/>
                  <a:pt x="462" y="310"/>
                  <a:pt x="462" y="310"/>
                </a:cubicBezTo>
                <a:cubicBezTo>
                  <a:pt x="580" y="310"/>
                  <a:pt x="580" y="310"/>
                  <a:pt x="580" y="310"/>
                </a:cubicBezTo>
                <a:cubicBezTo>
                  <a:pt x="580" y="314"/>
                  <a:pt x="580" y="314"/>
                  <a:pt x="580" y="314"/>
                </a:cubicBezTo>
                <a:cubicBezTo>
                  <a:pt x="577" y="382"/>
                  <a:pt x="549" y="446"/>
                  <a:pt x="502" y="495"/>
                </a:cubicBezTo>
                <a:cubicBezTo>
                  <a:pt x="499" y="498"/>
                  <a:pt x="499" y="498"/>
                  <a:pt x="499" y="498"/>
                </a:cubicBezTo>
                <a:close/>
                <a:moveTo>
                  <a:pt x="460" y="253"/>
                </a:moveTo>
                <a:cubicBezTo>
                  <a:pt x="459" y="244"/>
                  <a:pt x="458" y="234"/>
                  <a:pt x="457" y="225"/>
                </a:cubicBezTo>
                <a:cubicBezTo>
                  <a:pt x="455" y="216"/>
                  <a:pt x="455" y="216"/>
                  <a:pt x="455" y="216"/>
                </a:cubicBezTo>
                <a:cubicBezTo>
                  <a:pt x="452" y="193"/>
                  <a:pt x="447" y="171"/>
                  <a:pt x="440" y="149"/>
                </a:cubicBezTo>
                <a:cubicBezTo>
                  <a:pt x="437" y="143"/>
                  <a:pt x="437" y="143"/>
                  <a:pt x="437" y="143"/>
                </a:cubicBezTo>
                <a:cubicBezTo>
                  <a:pt x="441" y="141"/>
                  <a:pt x="441" y="141"/>
                  <a:pt x="441" y="141"/>
                </a:cubicBezTo>
                <a:cubicBezTo>
                  <a:pt x="461" y="132"/>
                  <a:pt x="479" y="120"/>
                  <a:pt x="496" y="105"/>
                </a:cubicBezTo>
                <a:cubicBezTo>
                  <a:pt x="499" y="103"/>
                  <a:pt x="499" y="103"/>
                  <a:pt x="499" y="103"/>
                </a:cubicBezTo>
                <a:cubicBezTo>
                  <a:pt x="502" y="105"/>
                  <a:pt x="502" y="105"/>
                  <a:pt x="502" y="105"/>
                </a:cubicBezTo>
                <a:cubicBezTo>
                  <a:pt x="549" y="154"/>
                  <a:pt x="577" y="218"/>
                  <a:pt x="580" y="286"/>
                </a:cubicBezTo>
                <a:cubicBezTo>
                  <a:pt x="580" y="291"/>
                  <a:pt x="580" y="291"/>
                  <a:pt x="580" y="291"/>
                </a:cubicBezTo>
                <a:cubicBezTo>
                  <a:pt x="462" y="291"/>
                  <a:pt x="462" y="291"/>
                  <a:pt x="462" y="291"/>
                </a:cubicBezTo>
                <a:cubicBezTo>
                  <a:pt x="461" y="280"/>
                  <a:pt x="461" y="280"/>
                  <a:pt x="461" y="280"/>
                </a:cubicBezTo>
                <a:cubicBezTo>
                  <a:pt x="461" y="274"/>
                  <a:pt x="461" y="269"/>
                  <a:pt x="461" y="263"/>
                </a:cubicBezTo>
                <a:cubicBezTo>
                  <a:pt x="460" y="253"/>
                  <a:pt x="460" y="253"/>
                  <a:pt x="460" y="253"/>
                </a:cubicBezTo>
                <a:close/>
                <a:moveTo>
                  <a:pt x="221" y="39"/>
                </a:moveTo>
                <a:cubicBezTo>
                  <a:pt x="215" y="45"/>
                  <a:pt x="209" y="52"/>
                  <a:pt x="204" y="59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1" y="78"/>
                  <a:pt x="182" y="95"/>
                  <a:pt x="174" y="11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66" y="123"/>
                  <a:pt x="166" y="123"/>
                  <a:pt x="166" y="123"/>
                </a:cubicBezTo>
                <a:cubicBezTo>
                  <a:pt x="149" y="115"/>
                  <a:pt x="133" y="104"/>
                  <a:pt x="119" y="93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9" y="86"/>
                  <a:pt x="119" y="86"/>
                  <a:pt x="119" y="86"/>
                </a:cubicBezTo>
                <a:cubicBezTo>
                  <a:pt x="148" y="62"/>
                  <a:pt x="181" y="43"/>
                  <a:pt x="217" y="32"/>
                </a:cubicBezTo>
                <a:cubicBezTo>
                  <a:pt x="232" y="28"/>
                  <a:pt x="232" y="28"/>
                  <a:pt x="232" y="28"/>
                </a:cubicBezTo>
                <a:cubicBezTo>
                  <a:pt x="221" y="39"/>
                  <a:pt x="221" y="39"/>
                  <a:pt x="221" y="39"/>
                </a:cubicBezTo>
                <a:close/>
                <a:moveTo>
                  <a:pt x="158" y="286"/>
                </a:moveTo>
                <a:cubicBezTo>
                  <a:pt x="159" y="240"/>
                  <a:pt x="166" y="194"/>
                  <a:pt x="179" y="154"/>
                </a:cubicBezTo>
                <a:cubicBezTo>
                  <a:pt x="180" y="150"/>
                  <a:pt x="180" y="150"/>
                  <a:pt x="180" y="150"/>
                </a:cubicBezTo>
                <a:cubicBezTo>
                  <a:pt x="184" y="151"/>
                  <a:pt x="184" y="151"/>
                  <a:pt x="184" y="151"/>
                </a:cubicBezTo>
                <a:cubicBezTo>
                  <a:pt x="216" y="163"/>
                  <a:pt x="250" y="170"/>
                  <a:pt x="287" y="171"/>
                </a:cubicBezTo>
                <a:cubicBezTo>
                  <a:pt x="290" y="171"/>
                  <a:pt x="290" y="171"/>
                  <a:pt x="290" y="171"/>
                </a:cubicBezTo>
                <a:cubicBezTo>
                  <a:pt x="290" y="291"/>
                  <a:pt x="290" y="291"/>
                  <a:pt x="290" y="291"/>
                </a:cubicBezTo>
                <a:cubicBezTo>
                  <a:pt x="158" y="291"/>
                  <a:pt x="158" y="291"/>
                  <a:pt x="158" y="291"/>
                </a:cubicBezTo>
                <a:lnTo>
                  <a:pt x="158" y="286"/>
                </a:lnTo>
                <a:close/>
                <a:moveTo>
                  <a:pt x="186" y="132"/>
                </a:moveTo>
                <a:cubicBezTo>
                  <a:pt x="188" y="128"/>
                  <a:pt x="188" y="128"/>
                  <a:pt x="188" y="128"/>
                </a:cubicBezTo>
                <a:cubicBezTo>
                  <a:pt x="212" y="67"/>
                  <a:pt x="247" y="29"/>
                  <a:pt x="286" y="21"/>
                </a:cubicBezTo>
                <a:cubicBezTo>
                  <a:pt x="290" y="20"/>
                  <a:pt x="290" y="20"/>
                  <a:pt x="290" y="20"/>
                </a:cubicBezTo>
                <a:cubicBezTo>
                  <a:pt x="290" y="152"/>
                  <a:pt x="290" y="152"/>
                  <a:pt x="290" y="152"/>
                </a:cubicBezTo>
                <a:cubicBezTo>
                  <a:pt x="286" y="152"/>
                  <a:pt x="286" y="152"/>
                  <a:pt x="286" y="152"/>
                </a:cubicBezTo>
                <a:cubicBezTo>
                  <a:pt x="252" y="150"/>
                  <a:pt x="220" y="144"/>
                  <a:pt x="190" y="133"/>
                </a:cubicBezTo>
                <a:lnTo>
                  <a:pt x="186" y="132"/>
                </a:lnTo>
                <a:close/>
                <a:moveTo>
                  <a:pt x="119" y="508"/>
                </a:moveTo>
                <a:cubicBezTo>
                  <a:pt x="133" y="496"/>
                  <a:pt x="149" y="486"/>
                  <a:pt x="165" y="478"/>
                </a:cubicBezTo>
                <a:cubicBezTo>
                  <a:pt x="171" y="480"/>
                  <a:pt x="171" y="480"/>
                  <a:pt x="171" y="480"/>
                </a:cubicBezTo>
                <a:cubicBezTo>
                  <a:pt x="174" y="487"/>
                  <a:pt x="174" y="487"/>
                  <a:pt x="174" y="487"/>
                </a:cubicBezTo>
                <a:cubicBezTo>
                  <a:pt x="182" y="506"/>
                  <a:pt x="192" y="524"/>
                  <a:pt x="203" y="539"/>
                </a:cubicBezTo>
                <a:cubicBezTo>
                  <a:pt x="204" y="541"/>
                  <a:pt x="204" y="541"/>
                  <a:pt x="204" y="541"/>
                </a:cubicBezTo>
                <a:cubicBezTo>
                  <a:pt x="206" y="544"/>
                  <a:pt x="208" y="545"/>
                  <a:pt x="209" y="547"/>
                </a:cubicBezTo>
                <a:cubicBezTo>
                  <a:pt x="212" y="550"/>
                  <a:pt x="214" y="553"/>
                  <a:pt x="216" y="556"/>
                </a:cubicBezTo>
                <a:cubicBezTo>
                  <a:pt x="218" y="558"/>
                  <a:pt x="219" y="560"/>
                  <a:pt x="221" y="561"/>
                </a:cubicBezTo>
                <a:cubicBezTo>
                  <a:pt x="232" y="573"/>
                  <a:pt x="232" y="573"/>
                  <a:pt x="232" y="573"/>
                </a:cubicBezTo>
                <a:cubicBezTo>
                  <a:pt x="217" y="568"/>
                  <a:pt x="217" y="568"/>
                  <a:pt x="217" y="568"/>
                </a:cubicBezTo>
                <a:cubicBezTo>
                  <a:pt x="181" y="557"/>
                  <a:pt x="148" y="539"/>
                  <a:pt x="119" y="514"/>
                </a:cubicBezTo>
                <a:cubicBezTo>
                  <a:pt x="115" y="511"/>
                  <a:pt x="115" y="511"/>
                  <a:pt x="115" y="511"/>
                </a:cubicBezTo>
                <a:cubicBezTo>
                  <a:pt x="119" y="508"/>
                  <a:pt x="119" y="508"/>
                  <a:pt x="119" y="508"/>
                </a:cubicBezTo>
                <a:close/>
                <a:moveTo>
                  <a:pt x="184" y="449"/>
                </a:moveTo>
                <a:cubicBezTo>
                  <a:pt x="180" y="451"/>
                  <a:pt x="180" y="451"/>
                  <a:pt x="180" y="451"/>
                </a:cubicBezTo>
                <a:cubicBezTo>
                  <a:pt x="179" y="446"/>
                  <a:pt x="179" y="446"/>
                  <a:pt x="179" y="446"/>
                </a:cubicBezTo>
                <a:cubicBezTo>
                  <a:pt x="166" y="406"/>
                  <a:pt x="159" y="361"/>
                  <a:pt x="158" y="314"/>
                </a:cubicBezTo>
                <a:cubicBezTo>
                  <a:pt x="158" y="310"/>
                  <a:pt x="158" y="310"/>
                  <a:pt x="158" y="310"/>
                </a:cubicBezTo>
                <a:cubicBezTo>
                  <a:pt x="290" y="310"/>
                  <a:pt x="290" y="310"/>
                  <a:pt x="290" y="310"/>
                </a:cubicBezTo>
                <a:cubicBezTo>
                  <a:pt x="290" y="429"/>
                  <a:pt x="290" y="429"/>
                  <a:pt x="290" y="429"/>
                </a:cubicBezTo>
                <a:cubicBezTo>
                  <a:pt x="286" y="429"/>
                  <a:pt x="286" y="429"/>
                  <a:pt x="286" y="429"/>
                </a:cubicBezTo>
                <a:cubicBezTo>
                  <a:pt x="250" y="431"/>
                  <a:pt x="216" y="437"/>
                  <a:pt x="184" y="449"/>
                </a:cubicBezTo>
                <a:close/>
                <a:moveTo>
                  <a:pt x="290" y="449"/>
                </a:moveTo>
                <a:cubicBezTo>
                  <a:pt x="290" y="580"/>
                  <a:pt x="290" y="580"/>
                  <a:pt x="290" y="580"/>
                </a:cubicBezTo>
                <a:cubicBezTo>
                  <a:pt x="286" y="579"/>
                  <a:pt x="286" y="579"/>
                  <a:pt x="286" y="579"/>
                </a:cubicBezTo>
                <a:cubicBezTo>
                  <a:pt x="247" y="572"/>
                  <a:pt x="212" y="534"/>
                  <a:pt x="188" y="473"/>
                </a:cubicBezTo>
                <a:cubicBezTo>
                  <a:pt x="186" y="469"/>
                  <a:pt x="186" y="469"/>
                  <a:pt x="186" y="469"/>
                </a:cubicBezTo>
                <a:cubicBezTo>
                  <a:pt x="190" y="467"/>
                  <a:pt x="190" y="467"/>
                  <a:pt x="190" y="467"/>
                </a:cubicBezTo>
                <a:cubicBezTo>
                  <a:pt x="220" y="456"/>
                  <a:pt x="252" y="450"/>
                  <a:pt x="286" y="449"/>
                </a:cubicBezTo>
                <a:cubicBezTo>
                  <a:pt x="290" y="449"/>
                  <a:pt x="290" y="449"/>
                  <a:pt x="290" y="449"/>
                </a:cubicBezTo>
                <a:close/>
                <a:moveTo>
                  <a:pt x="144" y="225"/>
                </a:moveTo>
                <a:cubicBezTo>
                  <a:pt x="142" y="234"/>
                  <a:pt x="141" y="243"/>
                  <a:pt x="141" y="254"/>
                </a:cubicBezTo>
                <a:cubicBezTo>
                  <a:pt x="140" y="263"/>
                  <a:pt x="140" y="263"/>
                  <a:pt x="140" y="263"/>
                </a:cubicBezTo>
                <a:cubicBezTo>
                  <a:pt x="139" y="269"/>
                  <a:pt x="139" y="275"/>
                  <a:pt x="139" y="282"/>
                </a:cubicBezTo>
                <a:cubicBezTo>
                  <a:pt x="139" y="291"/>
                  <a:pt x="139" y="291"/>
                  <a:pt x="139" y="291"/>
                </a:cubicBezTo>
                <a:cubicBezTo>
                  <a:pt x="20" y="291"/>
                  <a:pt x="20" y="291"/>
                  <a:pt x="20" y="291"/>
                </a:cubicBezTo>
                <a:cubicBezTo>
                  <a:pt x="20" y="286"/>
                  <a:pt x="20" y="286"/>
                  <a:pt x="20" y="286"/>
                </a:cubicBezTo>
                <a:cubicBezTo>
                  <a:pt x="24" y="218"/>
                  <a:pt x="51" y="154"/>
                  <a:pt x="99" y="105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21" y="119"/>
                  <a:pt x="140" y="131"/>
                  <a:pt x="160" y="141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9"/>
                  <a:pt x="161" y="149"/>
                  <a:pt x="161" y="149"/>
                </a:cubicBezTo>
                <a:cubicBezTo>
                  <a:pt x="154" y="171"/>
                  <a:pt x="149" y="193"/>
                  <a:pt x="145" y="216"/>
                </a:cubicBezTo>
                <a:lnTo>
                  <a:pt x="144" y="225"/>
                </a:lnTo>
                <a:close/>
                <a:moveTo>
                  <a:pt x="144" y="375"/>
                </a:moveTo>
                <a:cubicBezTo>
                  <a:pt x="145" y="384"/>
                  <a:pt x="145" y="384"/>
                  <a:pt x="145" y="384"/>
                </a:cubicBezTo>
                <a:cubicBezTo>
                  <a:pt x="149" y="408"/>
                  <a:pt x="154" y="430"/>
                  <a:pt x="161" y="451"/>
                </a:cubicBezTo>
                <a:cubicBezTo>
                  <a:pt x="163" y="458"/>
                  <a:pt x="163" y="458"/>
                  <a:pt x="163" y="458"/>
                </a:cubicBezTo>
                <a:cubicBezTo>
                  <a:pt x="160" y="459"/>
                  <a:pt x="160" y="459"/>
                  <a:pt x="160" y="459"/>
                </a:cubicBezTo>
                <a:cubicBezTo>
                  <a:pt x="139" y="469"/>
                  <a:pt x="121" y="481"/>
                  <a:pt x="104" y="495"/>
                </a:cubicBezTo>
                <a:cubicBezTo>
                  <a:pt x="101" y="498"/>
                  <a:pt x="101" y="498"/>
                  <a:pt x="101" y="498"/>
                </a:cubicBezTo>
                <a:cubicBezTo>
                  <a:pt x="99" y="495"/>
                  <a:pt x="99" y="495"/>
                  <a:pt x="99" y="495"/>
                </a:cubicBezTo>
                <a:cubicBezTo>
                  <a:pt x="52" y="446"/>
                  <a:pt x="24" y="382"/>
                  <a:pt x="20" y="314"/>
                </a:cubicBezTo>
                <a:cubicBezTo>
                  <a:pt x="20" y="310"/>
                  <a:pt x="20" y="310"/>
                  <a:pt x="20" y="310"/>
                </a:cubicBezTo>
                <a:cubicBezTo>
                  <a:pt x="139" y="310"/>
                  <a:pt x="139" y="310"/>
                  <a:pt x="139" y="310"/>
                </a:cubicBezTo>
                <a:cubicBezTo>
                  <a:pt x="139" y="319"/>
                  <a:pt x="139" y="319"/>
                  <a:pt x="139" y="319"/>
                </a:cubicBezTo>
                <a:cubicBezTo>
                  <a:pt x="139" y="325"/>
                  <a:pt x="139" y="331"/>
                  <a:pt x="140" y="338"/>
                </a:cubicBezTo>
                <a:cubicBezTo>
                  <a:pt x="141" y="348"/>
                  <a:pt x="141" y="348"/>
                  <a:pt x="141" y="348"/>
                </a:cubicBezTo>
                <a:cubicBezTo>
                  <a:pt x="141" y="357"/>
                  <a:pt x="142" y="367"/>
                  <a:pt x="144" y="37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725527"/>
            <a:ext cx="12192000" cy="3406946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698912" y="3224784"/>
            <a:ext cx="306067" cy="408433"/>
            <a:chOff x="339780" y="427935"/>
            <a:chExt cx="306067" cy="408433"/>
          </a:xfrm>
        </p:grpSpPr>
        <p:sp>
          <p:nvSpPr>
            <p:cNvPr id="11" name="矩形 10"/>
            <p:cNvSpPr/>
            <p:nvPr userDrawn="1"/>
          </p:nvSpPr>
          <p:spPr>
            <a:xfrm>
              <a:off x="534722" y="427935"/>
              <a:ext cx="111125" cy="408433"/>
            </a:xfrm>
            <a:prstGeom prst="rect">
              <a:avLst/>
            </a:prstGeom>
            <a:gradFill>
              <a:gsLst>
                <a:gs pos="0">
                  <a:srgbClr val="FF0000">
                    <a:alpha val="0"/>
                  </a:srgbClr>
                </a:gs>
                <a:gs pos="100000">
                  <a:srgbClr val="FF0000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339780" y="558904"/>
              <a:ext cx="111125" cy="277464"/>
            </a:xfrm>
            <a:prstGeom prst="rect">
              <a:avLst/>
            </a:prstGeom>
            <a:gradFill>
              <a:gsLst>
                <a:gs pos="0">
                  <a:srgbClr val="265EFA">
                    <a:alpha val="0"/>
                  </a:srgbClr>
                </a:gs>
                <a:gs pos="100000">
                  <a:srgbClr val="0101D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1192867" y="2813447"/>
            <a:ext cx="1523888" cy="1231106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>
              <a:defRPr sz="8000" b="1">
                <a:solidFill>
                  <a:srgbClr val="0000D2"/>
                </a:solidFill>
                <a:latin typeface="HarmonyOS Sans SC" panose="00000500000000000000" charset="-122"/>
                <a:ea typeface="HarmonyOS Sans SC" panose="00000500000000000000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0" hasCustomPrompt="1"/>
          </p:nvPr>
        </p:nvSpPr>
        <p:spPr>
          <a:xfrm>
            <a:off x="2984500" y="2813844"/>
            <a:ext cx="6616700" cy="12303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6000" b="1">
                <a:latin typeface="HarmonyOS Sans SC" panose="00000500000000000000" charset="-122"/>
                <a:ea typeface="HarmonyOS Sans SC" panose="00000500000000000000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2" name="文本框 31"/>
          <p:cNvSpPr txBox="1"/>
          <p:nvPr userDrawn="1"/>
        </p:nvSpPr>
        <p:spPr>
          <a:xfrm>
            <a:off x="10461215" y="6229592"/>
            <a:ext cx="1540550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www.dameng.com</a:t>
            </a: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339780" y="6229592"/>
            <a:ext cx="2185214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打造中国的世界级数据库品牌</a:t>
            </a:r>
          </a:p>
        </p:txBody>
      </p:sp>
      <p:sp>
        <p:nvSpPr>
          <p:cNvPr id="34" name="Freeform 5"/>
          <p:cNvSpPr>
            <a:spLocks noEditPoints="1"/>
          </p:cNvSpPr>
          <p:nvPr userDrawn="1"/>
        </p:nvSpPr>
        <p:spPr bwMode="auto">
          <a:xfrm>
            <a:off x="10239375" y="6291439"/>
            <a:ext cx="222250" cy="222250"/>
          </a:xfrm>
          <a:custGeom>
            <a:avLst/>
            <a:gdLst>
              <a:gd name="T0" fmla="*/ 300 w 600"/>
              <a:gd name="T1" fmla="*/ 600 h 600"/>
              <a:gd name="T2" fmla="*/ 379 w 600"/>
              <a:gd name="T3" fmla="*/ 561 h 600"/>
              <a:gd name="T4" fmla="*/ 427 w 600"/>
              <a:gd name="T5" fmla="*/ 485 h 600"/>
              <a:gd name="T6" fmla="*/ 481 w 600"/>
              <a:gd name="T7" fmla="*/ 508 h 600"/>
              <a:gd name="T8" fmla="*/ 383 w 600"/>
              <a:gd name="T9" fmla="*/ 568 h 600"/>
              <a:gd name="T10" fmla="*/ 442 w 600"/>
              <a:gd name="T11" fmla="*/ 314 h 600"/>
              <a:gd name="T12" fmla="*/ 416 w 600"/>
              <a:gd name="T13" fmla="*/ 449 h 600"/>
              <a:gd name="T14" fmla="*/ 310 w 600"/>
              <a:gd name="T15" fmla="*/ 310 h 600"/>
              <a:gd name="T16" fmla="*/ 414 w 600"/>
              <a:gd name="T17" fmla="*/ 469 h 600"/>
              <a:gd name="T18" fmla="*/ 310 w 600"/>
              <a:gd name="T19" fmla="*/ 580 h 600"/>
              <a:gd name="T20" fmla="*/ 410 w 600"/>
              <a:gd name="T21" fmla="*/ 467 h 600"/>
              <a:gd name="T22" fmla="*/ 435 w 600"/>
              <a:gd name="T23" fmla="*/ 123 h 600"/>
              <a:gd name="T24" fmla="*/ 427 w 600"/>
              <a:gd name="T25" fmla="*/ 114 h 600"/>
              <a:gd name="T26" fmla="*/ 379 w 600"/>
              <a:gd name="T27" fmla="*/ 39 h 600"/>
              <a:gd name="T28" fmla="*/ 481 w 600"/>
              <a:gd name="T29" fmla="*/ 86 h 600"/>
              <a:gd name="T30" fmla="*/ 416 w 600"/>
              <a:gd name="T31" fmla="*/ 152 h 600"/>
              <a:gd name="T32" fmla="*/ 442 w 600"/>
              <a:gd name="T33" fmla="*/ 286 h 600"/>
              <a:gd name="T34" fmla="*/ 310 w 600"/>
              <a:gd name="T35" fmla="*/ 171 h 600"/>
              <a:gd name="T36" fmla="*/ 310 w 600"/>
              <a:gd name="T37" fmla="*/ 152 h 600"/>
              <a:gd name="T38" fmla="*/ 412 w 600"/>
              <a:gd name="T39" fmla="*/ 128 h 600"/>
              <a:gd name="T40" fmla="*/ 314 w 600"/>
              <a:gd name="T41" fmla="*/ 152 h 600"/>
              <a:gd name="T42" fmla="*/ 496 w 600"/>
              <a:gd name="T43" fmla="*/ 495 h 600"/>
              <a:gd name="T44" fmla="*/ 440 w 600"/>
              <a:gd name="T45" fmla="*/ 451 h 600"/>
              <a:gd name="T46" fmla="*/ 460 w 600"/>
              <a:gd name="T47" fmla="*/ 348 h 600"/>
              <a:gd name="T48" fmla="*/ 462 w 600"/>
              <a:gd name="T49" fmla="*/ 310 h 600"/>
              <a:gd name="T50" fmla="*/ 502 w 600"/>
              <a:gd name="T51" fmla="*/ 495 h 600"/>
              <a:gd name="T52" fmla="*/ 457 w 600"/>
              <a:gd name="T53" fmla="*/ 225 h 600"/>
              <a:gd name="T54" fmla="*/ 437 w 600"/>
              <a:gd name="T55" fmla="*/ 143 h 600"/>
              <a:gd name="T56" fmla="*/ 499 w 600"/>
              <a:gd name="T57" fmla="*/ 103 h 600"/>
              <a:gd name="T58" fmla="*/ 580 w 600"/>
              <a:gd name="T59" fmla="*/ 291 h 600"/>
              <a:gd name="T60" fmla="*/ 461 w 600"/>
              <a:gd name="T61" fmla="*/ 263 h 600"/>
              <a:gd name="T62" fmla="*/ 204 w 600"/>
              <a:gd name="T63" fmla="*/ 59 h 600"/>
              <a:gd name="T64" fmla="*/ 170 w 600"/>
              <a:gd name="T65" fmla="*/ 125 h 600"/>
              <a:gd name="T66" fmla="*/ 115 w 600"/>
              <a:gd name="T67" fmla="*/ 90 h 600"/>
              <a:gd name="T68" fmla="*/ 232 w 600"/>
              <a:gd name="T69" fmla="*/ 28 h 600"/>
              <a:gd name="T70" fmla="*/ 179 w 600"/>
              <a:gd name="T71" fmla="*/ 154 h 600"/>
              <a:gd name="T72" fmla="*/ 287 w 600"/>
              <a:gd name="T73" fmla="*/ 171 h 600"/>
              <a:gd name="T74" fmla="*/ 158 w 600"/>
              <a:gd name="T75" fmla="*/ 291 h 600"/>
              <a:gd name="T76" fmla="*/ 188 w 600"/>
              <a:gd name="T77" fmla="*/ 128 h 600"/>
              <a:gd name="T78" fmla="*/ 290 w 600"/>
              <a:gd name="T79" fmla="*/ 152 h 600"/>
              <a:gd name="T80" fmla="*/ 186 w 600"/>
              <a:gd name="T81" fmla="*/ 132 h 600"/>
              <a:gd name="T82" fmla="*/ 171 w 600"/>
              <a:gd name="T83" fmla="*/ 480 h 600"/>
              <a:gd name="T84" fmla="*/ 204 w 600"/>
              <a:gd name="T85" fmla="*/ 541 h 600"/>
              <a:gd name="T86" fmla="*/ 221 w 600"/>
              <a:gd name="T87" fmla="*/ 561 h 600"/>
              <a:gd name="T88" fmla="*/ 119 w 600"/>
              <a:gd name="T89" fmla="*/ 514 h 600"/>
              <a:gd name="T90" fmla="*/ 184 w 600"/>
              <a:gd name="T91" fmla="*/ 449 h 600"/>
              <a:gd name="T92" fmla="*/ 158 w 600"/>
              <a:gd name="T93" fmla="*/ 314 h 600"/>
              <a:gd name="T94" fmla="*/ 290 w 600"/>
              <a:gd name="T95" fmla="*/ 429 h 600"/>
              <a:gd name="T96" fmla="*/ 290 w 600"/>
              <a:gd name="T97" fmla="*/ 449 h 600"/>
              <a:gd name="T98" fmla="*/ 188 w 600"/>
              <a:gd name="T99" fmla="*/ 473 h 600"/>
              <a:gd name="T100" fmla="*/ 286 w 600"/>
              <a:gd name="T101" fmla="*/ 449 h 600"/>
              <a:gd name="T102" fmla="*/ 141 w 600"/>
              <a:gd name="T103" fmla="*/ 254 h 600"/>
              <a:gd name="T104" fmla="*/ 139 w 600"/>
              <a:gd name="T105" fmla="*/ 291 h 600"/>
              <a:gd name="T106" fmla="*/ 99 w 600"/>
              <a:gd name="T107" fmla="*/ 105 h 600"/>
              <a:gd name="T108" fmla="*/ 160 w 600"/>
              <a:gd name="T109" fmla="*/ 141 h 600"/>
              <a:gd name="T110" fmla="*/ 145 w 600"/>
              <a:gd name="T111" fmla="*/ 216 h 600"/>
              <a:gd name="T112" fmla="*/ 145 w 600"/>
              <a:gd name="T113" fmla="*/ 384 h 600"/>
              <a:gd name="T114" fmla="*/ 160 w 600"/>
              <a:gd name="T115" fmla="*/ 459 h 600"/>
              <a:gd name="T116" fmla="*/ 99 w 600"/>
              <a:gd name="T117" fmla="*/ 495 h 600"/>
              <a:gd name="T118" fmla="*/ 139 w 600"/>
              <a:gd name="T119" fmla="*/ 310 h 600"/>
              <a:gd name="T120" fmla="*/ 141 w 600"/>
              <a:gd name="T121" fmla="*/ 348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00" h="600">
                <a:moveTo>
                  <a:pt x="300" y="0"/>
                </a:moveTo>
                <a:cubicBezTo>
                  <a:pt x="135" y="0"/>
                  <a:pt x="0" y="135"/>
                  <a:pt x="0" y="300"/>
                </a:cubicBezTo>
                <a:cubicBezTo>
                  <a:pt x="0" y="466"/>
                  <a:pt x="135" y="600"/>
                  <a:pt x="300" y="600"/>
                </a:cubicBezTo>
                <a:cubicBezTo>
                  <a:pt x="466" y="600"/>
                  <a:pt x="600" y="466"/>
                  <a:pt x="600" y="300"/>
                </a:cubicBezTo>
                <a:cubicBezTo>
                  <a:pt x="600" y="135"/>
                  <a:pt x="466" y="0"/>
                  <a:pt x="300" y="0"/>
                </a:cubicBezTo>
                <a:close/>
                <a:moveTo>
                  <a:pt x="379" y="561"/>
                </a:moveTo>
                <a:cubicBezTo>
                  <a:pt x="385" y="556"/>
                  <a:pt x="390" y="549"/>
                  <a:pt x="396" y="541"/>
                </a:cubicBezTo>
                <a:cubicBezTo>
                  <a:pt x="398" y="539"/>
                  <a:pt x="398" y="539"/>
                  <a:pt x="398" y="539"/>
                </a:cubicBezTo>
                <a:cubicBezTo>
                  <a:pt x="409" y="524"/>
                  <a:pt x="418" y="506"/>
                  <a:pt x="427" y="485"/>
                </a:cubicBezTo>
                <a:cubicBezTo>
                  <a:pt x="431" y="476"/>
                  <a:pt x="431" y="476"/>
                  <a:pt x="431" y="476"/>
                </a:cubicBezTo>
                <a:cubicBezTo>
                  <a:pt x="435" y="478"/>
                  <a:pt x="435" y="478"/>
                  <a:pt x="435" y="478"/>
                </a:cubicBezTo>
                <a:cubicBezTo>
                  <a:pt x="452" y="486"/>
                  <a:pt x="467" y="496"/>
                  <a:pt x="481" y="508"/>
                </a:cubicBezTo>
                <a:cubicBezTo>
                  <a:pt x="485" y="511"/>
                  <a:pt x="485" y="511"/>
                  <a:pt x="485" y="511"/>
                </a:cubicBezTo>
                <a:cubicBezTo>
                  <a:pt x="481" y="514"/>
                  <a:pt x="481" y="514"/>
                  <a:pt x="481" y="514"/>
                </a:cubicBezTo>
                <a:cubicBezTo>
                  <a:pt x="453" y="539"/>
                  <a:pt x="419" y="557"/>
                  <a:pt x="383" y="568"/>
                </a:cubicBezTo>
                <a:cubicBezTo>
                  <a:pt x="368" y="573"/>
                  <a:pt x="368" y="573"/>
                  <a:pt x="368" y="573"/>
                </a:cubicBezTo>
                <a:cubicBezTo>
                  <a:pt x="379" y="561"/>
                  <a:pt x="379" y="561"/>
                  <a:pt x="379" y="561"/>
                </a:cubicBezTo>
                <a:close/>
                <a:moveTo>
                  <a:pt x="442" y="314"/>
                </a:moveTo>
                <a:cubicBezTo>
                  <a:pt x="441" y="361"/>
                  <a:pt x="434" y="406"/>
                  <a:pt x="421" y="446"/>
                </a:cubicBezTo>
                <a:cubicBezTo>
                  <a:pt x="420" y="451"/>
                  <a:pt x="420" y="451"/>
                  <a:pt x="420" y="451"/>
                </a:cubicBezTo>
                <a:cubicBezTo>
                  <a:pt x="416" y="449"/>
                  <a:pt x="416" y="449"/>
                  <a:pt x="416" y="449"/>
                </a:cubicBezTo>
                <a:cubicBezTo>
                  <a:pt x="385" y="437"/>
                  <a:pt x="350" y="431"/>
                  <a:pt x="314" y="429"/>
                </a:cubicBezTo>
                <a:cubicBezTo>
                  <a:pt x="310" y="429"/>
                  <a:pt x="310" y="429"/>
                  <a:pt x="310" y="429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442" y="310"/>
                  <a:pt x="442" y="310"/>
                  <a:pt x="442" y="310"/>
                </a:cubicBezTo>
                <a:lnTo>
                  <a:pt x="442" y="314"/>
                </a:lnTo>
                <a:close/>
                <a:moveTo>
                  <a:pt x="414" y="469"/>
                </a:moveTo>
                <a:cubicBezTo>
                  <a:pt x="412" y="473"/>
                  <a:pt x="412" y="473"/>
                  <a:pt x="412" y="473"/>
                </a:cubicBezTo>
                <a:cubicBezTo>
                  <a:pt x="388" y="534"/>
                  <a:pt x="354" y="572"/>
                  <a:pt x="315" y="579"/>
                </a:cubicBezTo>
                <a:cubicBezTo>
                  <a:pt x="310" y="580"/>
                  <a:pt x="310" y="580"/>
                  <a:pt x="310" y="580"/>
                </a:cubicBezTo>
                <a:cubicBezTo>
                  <a:pt x="310" y="449"/>
                  <a:pt x="310" y="449"/>
                  <a:pt x="310" y="449"/>
                </a:cubicBezTo>
                <a:cubicBezTo>
                  <a:pt x="314" y="449"/>
                  <a:pt x="314" y="449"/>
                  <a:pt x="314" y="449"/>
                </a:cubicBezTo>
                <a:cubicBezTo>
                  <a:pt x="348" y="450"/>
                  <a:pt x="381" y="456"/>
                  <a:pt x="410" y="467"/>
                </a:cubicBezTo>
                <a:lnTo>
                  <a:pt x="414" y="469"/>
                </a:lnTo>
                <a:close/>
                <a:moveTo>
                  <a:pt x="481" y="93"/>
                </a:moveTo>
                <a:cubicBezTo>
                  <a:pt x="467" y="104"/>
                  <a:pt x="451" y="114"/>
                  <a:pt x="435" y="123"/>
                </a:cubicBezTo>
                <a:cubicBezTo>
                  <a:pt x="430" y="123"/>
                  <a:pt x="430" y="123"/>
                  <a:pt x="430" y="123"/>
                </a:cubicBezTo>
                <a:cubicBezTo>
                  <a:pt x="429" y="119"/>
                  <a:pt x="429" y="119"/>
                  <a:pt x="429" y="119"/>
                </a:cubicBezTo>
                <a:cubicBezTo>
                  <a:pt x="427" y="114"/>
                  <a:pt x="427" y="114"/>
                  <a:pt x="427" y="114"/>
                </a:cubicBezTo>
                <a:cubicBezTo>
                  <a:pt x="419" y="95"/>
                  <a:pt x="409" y="78"/>
                  <a:pt x="397" y="61"/>
                </a:cubicBezTo>
                <a:cubicBezTo>
                  <a:pt x="396" y="59"/>
                  <a:pt x="396" y="59"/>
                  <a:pt x="396" y="59"/>
                </a:cubicBezTo>
                <a:cubicBezTo>
                  <a:pt x="391" y="52"/>
                  <a:pt x="385" y="45"/>
                  <a:pt x="379" y="39"/>
                </a:cubicBezTo>
                <a:cubicBezTo>
                  <a:pt x="368" y="28"/>
                  <a:pt x="368" y="28"/>
                  <a:pt x="368" y="28"/>
                </a:cubicBezTo>
                <a:cubicBezTo>
                  <a:pt x="383" y="32"/>
                  <a:pt x="383" y="32"/>
                  <a:pt x="383" y="32"/>
                </a:cubicBezTo>
                <a:cubicBezTo>
                  <a:pt x="419" y="43"/>
                  <a:pt x="453" y="62"/>
                  <a:pt x="481" y="86"/>
                </a:cubicBezTo>
                <a:cubicBezTo>
                  <a:pt x="485" y="89"/>
                  <a:pt x="485" y="89"/>
                  <a:pt x="485" y="89"/>
                </a:cubicBezTo>
                <a:cubicBezTo>
                  <a:pt x="481" y="93"/>
                  <a:pt x="481" y="93"/>
                  <a:pt x="481" y="93"/>
                </a:cubicBezTo>
                <a:close/>
                <a:moveTo>
                  <a:pt x="416" y="152"/>
                </a:moveTo>
                <a:cubicBezTo>
                  <a:pt x="420" y="150"/>
                  <a:pt x="420" y="150"/>
                  <a:pt x="420" y="150"/>
                </a:cubicBezTo>
                <a:cubicBezTo>
                  <a:pt x="421" y="154"/>
                  <a:pt x="421" y="154"/>
                  <a:pt x="421" y="154"/>
                </a:cubicBezTo>
                <a:cubicBezTo>
                  <a:pt x="434" y="194"/>
                  <a:pt x="441" y="240"/>
                  <a:pt x="442" y="286"/>
                </a:cubicBezTo>
                <a:cubicBezTo>
                  <a:pt x="442" y="291"/>
                  <a:pt x="442" y="291"/>
                  <a:pt x="442" y="291"/>
                </a:cubicBezTo>
                <a:cubicBezTo>
                  <a:pt x="310" y="291"/>
                  <a:pt x="310" y="291"/>
                  <a:pt x="310" y="291"/>
                </a:cubicBezTo>
                <a:cubicBezTo>
                  <a:pt x="310" y="171"/>
                  <a:pt x="310" y="171"/>
                  <a:pt x="310" y="171"/>
                </a:cubicBezTo>
                <a:cubicBezTo>
                  <a:pt x="314" y="171"/>
                  <a:pt x="314" y="171"/>
                  <a:pt x="314" y="171"/>
                </a:cubicBezTo>
                <a:cubicBezTo>
                  <a:pt x="350" y="170"/>
                  <a:pt x="385" y="163"/>
                  <a:pt x="416" y="152"/>
                </a:cubicBezTo>
                <a:close/>
                <a:moveTo>
                  <a:pt x="310" y="152"/>
                </a:moveTo>
                <a:cubicBezTo>
                  <a:pt x="310" y="20"/>
                  <a:pt x="310" y="20"/>
                  <a:pt x="310" y="20"/>
                </a:cubicBezTo>
                <a:cubicBezTo>
                  <a:pt x="315" y="21"/>
                  <a:pt x="315" y="21"/>
                  <a:pt x="315" y="21"/>
                </a:cubicBezTo>
                <a:cubicBezTo>
                  <a:pt x="354" y="29"/>
                  <a:pt x="388" y="67"/>
                  <a:pt x="412" y="128"/>
                </a:cubicBezTo>
                <a:cubicBezTo>
                  <a:pt x="414" y="132"/>
                  <a:pt x="414" y="132"/>
                  <a:pt x="414" y="132"/>
                </a:cubicBezTo>
                <a:cubicBezTo>
                  <a:pt x="410" y="133"/>
                  <a:pt x="410" y="133"/>
                  <a:pt x="410" y="133"/>
                </a:cubicBezTo>
                <a:cubicBezTo>
                  <a:pt x="381" y="144"/>
                  <a:pt x="348" y="150"/>
                  <a:pt x="314" y="152"/>
                </a:cubicBezTo>
                <a:lnTo>
                  <a:pt x="310" y="152"/>
                </a:lnTo>
                <a:close/>
                <a:moveTo>
                  <a:pt x="499" y="498"/>
                </a:moveTo>
                <a:cubicBezTo>
                  <a:pt x="496" y="495"/>
                  <a:pt x="496" y="495"/>
                  <a:pt x="496" y="495"/>
                </a:cubicBezTo>
                <a:cubicBezTo>
                  <a:pt x="479" y="481"/>
                  <a:pt x="461" y="469"/>
                  <a:pt x="441" y="459"/>
                </a:cubicBezTo>
                <a:cubicBezTo>
                  <a:pt x="437" y="458"/>
                  <a:pt x="437" y="458"/>
                  <a:pt x="437" y="458"/>
                </a:cubicBezTo>
                <a:cubicBezTo>
                  <a:pt x="440" y="451"/>
                  <a:pt x="440" y="451"/>
                  <a:pt x="440" y="451"/>
                </a:cubicBezTo>
                <a:cubicBezTo>
                  <a:pt x="446" y="430"/>
                  <a:pt x="452" y="407"/>
                  <a:pt x="455" y="384"/>
                </a:cubicBezTo>
                <a:cubicBezTo>
                  <a:pt x="457" y="375"/>
                  <a:pt x="457" y="375"/>
                  <a:pt x="457" y="375"/>
                </a:cubicBezTo>
                <a:cubicBezTo>
                  <a:pt x="458" y="366"/>
                  <a:pt x="459" y="357"/>
                  <a:pt x="460" y="348"/>
                </a:cubicBezTo>
                <a:cubicBezTo>
                  <a:pt x="461" y="338"/>
                  <a:pt x="461" y="338"/>
                  <a:pt x="461" y="338"/>
                </a:cubicBezTo>
                <a:cubicBezTo>
                  <a:pt x="461" y="332"/>
                  <a:pt x="461" y="326"/>
                  <a:pt x="461" y="320"/>
                </a:cubicBezTo>
                <a:cubicBezTo>
                  <a:pt x="462" y="310"/>
                  <a:pt x="462" y="310"/>
                  <a:pt x="462" y="310"/>
                </a:cubicBezTo>
                <a:cubicBezTo>
                  <a:pt x="580" y="310"/>
                  <a:pt x="580" y="310"/>
                  <a:pt x="580" y="310"/>
                </a:cubicBezTo>
                <a:cubicBezTo>
                  <a:pt x="580" y="314"/>
                  <a:pt x="580" y="314"/>
                  <a:pt x="580" y="314"/>
                </a:cubicBezTo>
                <a:cubicBezTo>
                  <a:pt x="577" y="382"/>
                  <a:pt x="549" y="446"/>
                  <a:pt x="502" y="495"/>
                </a:cubicBezTo>
                <a:cubicBezTo>
                  <a:pt x="499" y="498"/>
                  <a:pt x="499" y="498"/>
                  <a:pt x="499" y="498"/>
                </a:cubicBezTo>
                <a:close/>
                <a:moveTo>
                  <a:pt x="460" y="253"/>
                </a:moveTo>
                <a:cubicBezTo>
                  <a:pt x="459" y="244"/>
                  <a:pt x="458" y="234"/>
                  <a:pt x="457" y="225"/>
                </a:cubicBezTo>
                <a:cubicBezTo>
                  <a:pt x="455" y="216"/>
                  <a:pt x="455" y="216"/>
                  <a:pt x="455" y="216"/>
                </a:cubicBezTo>
                <a:cubicBezTo>
                  <a:pt x="452" y="193"/>
                  <a:pt x="447" y="171"/>
                  <a:pt x="440" y="149"/>
                </a:cubicBezTo>
                <a:cubicBezTo>
                  <a:pt x="437" y="143"/>
                  <a:pt x="437" y="143"/>
                  <a:pt x="437" y="143"/>
                </a:cubicBezTo>
                <a:cubicBezTo>
                  <a:pt x="441" y="141"/>
                  <a:pt x="441" y="141"/>
                  <a:pt x="441" y="141"/>
                </a:cubicBezTo>
                <a:cubicBezTo>
                  <a:pt x="461" y="132"/>
                  <a:pt x="479" y="120"/>
                  <a:pt x="496" y="105"/>
                </a:cubicBezTo>
                <a:cubicBezTo>
                  <a:pt x="499" y="103"/>
                  <a:pt x="499" y="103"/>
                  <a:pt x="499" y="103"/>
                </a:cubicBezTo>
                <a:cubicBezTo>
                  <a:pt x="502" y="105"/>
                  <a:pt x="502" y="105"/>
                  <a:pt x="502" y="105"/>
                </a:cubicBezTo>
                <a:cubicBezTo>
                  <a:pt x="549" y="154"/>
                  <a:pt x="577" y="218"/>
                  <a:pt x="580" y="286"/>
                </a:cubicBezTo>
                <a:cubicBezTo>
                  <a:pt x="580" y="291"/>
                  <a:pt x="580" y="291"/>
                  <a:pt x="580" y="291"/>
                </a:cubicBezTo>
                <a:cubicBezTo>
                  <a:pt x="462" y="291"/>
                  <a:pt x="462" y="291"/>
                  <a:pt x="462" y="291"/>
                </a:cubicBezTo>
                <a:cubicBezTo>
                  <a:pt x="461" y="280"/>
                  <a:pt x="461" y="280"/>
                  <a:pt x="461" y="280"/>
                </a:cubicBezTo>
                <a:cubicBezTo>
                  <a:pt x="461" y="274"/>
                  <a:pt x="461" y="269"/>
                  <a:pt x="461" y="263"/>
                </a:cubicBezTo>
                <a:cubicBezTo>
                  <a:pt x="460" y="253"/>
                  <a:pt x="460" y="253"/>
                  <a:pt x="460" y="253"/>
                </a:cubicBezTo>
                <a:close/>
                <a:moveTo>
                  <a:pt x="221" y="39"/>
                </a:moveTo>
                <a:cubicBezTo>
                  <a:pt x="215" y="45"/>
                  <a:pt x="209" y="52"/>
                  <a:pt x="204" y="59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1" y="78"/>
                  <a:pt x="182" y="95"/>
                  <a:pt x="174" y="11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66" y="123"/>
                  <a:pt x="166" y="123"/>
                  <a:pt x="166" y="123"/>
                </a:cubicBezTo>
                <a:cubicBezTo>
                  <a:pt x="149" y="115"/>
                  <a:pt x="133" y="104"/>
                  <a:pt x="119" y="93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9" y="86"/>
                  <a:pt x="119" y="86"/>
                  <a:pt x="119" y="86"/>
                </a:cubicBezTo>
                <a:cubicBezTo>
                  <a:pt x="148" y="62"/>
                  <a:pt x="181" y="43"/>
                  <a:pt x="217" y="32"/>
                </a:cubicBezTo>
                <a:cubicBezTo>
                  <a:pt x="232" y="28"/>
                  <a:pt x="232" y="28"/>
                  <a:pt x="232" y="28"/>
                </a:cubicBezTo>
                <a:cubicBezTo>
                  <a:pt x="221" y="39"/>
                  <a:pt x="221" y="39"/>
                  <a:pt x="221" y="39"/>
                </a:cubicBezTo>
                <a:close/>
                <a:moveTo>
                  <a:pt x="158" y="286"/>
                </a:moveTo>
                <a:cubicBezTo>
                  <a:pt x="159" y="240"/>
                  <a:pt x="166" y="194"/>
                  <a:pt x="179" y="154"/>
                </a:cubicBezTo>
                <a:cubicBezTo>
                  <a:pt x="180" y="150"/>
                  <a:pt x="180" y="150"/>
                  <a:pt x="180" y="150"/>
                </a:cubicBezTo>
                <a:cubicBezTo>
                  <a:pt x="184" y="151"/>
                  <a:pt x="184" y="151"/>
                  <a:pt x="184" y="151"/>
                </a:cubicBezTo>
                <a:cubicBezTo>
                  <a:pt x="216" y="163"/>
                  <a:pt x="250" y="170"/>
                  <a:pt x="287" y="171"/>
                </a:cubicBezTo>
                <a:cubicBezTo>
                  <a:pt x="290" y="171"/>
                  <a:pt x="290" y="171"/>
                  <a:pt x="290" y="171"/>
                </a:cubicBezTo>
                <a:cubicBezTo>
                  <a:pt x="290" y="291"/>
                  <a:pt x="290" y="291"/>
                  <a:pt x="290" y="291"/>
                </a:cubicBezTo>
                <a:cubicBezTo>
                  <a:pt x="158" y="291"/>
                  <a:pt x="158" y="291"/>
                  <a:pt x="158" y="291"/>
                </a:cubicBezTo>
                <a:lnTo>
                  <a:pt x="158" y="286"/>
                </a:lnTo>
                <a:close/>
                <a:moveTo>
                  <a:pt x="186" y="132"/>
                </a:moveTo>
                <a:cubicBezTo>
                  <a:pt x="188" y="128"/>
                  <a:pt x="188" y="128"/>
                  <a:pt x="188" y="128"/>
                </a:cubicBezTo>
                <a:cubicBezTo>
                  <a:pt x="212" y="67"/>
                  <a:pt x="247" y="29"/>
                  <a:pt x="286" y="21"/>
                </a:cubicBezTo>
                <a:cubicBezTo>
                  <a:pt x="290" y="20"/>
                  <a:pt x="290" y="20"/>
                  <a:pt x="290" y="20"/>
                </a:cubicBezTo>
                <a:cubicBezTo>
                  <a:pt x="290" y="152"/>
                  <a:pt x="290" y="152"/>
                  <a:pt x="290" y="152"/>
                </a:cubicBezTo>
                <a:cubicBezTo>
                  <a:pt x="286" y="152"/>
                  <a:pt x="286" y="152"/>
                  <a:pt x="286" y="152"/>
                </a:cubicBezTo>
                <a:cubicBezTo>
                  <a:pt x="252" y="150"/>
                  <a:pt x="220" y="144"/>
                  <a:pt x="190" y="133"/>
                </a:cubicBezTo>
                <a:lnTo>
                  <a:pt x="186" y="132"/>
                </a:lnTo>
                <a:close/>
                <a:moveTo>
                  <a:pt x="119" y="508"/>
                </a:moveTo>
                <a:cubicBezTo>
                  <a:pt x="133" y="496"/>
                  <a:pt x="149" y="486"/>
                  <a:pt x="165" y="478"/>
                </a:cubicBezTo>
                <a:cubicBezTo>
                  <a:pt x="171" y="480"/>
                  <a:pt x="171" y="480"/>
                  <a:pt x="171" y="480"/>
                </a:cubicBezTo>
                <a:cubicBezTo>
                  <a:pt x="174" y="487"/>
                  <a:pt x="174" y="487"/>
                  <a:pt x="174" y="487"/>
                </a:cubicBezTo>
                <a:cubicBezTo>
                  <a:pt x="182" y="506"/>
                  <a:pt x="192" y="524"/>
                  <a:pt x="203" y="539"/>
                </a:cubicBezTo>
                <a:cubicBezTo>
                  <a:pt x="204" y="541"/>
                  <a:pt x="204" y="541"/>
                  <a:pt x="204" y="541"/>
                </a:cubicBezTo>
                <a:cubicBezTo>
                  <a:pt x="206" y="544"/>
                  <a:pt x="208" y="545"/>
                  <a:pt x="209" y="547"/>
                </a:cubicBezTo>
                <a:cubicBezTo>
                  <a:pt x="212" y="550"/>
                  <a:pt x="214" y="553"/>
                  <a:pt x="216" y="556"/>
                </a:cubicBezTo>
                <a:cubicBezTo>
                  <a:pt x="218" y="558"/>
                  <a:pt x="219" y="560"/>
                  <a:pt x="221" y="561"/>
                </a:cubicBezTo>
                <a:cubicBezTo>
                  <a:pt x="232" y="573"/>
                  <a:pt x="232" y="573"/>
                  <a:pt x="232" y="573"/>
                </a:cubicBezTo>
                <a:cubicBezTo>
                  <a:pt x="217" y="568"/>
                  <a:pt x="217" y="568"/>
                  <a:pt x="217" y="568"/>
                </a:cubicBezTo>
                <a:cubicBezTo>
                  <a:pt x="181" y="557"/>
                  <a:pt x="148" y="539"/>
                  <a:pt x="119" y="514"/>
                </a:cubicBezTo>
                <a:cubicBezTo>
                  <a:pt x="115" y="511"/>
                  <a:pt x="115" y="511"/>
                  <a:pt x="115" y="511"/>
                </a:cubicBezTo>
                <a:cubicBezTo>
                  <a:pt x="119" y="508"/>
                  <a:pt x="119" y="508"/>
                  <a:pt x="119" y="508"/>
                </a:cubicBezTo>
                <a:close/>
                <a:moveTo>
                  <a:pt x="184" y="449"/>
                </a:moveTo>
                <a:cubicBezTo>
                  <a:pt x="180" y="451"/>
                  <a:pt x="180" y="451"/>
                  <a:pt x="180" y="451"/>
                </a:cubicBezTo>
                <a:cubicBezTo>
                  <a:pt x="179" y="446"/>
                  <a:pt x="179" y="446"/>
                  <a:pt x="179" y="446"/>
                </a:cubicBezTo>
                <a:cubicBezTo>
                  <a:pt x="166" y="406"/>
                  <a:pt x="159" y="361"/>
                  <a:pt x="158" y="314"/>
                </a:cubicBezTo>
                <a:cubicBezTo>
                  <a:pt x="158" y="310"/>
                  <a:pt x="158" y="310"/>
                  <a:pt x="158" y="310"/>
                </a:cubicBezTo>
                <a:cubicBezTo>
                  <a:pt x="290" y="310"/>
                  <a:pt x="290" y="310"/>
                  <a:pt x="290" y="310"/>
                </a:cubicBezTo>
                <a:cubicBezTo>
                  <a:pt x="290" y="429"/>
                  <a:pt x="290" y="429"/>
                  <a:pt x="290" y="429"/>
                </a:cubicBezTo>
                <a:cubicBezTo>
                  <a:pt x="286" y="429"/>
                  <a:pt x="286" y="429"/>
                  <a:pt x="286" y="429"/>
                </a:cubicBezTo>
                <a:cubicBezTo>
                  <a:pt x="250" y="431"/>
                  <a:pt x="216" y="437"/>
                  <a:pt x="184" y="449"/>
                </a:cubicBezTo>
                <a:close/>
                <a:moveTo>
                  <a:pt x="290" y="449"/>
                </a:moveTo>
                <a:cubicBezTo>
                  <a:pt x="290" y="580"/>
                  <a:pt x="290" y="580"/>
                  <a:pt x="290" y="580"/>
                </a:cubicBezTo>
                <a:cubicBezTo>
                  <a:pt x="286" y="579"/>
                  <a:pt x="286" y="579"/>
                  <a:pt x="286" y="579"/>
                </a:cubicBezTo>
                <a:cubicBezTo>
                  <a:pt x="247" y="572"/>
                  <a:pt x="212" y="534"/>
                  <a:pt x="188" y="473"/>
                </a:cubicBezTo>
                <a:cubicBezTo>
                  <a:pt x="186" y="469"/>
                  <a:pt x="186" y="469"/>
                  <a:pt x="186" y="469"/>
                </a:cubicBezTo>
                <a:cubicBezTo>
                  <a:pt x="190" y="467"/>
                  <a:pt x="190" y="467"/>
                  <a:pt x="190" y="467"/>
                </a:cubicBezTo>
                <a:cubicBezTo>
                  <a:pt x="220" y="456"/>
                  <a:pt x="252" y="450"/>
                  <a:pt x="286" y="449"/>
                </a:cubicBezTo>
                <a:cubicBezTo>
                  <a:pt x="290" y="449"/>
                  <a:pt x="290" y="449"/>
                  <a:pt x="290" y="449"/>
                </a:cubicBezTo>
                <a:close/>
                <a:moveTo>
                  <a:pt x="144" y="225"/>
                </a:moveTo>
                <a:cubicBezTo>
                  <a:pt x="142" y="234"/>
                  <a:pt x="141" y="243"/>
                  <a:pt x="141" y="254"/>
                </a:cubicBezTo>
                <a:cubicBezTo>
                  <a:pt x="140" y="263"/>
                  <a:pt x="140" y="263"/>
                  <a:pt x="140" y="263"/>
                </a:cubicBezTo>
                <a:cubicBezTo>
                  <a:pt x="139" y="269"/>
                  <a:pt x="139" y="275"/>
                  <a:pt x="139" y="282"/>
                </a:cubicBezTo>
                <a:cubicBezTo>
                  <a:pt x="139" y="291"/>
                  <a:pt x="139" y="291"/>
                  <a:pt x="139" y="291"/>
                </a:cubicBezTo>
                <a:cubicBezTo>
                  <a:pt x="20" y="291"/>
                  <a:pt x="20" y="291"/>
                  <a:pt x="20" y="291"/>
                </a:cubicBezTo>
                <a:cubicBezTo>
                  <a:pt x="20" y="286"/>
                  <a:pt x="20" y="286"/>
                  <a:pt x="20" y="286"/>
                </a:cubicBezTo>
                <a:cubicBezTo>
                  <a:pt x="24" y="218"/>
                  <a:pt x="51" y="154"/>
                  <a:pt x="99" y="105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21" y="119"/>
                  <a:pt x="140" y="131"/>
                  <a:pt x="160" y="141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9"/>
                  <a:pt x="161" y="149"/>
                  <a:pt x="161" y="149"/>
                </a:cubicBezTo>
                <a:cubicBezTo>
                  <a:pt x="154" y="171"/>
                  <a:pt x="149" y="193"/>
                  <a:pt x="145" y="216"/>
                </a:cubicBezTo>
                <a:lnTo>
                  <a:pt x="144" y="225"/>
                </a:lnTo>
                <a:close/>
                <a:moveTo>
                  <a:pt x="144" y="375"/>
                </a:moveTo>
                <a:cubicBezTo>
                  <a:pt x="145" y="384"/>
                  <a:pt x="145" y="384"/>
                  <a:pt x="145" y="384"/>
                </a:cubicBezTo>
                <a:cubicBezTo>
                  <a:pt x="149" y="408"/>
                  <a:pt x="154" y="430"/>
                  <a:pt x="161" y="451"/>
                </a:cubicBezTo>
                <a:cubicBezTo>
                  <a:pt x="163" y="458"/>
                  <a:pt x="163" y="458"/>
                  <a:pt x="163" y="458"/>
                </a:cubicBezTo>
                <a:cubicBezTo>
                  <a:pt x="160" y="459"/>
                  <a:pt x="160" y="459"/>
                  <a:pt x="160" y="459"/>
                </a:cubicBezTo>
                <a:cubicBezTo>
                  <a:pt x="139" y="469"/>
                  <a:pt x="121" y="481"/>
                  <a:pt x="104" y="495"/>
                </a:cubicBezTo>
                <a:cubicBezTo>
                  <a:pt x="101" y="498"/>
                  <a:pt x="101" y="498"/>
                  <a:pt x="101" y="498"/>
                </a:cubicBezTo>
                <a:cubicBezTo>
                  <a:pt x="99" y="495"/>
                  <a:pt x="99" y="495"/>
                  <a:pt x="99" y="495"/>
                </a:cubicBezTo>
                <a:cubicBezTo>
                  <a:pt x="52" y="446"/>
                  <a:pt x="24" y="382"/>
                  <a:pt x="20" y="314"/>
                </a:cubicBezTo>
                <a:cubicBezTo>
                  <a:pt x="20" y="310"/>
                  <a:pt x="20" y="310"/>
                  <a:pt x="20" y="310"/>
                </a:cubicBezTo>
                <a:cubicBezTo>
                  <a:pt x="139" y="310"/>
                  <a:pt x="139" y="310"/>
                  <a:pt x="139" y="310"/>
                </a:cubicBezTo>
                <a:cubicBezTo>
                  <a:pt x="139" y="319"/>
                  <a:pt x="139" y="319"/>
                  <a:pt x="139" y="319"/>
                </a:cubicBezTo>
                <a:cubicBezTo>
                  <a:pt x="139" y="325"/>
                  <a:pt x="139" y="331"/>
                  <a:pt x="140" y="338"/>
                </a:cubicBezTo>
                <a:cubicBezTo>
                  <a:pt x="141" y="348"/>
                  <a:pt x="141" y="348"/>
                  <a:pt x="141" y="348"/>
                </a:cubicBezTo>
                <a:cubicBezTo>
                  <a:pt x="141" y="357"/>
                  <a:pt x="142" y="367"/>
                  <a:pt x="144" y="37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72026" y="263529"/>
            <a:ext cx="10363200" cy="599331"/>
          </a:xfrm>
          <a:prstGeom prst="rect">
            <a:avLst/>
          </a:prstGeom>
        </p:spPr>
        <p:txBody>
          <a:bodyPr tIns="72000">
            <a:normAutofit/>
          </a:bodyPr>
          <a:lstStyle>
            <a:lvl1pPr>
              <a:defRPr sz="3000" b="1">
                <a:latin typeface="HarmonyOS Sans SC" panose="00000500000000000000" charset="-122"/>
                <a:ea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39780" y="311823"/>
            <a:ext cx="306067" cy="408433"/>
            <a:chOff x="339780" y="427935"/>
            <a:chExt cx="306067" cy="408433"/>
          </a:xfrm>
        </p:grpSpPr>
        <p:sp>
          <p:nvSpPr>
            <p:cNvPr id="2" name="矩形 1"/>
            <p:cNvSpPr/>
            <p:nvPr userDrawn="1"/>
          </p:nvSpPr>
          <p:spPr>
            <a:xfrm>
              <a:off x="534722" y="427935"/>
              <a:ext cx="111125" cy="408433"/>
            </a:xfrm>
            <a:prstGeom prst="rect">
              <a:avLst/>
            </a:prstGeom>
            <a:gradFill>
              <a:gsLst>
                <a:gs pos="0">
                  <a:srgbClr val="FF0000">
                    <a:alpha val="0"/>
                  </a:srgbClr>
                </a:gs>
                <a:gs pos="100000">
                  <a:srgbClr val="FF0000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 userDrawn="1"/>
          </p:nvSpPr>
          <p:spPr>
            <a:xfrm>
              <a:off x="339780" y="558904"/>
              <a:ext cx="111125" cy="277464"/>
            </a:xfrm>
            <a:prstGeom prst="rect">
              <a:avLst/>
            </a:prstGeom>
            <a:gradFill>
              <a:gsLst>
                <a:gs pos="0">
                  <a:srgbClr val="265EFA">
                    <a:alpha val="0"/>
                  </a:srgbClr>
                </a:gs>
                <a:gs pos="100000">
                  <a:srgbClr val="0101D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 userDrawn="1"/>
        </p:nvSpPr>
        <p:spPr>
          <a:xfrm>
            <a:off x="10461215" y="6447305"/>
            <a:ext cx="1540550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www.dameng.com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9780" y="6447305"/>
            <a:ext cx="2185214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打造中国的世界级数据库品牌</a:t>
            </a:r>
          </a:p>
        </p:txBody>
      </p:sp>
      <p:sp>
        <p:nvSpPr>
          <p:cNvPr id="17" name="Freeform 5"/>
          <p:cNvSpPr>
            <a:spLocks noEditPoints="1"/>
          </p:cNvSpPr>
          <p:nvPr userDrawn="1"/>
        </p:nvSpPr>
        <p:spPr bwMode="auto">
          <a:xfrm>
            <a:off x="10239375" y="6509152"/>
            <a:ext cx="222250" cy="222250"/>
          </a:xfrm>
          <a:custGeom>
            <a:avLst/>
            <a:gdLst>
              <a:gd name="T0" fmla="*/ 300 w 600"/>
              <a:gd name="T1" fmla="*/ 600 h 600"/>
              <a:gd name="T2" fmla="*/ 379 w 600"/>
              <a:gd name="T3" fmla="*/ 561 h 600"/>
              <a:gd name="T4" fmla="*/ 427 w 600"/>
              <a:gd name="T5" fmla="*/ 485 h 600"/>
              <a:gd name="T6" fmla="*/ 481 w 600"/>
              <a:gd name="T7" fmla="*/ 508 h 600"/>
              <a:gd name="T8" fmla="*/ 383 w 600"/>
              <a:gd name="T9" fmla="*/ 568 h 600"/>
              <a:gd name="T10" fmla="*/ 442 w 600"/>
              <a:gd name="T11" fmla="*/ 314 h 600"/>
              <a:gd name="T12" fmla="*/ 416 w 600"/>
              <a:gd name="T13" fmla="*/ 449 h 600"/>
              <a:gd name="T14" fmla="*/ 310 w 600"/>
              <a:gd name="T15" fmla="*/ 310 h 600"/>
              <a:gd name="T16" fmla="*/ 414 w 600"/>
              <a:gd name="T17" fmla="*/ 469 h 600"/>
              <a:gd name="T18" fmla="*/ 310 w 600"/>
              <a:gd name="T19" fmla="*/ 580 h 600"/>
              <a:gd name="T20" fmla="*/ 410 w 600"/>
              <a:gd name="T21" fmla="*/ 467 h 600"/>
              <a:gd name="T22" fmla="*/ 435 w 600"/>
              <a:gd name="T23" fmla="*/ 123 h 600"/>
              <a:gd name="T24" fmla="*/ 427 w 600"/>
              <a:gd name="T25" fmla="*/ 114 h 600"/>
              <a:gd name="T26" fmla="*/ 379 w 600"/>
              <a:gd name="T27" fmla="*/ 39 h 600"/>
              <a:gd name="T28" fmla="*/ 481 w 600"/>
              <a:gd name="T29" fmla="*/ 86 h 600"/>
              <a:gd name="T30" fmla="*/ 416 w 600"/>
              <a:gd name="T31" fmla="*/ 152 h 600"/>
              <a:gd name="T32" fmla="*/ 442 w 600"/>
              <a:gd name="T33" fmla="*/ 286 h 600"/>
              <a:gd name="T34" fmla="*/ 310 w 600"/>
              <a:gd name="T35" fmla="*/ 171 h 600"/>
              <a:gd name="T36" fmla="*/ 310 w 600"/>
              <a:gd name="T37" fmla="*/ 152 h 600"/>
              <a:gd name="T38" fmla="*/ 412 w 600"/>
              <a:gd name="T39" fmla="*/ 128 h 600"/>
              <a:gd name="T40" fmla="*/ 314 w 600"/>
              <a:gd name="T41" fmla="*/ 152 h 600"/>
              <a:gd name="T42" fmla="*/ 496 w 600"/>
              <a:gd name="T43" fmla="*/ 495 h 600"/>
              <a:gd name="T44" fmla="*/ 440 w 600"/>
              <a:gd name="T45" fmla="*/ 451 h 600"/>
              <a:gd name="T46" fmla="*/ 460 w 600"/>
              <a:gd name="T47" fmla="*/ 348 h 600"/>
              <a:gd name="T48" fmla="*/ 462 w 600"/>
              <a:gd name="T49" fmla="*/ 310 h 600"/>
              <a:gd name="T50" fmla="*/ 502 w 600"/>
              <a:gd name="T51" fmla="*/ 495 h 600"/>
              <a:gd name="T52" fmla="*/ 457 w 600"/>
              <a:gd name="T53" fmla="*/ 225 h 600"/>
              <a:gd name="T54" fmla="*/ 437 w 600"/>
              <a:gd name="T55" fmla="*/ 143 h 600"/>
              <a:gd name="T56" fmla="*/ 499 w 600"/>
              <a:gd name="T57" fmla="*/ 103 h 600"/>
              <a:gd name="T58" fmla="*/ 580 w 600"/>
              <a:gd name="T59" fmla="*/ 291 h 600"/>
              <a:gd name="T60" fmla="*/ 461 w 600"/>
              <a:gd name="T61" fmla="*/ 263 h 600"/>
              <a:gd name="T62" fmla="*/ 204 w 600"/>
              <a:gd name="T63" fmla="*/ 59 h 600"/>
              <a:gd name="T64" fmla="*/ 170 w 600"/>
              <a:gd name="T65" fmla="*/ 125 h 600"/>
              <a:gd name="T66" fmla="*/ 115 w 600"/>
              <a:gd name="T67" fmla="*/ 90 h 600"/>
              <a:gd name="T68" fmla="*/ 232 w 600"/>
              <a:gd name="T69" fmla="*/ 28 h 600"/>
              <a:gd name="T70" fmla="*/ 179 w 600"/>
              <a:gd name="T71" fmla="*/ 154 h 600"/>
              <a:gd name="T72" fmla="*/ 287 w 600"/>
              <a:gd name="T73" fmla="*/ 171 h 600"/>
              <a:gd name="T74" fmla="*/ 158 w 600"/>
              <a:gd name="T75" fmla="*/ 291 h 600"/>
              <a:gd name="T76" fmla="*/ 188 w 600"/>
              <a:gd name="T77" fmla="*/ 128 h 600"/>
              <a:gd name="T78" fmla="*/ 290 w 600"/>
              <a:gd name="T79" fmla="*/ 152 h 600"/>
              <a:gd name="T80" fmla="*/ 186 w 600"/>
              <a:gd name="T81" fmla="*/ 132 h 600"/>
              <a:gd name="T82" fmla="*/ 171 w 600"/>
              <a:gd name="T83" fmla="*/ 480 h 600"/>
              <a:gd name="T84" fmla="*/ 204 w 600"/>
              <a:gd name="T85" fmla="*/ 541 h 600"/>
              <a:gd name="T86" fmla="*/ 221 w 600"/>
              <a:gd name="T87" fmla="*/ 561 h 600"/>
              <a:gd name="T88" fmla="*/ 119 w 600"/>
              <a:gd name="T89" fmla="*/ 514 h 600"/>
              <a:gd name="T90" fmla="*/ 184 w 600"/>
              <a:gd name="T91" fmla="*/ 449 h 600"/>
              <a:gd name="T92" fmla="*/ 158 w 600"/>
              <a:gd name="T93" fmla="*/ 314 h 600"/>
              <a:gd name="T94" fmla="*/ 290 w 600"/>
              <a:gd name="T95" fmla="*/ 429 h 600"/>
              <a:gd name="T96" fmla="*/ 290 w 600"/>
              <a:gd name="T97" fmla="*/ 449 h 600"/>
              <a:gd name="T98" fmla="*/ 188 w 600"/>
              <a:gd name="T99" fmla="*/ 473 h 600"/>
              <a:gd name="T100" fmla="*/ 286 w 600"/>
              <a:gd name="T101" fmla="*/ 449 h 600"/>
              <a:gd name="T102" fmla="*/ 141 w 600"/>
              <a:gd name="T103" fmla="*/ 254 h 600"/>
              <a:gd name="T104" fmla="*/ 139 w 600"/>
              <a:gd name="T105" fmla="*/ 291 h 600"/>
              <a:gd name="T106" fmla="*/ 99 w 600"/>
              <a:gd name="T107" fmla="*/ 105 h 600"/>
              <a:gd name="T108" fmla="*/ 160 w 600"/>
              <a:gd name="T109" fmla="*/ 141 h 600"/>
              <a:gd name="T110" fmla="*/ 145 w 600"/>
              <a:gd name="T111" fmla="*/ 216 h 600"/>
              <a:gd name="T112" fmla="*/ 145 w 600"/>
              <a:gd name="T113" fmla="*/ 384 h 600"/>
              <a:gd name="T114" fmla="*/ 160 w 600"/>
              <a:gd name="T115" fmla="*/ 459 h 600"/>
              <a:gd name="T116" fmla="*/ 99 w 600"/>
              <a:gd name="T117" fmla="*/ 495 h 600"/>
              <a:gd name="T118" fmla="*/ 139 w 600"/>
              <a:gd name="T119" fmla="*/ 310 h 600"/>
              <a:gd name="T120" fmla="*/ 141 w 600"/>
              <a:gd name="T121" fmla="*/ 348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00" h="600">
                <a:moveTo>
                  <a:pt x="300" y="0"/>
                </a:moveTo>
                <a:cubicBezTo>
                  <a:pt x="135" y="0"/>
                  <a:pt x="0" y="135"/>
                  <a:pt x="0" y="300"/>
                </a:cubicBezTo>
                <a:cubicBezTo>
                  <a:pt x="0" y="466"/>
                  <a:pt x="135" y="600"/>
                  <a:pt x="300" y="600"/>
                </a:cubicBezTo>
                <a:cubicBezTo>
                  <a:pt x="466" y="600"/>
                  <a:pt x="600" y="466"/>
                  <a:pt x="600" y="300"/>
                </a:cubicBezTo>
                <a:cubicBezTo>
                  <a:pt x="600" y="135"/>
                  <a:pt x="466" y="0"/>
                  <a:pt x="300" y="0"/>
                </a:cubicBezTo>
                <a:close/>
                <a:moveTo>
                  <a:pt x="379" y="561"/>
                </a:moveTo>
                <a:cubicBezTo>
                  <a:pt x="385" y="556"/>
                  <a:pt x="390" y="549"/>
                  <a:pt x="396" y="541"/>
                </a:cubicBezTo>
                <a:cubicBezTo>
                  <a:pt x="398" y="539"/>
                  <a:pt x="398" y="539"/>
                  <a:pt x="398" y="539"/>
                </a:cubicBezTo>
                <a:cubicBezTo>
                  <a:pt x="409" y="524"/>
                  <a:pt x="418" y="506"/>
                  <a:pt x="427" y="485"/>
                </a:cubicBezTo>
                <a:cubicBezTo>
                  <a:pt x="431" y="476"/>
                  <a:pt x="431" y="476"/>
                  <a:pt x="431" y="476"/>
                </a:cubicBezTo>
                <a:cubicBezTo>
                  <a:pt x="435" y="478"/>
                  <a:pt x="435" y="478"/>
                  <a:pt x="435" y="478"/>
                </a:cubicBezTo>
                <a:cubicBezTo>
                  <a:pt x="452" y="486"/>
                  <a:pt x="467" y="496"/>
                  <a:pt x="481" y="508"/>
                </a:cubicBezTo>
                <a:cubicBezTo>
                  <a:pt x="485" y="511"/>
                  <a:pt x="485" y="511"/>
                  <a:pt x="485" y="511"/>
                </a:cubicBezTo>
                <a:cubicBezTo>
                  <a:pt x="481" y="514"/>
                  <a:pt x="481" y="514"/>
                  <a:pt x="481" y="514"/>
                </a:cubicBezTo>
                <a:cubicBezTo>
                  <a:pt x="453" y="539"/>
                  <a:pt x="419" y="557"/>
                  <a:pt x="383" y="568"/>
                </a:cubicBezTo>
                <a:cubicBezTo>
                  <a:pt x="368" y="573"/>
                  <a:pt x="368" y="573"/>
                  <a:pt x="368" y="573"/>
                </a:cubicBezTo>
                <a:cubicBezTo>
                  <a:pt x="379" y="561"/>
                  <a:pt x="379" y="561"/>
                  <a:pt x="379" y="561"/>
                </a:cubicBezTo>
                <a:close/>
                <a:moveTo>
                  <a:pt x="442" y="314"/>
                </a:moveTo>
                <a:cubicBezTo>
                  <a:pt x="441" y="361"/>
                  <a:pt x="434" y="406"/>
                  <a:pt x="421" y="446"/>
                </a:cubicBezTo>
                <a:cubicBezTo>
                  <a:pt x="420" y="451"/>
                  <a:pt x="420" y="451"/>
                  <a:pt x="420" y="451"/>
                </a:cubicBezTo>
                <a:cubicBezTo>
                  <a:pt x="416" y="449"/>
                  <a:pt x="416" y="449"/>
                  <a:pt x="416" y="449"/>
                </a:cubicBezTo>
                <a:cubicBezTo>
                  <a:pt x="385" y="437"/>
                  <a:pt x="350" y="431"/>
                  <a:pt x="314" y="429"/>
                </a:cubicBezTo>
                <a:cubicBezTo>
                  <a:pt x="310" y="429"/>
                  <a:pt x="310" y="429"/>
                  <a:pt x="310" y="429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442" y="310"/>
                  <a:pt x="442" y="310"/>
                  <a:pt x="442" y="310"/>
                </a:cubicBezTo>
                <a:lnTo>
                  <a:pt x="442" y="314"/>
                </a:lnTo>
                <a:close/>
                <a:moveTo>
                  <a:pt x="414" y="469"/>
                </a:moveTo>
                <a:cubicBezTo>
                  <a:pt x="412" y="473"/>
                  <a:pt x="412" y="473"/>
                  <a:pt x="412" y="473"/>
                </a:cubicBezTo>
                <a:cubicBezTo>
                  <a:pt x="388" y="534"/>
                  <a:pt x="354" y="572"/>
                  <a:pt x="315" y="579"/>
                </a:cubicBezTo>
                <a:cubicBezTo>
                  <a:pt x="310" y="580"/>
                  <a:pt x="310" y="580"/>
                  <a:pt x="310" y="580"/>
                </a:cubicBezTo>
                <a:cubicBezTo>
                  <a:pt x="310" y="449"/>
                  <a:pt x="310" y="449"/>
                  <a:pt x="310" y="449"/>
                </a:cubicBezTo>
                <a:cubicBezTo>
                  <a:pt x="314" y="449"/>
                  <a:pt x="314" y="449"/>
                  <a:pt x="314" y="449"/>
                </a:cubicBezTo>
                <a:cubicBezTo>
                  <a:pt x="348" y="450"/>
                  <a:pt x="381" y="456"/>
                  <a:pt x="410" y="467"/>
                </a:cubicBezTo>
                <a:lnTo>
                  <a:pt x="414" y="469"/>
                </a:lnTo>
                <a:close/>
                <a:moveTo>
                  <a:pt x="481" y="93"/>
                </a:moveTo>
                <a:cubicBezTo>
                  <a:pt x="467" y="104"/>
                  <a:pt x="451" y="114"/>
                  <a:pt x="435" y="123"/>
                </a:cubicBezTo>
                <a:cubicBezTo>
                  <a:pt x="430" y="123"/>
                  <a:pt x="430" y="123"/>
                  <a:pt x="430" y="123"/>
                </a:cubicBezTo>
                <a:cubicBezTo>
                  <a:pt x="429" y="119"/>
                  <a:pt x="429" y="119"/>
                  <a:pt x="429" y="119"/>
                </a:cubicBezTo>
                <a:cubicBezTo>
                  <a:pt x="427" y="114"/>
                  <a:pt x="427" y="114"/>
                  <a:pt x="427" y="114"/>
                </a:cubicBezTo>
                <a:cubicBezTo>
                  <a:pt x="419" y="95"/>
                  <a:pt x="409" y="78"/>
                  <a:pt x="397" y="61"/>
                </a:cubicBezTo>
                <a:cubicBezTo>
                  <a:pt x="396" y="59"/>
                  <a:pt x="396" y="59"/>
                  <a:pt x="396" y="59"/>
                </a:cubicBezTo>
                <a:cubicBezTo>
                  <a:pt x="391" y="52"/>
                  <a:pt x="385" y="45"/>
                  <a:pt x="379" y="39"/>
                </a:cubicBezTo>
                <a:cubicBezTo>
                  <a:pt x="368" y="28"/>
                  <a:pt x="368" y="28"/>
                  <a:pt x="368" y="28"/>
                </a:cubicBezTo>
                <a:cubicBezTo>
                  <a:pt x="383" y="32"/>
                  <a:pt x="383" y="32"/>
                  <a:pt x="383" y="32"/>
                </a:cubicBezTo>
                <a:cubicBezTo>
                  <a:pt x="419" y="43"/>
                  <a:pt x="453" y="62"/>
                  <a:pt x="481" y="86"/>
                </a:cubicBezTo>
                <a:cubicBezTo>
                  <a:pt x="485" y="89"/>
                  <a:pt x="485" y="89"/>
                  <a:pt x="485" y="89"/>
                </a:cubicBezTo>
                <a:cubicBezTo>
                  <a:pt x="481" y="93"/>
                  <a:pt x="481" y="93"/>
                  <a:pt x="481" y="93"/>
                </a:cubicBezTo>
                <a:close/>
                <a:moveTo>
                  <a:pt x="416" y="152"/>
                </a:moveTo>
                <a:cubicBezTo>
                  <a:pt x="420" y="150"/>
                  <a:pt x="420" y="150"/>
                  <a:pt x="420" y="150"/>
                </a:cubicBezTo>
                <a:cubicBezTo>
                  <a:pt x="421" y="154"/>
                  <a:pt x="421" y="154"/>
                  <a:pt x="421" y="154"/>
                </a:cubicBezTo>
                <a:cubicBezTo>
                  <a:pt x="434" y="194"/>
                  <a:pt x="441" y="240"/>
                  <a:pt x="442" y="286"/>
                </a:cubicBezTo>
                <a:cubicBezTo>
                  <a:pt x="442" y="291"/>
                  <a:pt x="442" y="291"/>
                  <a:pt x="442" y="291"/>
                </a:cubicBezTo>
                <a:cubicBezTo>
                  <a:pt x="310" y="291"/>
                  <a:pt x="310" y="291"/>
                  <a:pt x="310" y="291"/>
                </a:cubicBezTo>
                <a:cubicBezTo>
                  <a:pt x="310" y="171"/>
                  <a:pt x="310" y="171"/>
                  <a:pt x="310" y="171"/>
                </a:cubicBezTo>
                <a:cubicBezTo>
                  <a:pt x="314" y="171"/>
                  <a:pt x="314" y="171"/>
                  <a:pt x="314" y="171"/>
                </a:cubicBezTo>
                <a:cubicBezTo>
                  <a:pt x="350" y="170"/>
                  <a:pt x="385" y="163"/>
                  <a:pt x="416" y="152"/>
                </a:cubicBezTo>
                <a:close/>
                <a:moveTo>
                  <a:pt x="310" y="152"/>
                </a:moveTo>
                <a:cubicBezTo>
                  <a:pt x="310" y="20"/>
                  <a:pt x="310" y="20"/>
                  <a:pt x="310" y="20"/>
                </a:cubicBezTo>
                <a:cubicBezTo>
                  <a:pt x="315" y="21"/>
                  <a:pt x="315" y="21"/>
                  <a:pt x="315" y="21"/>
                </a:cubicBezTo>
                <a:cubicBezTo>
                  <a:pt x="354" y="29"/>
                  <a:pt x="388" y="67"/>
                  <a:pt x="412" y="128"/>
                </a:cubicBezTo>
                <a:cubicBezTo>
                  <a:pt x="414" y="132"/>
                  <a:pt x="414" y="132"/>
                  <a:pt x="414" y="132"/>
                </a:cubicBezTo>
                <a:cubicBezTo>
                  <a:pt x="410" y="133"/>
                  <a:pt x="410" y="133"/>
                  <a:pt x="410" y="133"/>
                </a:cubicBezTo>
                <a:cubicBezTo>
                  <a:pt x="381" y="144"/>
                  <a:pt x="348" y="150"/>
                  <a:pt x="314" y="152"/>
                </a:cubicBezTo>
                <a:lnTo>
                  <a:pt x="310" y="152"/>
                </a:lnTo>
                <a:close/>
                <a:moveTo>
                  <a:pt x="499" y="498"/>
                </a:moveTo>
                <a:cubicBezTo>
                  <a:pt x="496" y="495"/>
                  <a:pt x="496" y="495"/>
                  <a:pt x="496" y="495"/>
                </a:cubicBezTo>
                <a:cubicBezTo>
                  <a:pt x="479" y="481"/>
                  <a:pt x="461" y="469"/>
                  <a:pt x="441" y="459"/>
                </a:cubicBezTo>
                <a:cubicBezTo>
                  <a:pt x="437" y="458"/>
                  <a:pt x="437" y="458"/>
                  <a:pt x="437" y="458"/>
                </a:cubicBezTo>
                <a:cubicBezTo>
                  <a:pt x="440" y="451"/>
                  <a:pt x="440" y="451"/>
                  <a:pt x="440" y="451"/>
                </a:cubicBezTo>
                <a:cubicBezTo>
                  <a:pt x="446" y="430"/>
                  <a:pt x="452" y="407"/>
                  <a:pt x="455" y="384"/>
                </a:cubicBezTo>
                <a:cubicBezTo>
                  <a:pt x="457" y="375"/>
                  <a:pt x="457" y="375"/>
                  <a:pt x="457" y="375"/>
                </a:cubicBezTo>
                <a:cubicBezTo>
                  <a:pt x="458" y="366"/>
                  <a:pt x="459" y="357"/>
                  <a:pt x="460" y="348"/>
                </a:cubicBezTo>
                <a:cubicBezTo>
                  <a:pt x="461" y="338"/>
                  <a:pt x="461" y="338"/>
                  <a:pt x="461" y="338"/>
                </a:cubicBezTo>
                <a:cubicBezTo>
                  <a:pt x="461" y="332"/>
                  <a:pt x="461" y="326"/>
                  <a:pt x="461" y="320"/>
                </a:cubicBezTo>
                <a:cubicBezTo>
                  <a:pt x="462" y="310"/>
                  <a:pt x="462" y="310"/>
                  <a:pt x="462" y="310"/>
                </a:cubicBezTo>
                <a:cubicBezTo>
                  <a:pt x="580" y="310"/>
                  <a:pt x="580" y="310"/>
                  <a:pt x="580" y="310"/>
                </a:cubicBezTo>
                <a:cubicBezTo>
                  <a:pt x="580" y="314"/>
                  <a:pt x="580" y="314"/>
                  <a:pt x="580" y="314"/>
                </a:cubicBezTo>
                <a:cubicBezTo>
                  <a:pt x="577" y="382"/>
                  <a:pt x="549" y="446"/>
                  <a:pt x="502" y="495"/>
                </a:cubicBezTo>
                <a:cubicBezTo>
                  <a:pt x="499" y="498"/>
                  <a:pt x="499" y="498"/>
                  <a:pt x="499" y="498"/>
                </a:cubicBezTo>
                <a:close/>
                <a:moveTo>
                  <a:pt x="460" y="253"/>
                </a:moveTo>
                <a:cubicBezTo>
                  <a:pt x="459" y="244"/>
                  <a:pt x="458" y="234"/>
                  <a:pt x="457" y="225"/>
                </a:cubicBezTo>
                <a:cubicBezTo>
                  <a:pt x="455" y="216"/>
                  <a:pt x="455" y="216"/>
                  <a:pt x="455" y="216"/>
                </a:cubicBezTo>
                <a:cubicBezTo>
                  <a:pt x="452" y="193"/>
                  <a:pt x="447" y="171"/>
                  <a:pt x="440" y="149"/>
                </a:cubicBezTo>
                <a:cubicBezTo>
                  <a:pt x="437" y="143"/>
                  <a:pt x="437" y="143"/>
                  <a:pt x="437" y="143"/>
                </a:cubicBezTo>
                <a:cubicBezTo>
                  <a:pt x="441" y="141"/>
                  <a:pt x="441" y="141"/>
                  <a:pt x="441" y="141"/>
                </a:cubicBezTo>
                <a:cubicBezTo>
                  <a:pt x="461" y="132"/>
                  <a:pt x="479" y="120"/>
                  <a:pt x="496" y="105"/>
                </a:cubicBezTo>
                <a:cubicBezTo>
                  <a:pt x="499" y="103"/>
                  <a:pt x="499" y="103"/>
                  <a:pt x="499" y="103"/>
                </a:cubicBezTo>
                <a:cubicBezTo>
                  <a:pt x="502" y="105"/>
                  <a:pt x="502" y="105"/>
                  <a:pt x="502" y="105"/>
                </a:cubicBezTo>
                <a:cubicBezTo>
                  <a:pt x="549" y="154"/>
                  <a:pt x="577" y="218"/>
                  <a:pt x="580" y="286"/>
                </a:cubicBezTo>
                <a:cubicBezTo>
                  <a:pt x="580" y="291"/>
                  <a:pt x="580" y="291"/>
                  <a:pt x="580" y="291"/>
                </a:cubicBezTo>
                <a:cubicBezTo>
                  <a:pt x="462" y="291"/>
                  <a:pt x="462" y="291"/>
                  <a:pt x="462" y="291"/>
                </a:cubicBezTo>
                <a:cubicBezTo>
                  <a:pt x="461" y="280"/>
                  <a:pt x="461" y="280"/>
                  <a:pt x="461" y="280"/>
                </a:cubicBezTo>
                <a:cubicBezTo>
                  <a:pt x="461" y="274"/>
                  <a:pt x="461" y="269"/>
                  <a:pt x="461" y="263"/>
                </a:cubicBezTo>
                <a:cubicBezTo>
                  <a:pt x="460" y="253"/>
                  <a:pt x="460" y="253"/>
                  <a:pt x="460" y="253"/>
                </a:cubicBezTo>
                <a:close/>
                <a:moveTo>
                  <a:pt x="221" y="39"/>
                </a:moveTo>
                <a:cubicBezTo>
                  <a:pt x="215" y="45"/>
                  <a:pt x="209" y="52"/>
                  <a:pt x="204" y="59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1" y="78"/>
                  <a:pt x="182" y="95"/>
                  <a:pt x="174" y="11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66" y="123"/>
                  <a:pt x="166" y="123"/>
                  <a:pt x="166" y="123"/>
                </a:cubicBezTo>
                <a:cubicBezTo>
                  <a:pt x="149" y="115"/>
                  <a:pt x="133" y="104"/>
                  <a:pt x="119" y="93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9" y="86"/>
                  <a:pt x="119" y="86"/>
                  <a:pt x="119" y="86"/>
                </a:cubicBezTo>
                <a:cubicBezTo>
                  <a:pt x="148" y="62"/>
                  <a:pt x="181" y="43"/>
                  <a:pt x="217" y="32"/>
                </a:cubicBezTo>
                <a:cubicBezTo>
                  <a:pt x="232" y="28"/>
                  <a:pt x="232" y="28"/>
                  <a:pt x="232" y="28"/>
                </a:cubicBezTo>
                <a:cubicBezTo>
                  <a:pt x="221" y="39"/>
                  <a:pt x="221" y="39"/>
                  <a:pt x="221" y="39"/>
                </a:cubicBezTo>
                <a:close/>
                <a:moveTo>
                  <a:pt x="158" y="286"/>
                </a:moveTo>
                <a:cubicBezTo>
                  <a:pt x="159" y="240"/>
                  <a:pt x="166" y="194"/>
                  <a:pt x="179" y="154"/>
                </a:cubicBezTo>
                <a:cubicBezTo>
                  <a:pt x="180" y="150"/>
                  <a:pt x="180" y="150"/>
                  <a:pt x="180" y="150"/>
                </a:cubicBezTo>
                <a:cubicBezTo>
                  <a:pt x="184" y="151"/>
                  <a:pt x="184" y="151"/>
                  <a:pt x="184" y="151"/>
                </a:cubicBezTo>
                <a:cubicBezTo>
                  <a:pt x="216" y="163"/>
                  <a:pt x="250" y="170"/>
                  <a:pt x="287" y="171"/>
                </a:cubicBezTo>
                <a:cubicBezTo>
                  <a:pt x="290" y="171"/>
                  <a:pt x="290" y="171"/>
                  <a:pt x="290" y="171"/>
                </a:cubicBezTo>
                <a:cubicBezTo>
                  <a:pt x="290" y="291"/>
                  <a:pt x="290" y="291"/>
                  <a:pt x="290" y="291"/>
                </a:cubicBezTo>
                <a:cubicBezTo>
                  <a:pt x="158" y="291"/>
                  <a:pt x="158" y="291"/>
                  <a:pt x="158" y="291"/>
                </a:cubicBezTo>
                <a:lnTo>
                  <a:pt x="158" y="286"/>
                </a:lnTo>
                <a:close/>
                <a:moveTo>
                  <a:pt x="186" y="132"/>
                </a:moveTo>
                <a:cubicBezTo>
                  <a:pt x="188" y="128"/>
                  <a:pt x="188" y="128"/>
                  <a:pt x="188" y="128"/>
                </a:cubicBezTo>
                <a:cubicBezTo>
                  <a:pt x="212" y="67"/>
                  <a:pt x="247" y="29"/>
                  <a:pt x="286" y="21"/>
                </a:cubicBezTo>
                <a:cubicBezTo>
                  <a:pt x="290" y="20"/>
                  <a:pt x="290" y="20"/>
                  <a:pt x="290" y="20"/>
                </a:cubicBezTo>
                <a:cubicBezTo>
                  <a:pt x="290" y="152"/>
                  <a:pt x="290" y="152"/>
                  <a:pt x="290" y="152"/>
                </a:cubicBezTo>
                <a:cubicBezTo>
                  <a:pt x="286" y="152"/>
                  <a:pt x="286" y="152"/>
                  <a:pt x="286" y="152"/>
                </a:cubicBezTo>
                <a:cubicBezTo>
                  <a:pt x="252" y="150"/>
                  <a:pt x="220" y="144"/>
                  <a:pt x="190" y="133"/>
                </a:cubicBezTo>
                <a:lnTo>
                  <a:pt x="186" y="132"/>
                </a:lnTo>
                <a:close/>
                <a:moveTo>
                  <a:pt x="119" y="508"/>
                </a:moveTo>
                <a:cubicBezTo>
                  <a:pt x="133" y="496"/>
                  <a:pt x="149" y="486"/>
                  <a:pt x="165" y="478"/>
                </a:cubicBezTo>
                <a:cubicBezTo>
                  <a:pt x="171" y="480"/>
                  <a:pt x="171" y="480"/>
                  <a:pt x="171" y="480"/>
                </a:cubicBezTo>
                <a:cubicBezTo>
                  <a:pt x="174" y="487"/>
                  <a:pt x="174" y="487"/>
                  <a:pt x="174" y="487"/>
                </a:cubicBezTo>
                <a:cubicBezTo>
                  <a:pt x="182" y="506"/>
                  <a:pt x="192" y="524"/>
                  <a:pt x="203" y="539"/>
                </a:cubicBezTo>
                <a:cubicBezTo>
                  <a:pt x="204" y="541"/>
                  <a:pt x="204" y="541"/>
                  <a:pt x="204" y="541"/>
                </a:cubicBezTo>
                <a:cubicBezTo>
                  <a:pt x="206" y="544"/>
                  <a:pt x="208" y="545"/>
                  <a:pt x="209" y="547"/>
                </a:cubicBezTo>
                <a:cubicBezTo>
                  <a:pt x="212" y="550"/>
                  <a:pt x="214" y="553"/>
                  <a:pt x="216" y="556"/>
                </a:cubicBezTo>
                <a:cubicBezTo>
                  <a:pt x="218" y="558"/>
                  <a:pt x="219" y="560"/>
                  <a:pt x="221" y="561"/>
                </a:cubicBezTo>
                <a:cubicBezTo>
                  <a:pt x="232" y="573"/>
                  <a:pt x="232" y="573"/>
                  <a:pt x="232" y="573"/>
                </a:cubicBezTo>
                <a:cubicBezTo>
                  <a:pt x="217" y="568"/>
                  <a:pt x="217" y="568"/>
                  <a:pt x="217" y="568"/>
                </a:cubicBezTo>
                <a:cubicBezTo>
                  <a:pt x="181" y="557"/>
                  <a:pt x="148" y="539"/>
                  <a:pt x="119" y="514"/>
                </a:cubicBezTo>
                <a:cubicBezTo>
                  <a:pt x="115" y="511"/>
                  <a:pt x="115" y="511"/>
                  <a:pt x="115" y="511"/>
                </a:cubicBezTo>
                <a:cubicBezTo>
                  <a:pt x="119" y="508"/>
                  <a:pt x="119" y="508"/>
                  <a:pt x="119" y="508"/>
                </a:cubicBezTo>
                <a:close/>
                <a:moveTo>
                  <a:pt x="184" y="449"/>
                </a:moveTo>
                <a:cubicBezTo>
                  <a:pt x="180" y="451"/>
                  <a:pt x="180" y="451"/>
                  <a:pt x="180" y="451"/>
                </a:cubicBezTo>
                <a:cubicBezTo>
                  <a:pt x="179" y="446"/>
                  <a:pt x="179" y="446"/>
                  <a:pt x="179" y="446"/>
                </a:cubicBezTo>
                <a:cubicBezTo>
                  <a:pt x="166" y="406"/>
                  <a:pt x="159" y="361"/>
                  <a:pt x="158" y="314"/>
                </a:cubicBezTo>
                <a:cubicBezTo>
                  <a:pt x="158" y="310"/>
                  <a:pt x="158" y="310"/>
                  <a:pt x="158" y="310"/>
                </a:cubicBezTo>
                <a:cubicBezTo>
                  <a:pt x="290" y="310"/>
                  <a:pt x="290" y="310"/>
                  <a:pt x="290" y="310"/>
                </a:cubicBezTo>
                <a:cubicBezTo>
                  <a:pt x="290" y="429"/>
                  <a:pt x="290" y="429"/>
                  <a:pt x="290" y="429"/>
                </a:cubicBezTo>
                <a:cubicBezTo>
                  <a:pt x="286" y="429"/>
                  <a:pt x="286" y="429"/>
                  <a:pt x="286" y="429"/>
                </a:cubicBezTo>
                <a:cubicBezTo>
                  <a:pt x="250" y="431"/>
                  <a:pt x="216" y="437"/>
                  <a:pt x="184" y="449"/>
                </a:cubicBezTo>
                <a:close/>
                <a:moveTo>
                  <a:pt x="290" y="449"/>
                </a:moveTo>
                <a:cubicBezTo>
                  <a:pt x="290" y="580"/>
                  <a:pt x="290" y="580"/>
                  <a:pt x="290" y="580"/>
                </a:cubicBezTo>
                <a:cubicBezTo>
                  <a:pt x="286" y="579"/>
                  <a:pt x="286" y="579"/>
                  <a:pt x="286" y="579"/>
                </a:cubicBezTo>
                <a:cubicBezTo>
                  <a:pt x="247" y="572"/>
                  <a:pt x="212" y="534"/>
                  <a:pt x="188" y="473"/>
                </a:cubicBezTo>
                <a:cubicBezTo>
                  <a:pt x="186" y="469"/>
                  <a:pt x="186" y="469"/>
                  <a:pt x="186" y="469"/>
                </a:cubicBezTo>
                <a:cubicBezTo>
                  <a:pt x="190" y="467"/>
                  <a:pt x="190" y="467"/>
                  <a:pt x="190" y="467"/>
                </a:cubicBezTo>
                <a:cubicBezTo>
                  <a:pt x="220" y="456"/>
                  <a:pt x="252" y="450"/>
                  <a:pt x="286" y="449"/>
                </a:cubicBezTo>
                <a:cubicBezTo>
                  <a:pt x="290" y="449"/>
                  <a:pt x="290" y="449"/>
                  <a:pt x="290" y="449"/>
                </a:cubicBezTo>
                <a:close/>
                <a:moveTo>
                  <a:pt x="144" y="225"/>
                </a:moveTo>
                <a:cubicBezTo>
                  <a:pt x="142" y="234"/>
                  <a:pt x="141" y="243"/>
                  <a:pt x="141" y="254"/>
                </a:cubicBezTo>
                <a:cubicBezTo>
                  <a:pt x="140" y="263"/>
                  <a:pt x="140" y="263"/>
                  <a:pt x="140" y="263"/>
                </a:cubicBezTo>
                <a:cubicBezTo>
                  <a:pt x="139" y="269"/>
                  <a:pt x="139" y="275"/>
                  <a:pt x="139" y="282"/>
                </a:cubicBezTo>
                <a:cubicBezTo>
                  <a:pt x="139" y="291"/>
                  <a:pt x="139" y="291"/>
                  <a:pt x="139" y="291"/>
                </a:cubicBezTo>
                <a:cubicBezTo>
                  <a:pt x="20" y="291"/>
                  <a:pt x="20" y="291"/>
                  <a:pt x="20" y="291"/>
                </a:cubicBezTo>
                <a:cubicBezTo>
                  <a:pt x="20" y="286"/>
                  <a:pt x="20" y="286"/>
                  <a:pt x="20" y="286"/>
                </a:cubicBezTo>
                <a:cubicBezTo>
                  <a:pt x="24" y="218"/>
                  <a:pt x="51" y="154"/>
                  <a:pt x="99" y="105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21" y="119"/>
                  <a:pt x="140" y="131"/>
                  <a:pt x="160" y="141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9"/>
                  <a:pt x="161" y="149"/>
                  <a:pt x="161" y="149"/>
                </a:cubicBezTo>
                <a:cubicBezTo>
                  <a:pt x="154" y="171"/>
                  <a:pt x="149" y="193"/>
                  <a:pt x="145" y="216"/>
                </a:cubicBezTo>
                <a:lnTo>
                  <a:pt x="144" y="225"/>
                </a:lnTo>
                <a:close/>
                <a:moveTo>
                  <a:pt x="144" y="375"/>
                </a:moveTo>
                <a:cubicBezTo>
                  <a:pt x="145" y="384"/>
                  <a:pt x="145" y="384"/>
                  <a:pt x="145" y="384"/>
                </a:cubicBezTo>
                <a:cubicBezTo>
                  <a:pt x="149" y="408"/>
                  <a:pt x="154" y="430"/>
                  <a:pt x="161" y="451"/>
                </a:cubicBezTo>
                <a:cubicBezTo>
                  <a:pt x="163" y="458"/>
                  <a:pt x="163" y="458"/>
                  <a:pt x="163" y="458"/>
                </a:cubicBezTo>
                <a:cubicBezTo>
                  <a:pt x="160" y="459"/>
                  <a:pt x="160" y="459"/>
                  <a:pt x="160" y="459"/>
                </a:cubicBezTo>
                <a:cubicBezTo>
                  <a:pt x="139" y="469"/>
                  <a:pt x="121" y="481"/>
                  <a:pt x="104" y="495"/>
                </a:cubicBezTo>
                <a:cubicBezTo>
                  <a:pt x="101" y="498"/>
                  <a:pt x="101" y="498"/>
                  <a:pt x="101" y="498"/>
                </a:cubicBezTo>
                <a:cubicBezTo>
                  <a:pt x="99" y="495"/>
                  <a:pt x="99" y="495"/>
                  <a:pt x="99" y="495"/>
                </a:cubicBezTo>
                <a:cubicBezTo>
                  <a:pt x="52" y="446"/>
                  <a:pt x="24" y="382"/>
                  <a:pt x="20" y="314"/>
                </a:cubicBezTo>
                <a:cubicBezTo>
                  <a:pt x="20" y="310"/>
                  <a:pt x="20" y="310"/>
                  <a:pt x="20" y="310"/>
                </a:cubicBezTo>
                <a:cubicBezTo>
                  <a:pt x="139" y="310"/>
                  <a:pt x="139" y="310"/>
                  <a:pt x="139" y="310"/>
                </a:cubicBezTo>
                <a:cubicBezTo>
                  <a:pt x="139" y="319"/>
                  <a:pt x="139" y="319"/>
                  <a:pt x="139" y="319"/>
                </a:cubicBezTo>
                <a:cubicBezTo>
                  <a:pt x="139" y="325"/>
                  <a:pt x="139" y="331"/>
                  <a:pt x="140" y="338"/>
                </a:cubicBezTo>
                <a:cubicBezTo>
                  <a:pt x="141" y="348"/>
                  <a:pt x="141" y="348"/>
                  <a:pt x="141" y="348"/>
                </a:cubicBezTo>
                <a:cubicBezTo>
                  <a:pt x="141" y="357"/>
                  <a:pt x="142" y="367"/>
                  <a:pt x="144" y="37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0" y="6832041"/>
            <a:ext cx="3876675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8315325" y="6832041"/>
            <a:ext cx="3876675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3960338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5412001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6863664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98380" y="359298"/>
            <a:ext cx="2103385" cy="331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0" y="0"/>
            <a:ext cx="12192000" cy="2421653"/>
          </a:xfrm>
          <a:prstGeom prst="rect">
            <a:avLst/>
          </a:prstGeom>
          <a:gradFill>
            <a:gsLst>
              <a:gs pos="36000">
                <a:srgbClr val="E5E5FF">
                  <a:alpha val="24000"/>
                </a:srgbClr>
              </a:gs>
              <a:gs pos="100000">
                <a:srgbClr val="ECECEE">
                  <a:alpha val="34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2026" y="263529"/>
            <a:ext cx="10363200" cy="599331"/>
          </a:xfrm>
          <a:prstGeom prst="rect">
            <a:avLst/>
          </a:prstGeom>
        </p:spPr>
        <p:txBody>
          <a:bodyPr tIns="72000">
            <a:normAutofit/>
          </a:bodyPr>
          <a:lstStyle>
            <a:lvl1pPr>
              <a:defRPr sz="3000" b="1">
                <a:latin typeface="HarmonyOS Sans SC" panose="00000500000000000000" charset="-122"/>
                <a:ea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39780" y="311823"/>
            <a:ext cx="306067" cy="408433"/>
            <a:chOff x="339780" y="427935"/>
            <a:chExt cx="306067" cy="408433"/>
          </a:xfrm>
        </p:grpSpPr>
        <p:sp>
          <p:nvSpPr>
            <p:cNvPr id="5" name="矩形 4"/>
            <p:cNvSpPr/>
            <p:nvPr userDrawn="1"/>
          </p:nvSpPr>
          <p:spPr>
            <a:xfrm>
              <a:off x="534722" y="427935"/>
              <a:ext cx="111125" cy="408433"/>
            </a:xfrm>
            <a:prstGeom prst="rect">
              <a:avLst/>
            </a:prstGeom>
            <a:gradFill>
              <a:gsLst>
                <a:gs pos="0">
                  <a:srgbClr val="FF0000">
                    <a:alpha val="0"/>
                  </a:srgbClr>
                </a:gs>
                <a:gs pos="100000">
                  <a:srgbClr val="FF0000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339780" y="558904"/>
              <a:ext cx="111125" cy="277464"/>
            </a:xfrm>
            <a:prstGeom prst="rect">
              <a:avLst/>
            </a:prstGeom>
            <a:gradFill>
              <a:gsLst>
                <a:gs pos="0">
                  <a:srgbClr val="265EFA">
                    <a:alpha val="0"/>
                  </a:srgbClr>
                </a:gs>
                <a:gs pos="100000">
                  <a:srgbClr val="0101D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6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89945" y="8248"/>
            <a:ext cx="4402055" cy="2418929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10461215" y="6447305"/>
            <a:ext cx="1540550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www.dameng.com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339780" y="6447305"/>
            <a:ext cx="2185214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打造中国的世界级数据库品牌</a:t>
            </a:r>
          </a:p>
        </p:txBody>
      </p:sp>
      <p:sp>
        <p:nvSpPr>
          <p:cNvPr id="16" name="Freeform 5"/>
          <p:cNvSpPr>
            <a:spLocks noEditPoints="1"/>
          </p:cNvSpPr>
          <p:nvPr userDrawn="1"/>
        </p:nvSpPr>
        <p:spPr bwMode="auto">
          <a:xfrm>
            <a:off x="10239375" y="6509152"/>
            <a:ext cx="222250" cy="222250"/>
          </a:xfrm>
          <a:custGeom>
            <a:avLst/>
            <a:gdLst>
              <a:gd name="T0" fmla="*/ 300 w 600"/>
              <a:gd name="T1" fmla="*/ 600 h 600"/>
              <a:gd name="T2" fmla="*/ 379 w 600"/>
              <a:gd name="T3" fmla="*/ 561 h 600"/>
              <a:gd name="T4" fmla="*/ 427 w 600"/>
              <a:gd name="T5" fmla="*/ 485 h 600"/>
              <a:gd name="T6" fmla="*/ 481 w 600"/>
              <a:gd name="T7" fmla="*/ 508 h 600"/>
              <a:gd name="T8" fmla="*/ 383 w 600"/>
              <a:gd name="T9" fmla="*/ 568 h 600"/>
              <a:gd name="T10" fmla="*/ 442 w 600"/>
              <a:gd name="T11" fmla="*/ 314 h 600"/>
              <a:gd name="T12" fmla="*/ 416 w 600"/>
              <a:gd name="T13" fmla="*/ 449 h 600"/>
              <a:gd name="T14" fmla="*/ 310 w 600"/>
              <a:gd name="T15" fmla="*/ 310 h 600"/>
              <a:gd name="T16" fmla="*/ 414 w 600"/>
              <a:gd name="T17" fmla="*/ 469 h 600"/>
              <a:gd name="T18" fmla="*/ 310 w 600"/>
              <a:gd name="T19" fmla="*/ 580 h 600"/>
              <a:gd name="T20" fmla="*/ 410 w 600"/>
              <a:gd name="T21" fmla="*/ 467 h 600"/>
              <a:gd name="T22" fmla="*/ 435 w 600"/>
              <a:gd name="T23" fmla="*/ 123 h 600"/>
              <a:gd name="T24" fmla="*/ 427 w 600"/>
              <a:gd name="T25" fmla="*/ 114 h 600"/>
              <a:gd name="T26" fmla="*/ 379 w 600"/>
              <a:gd name="T27" fmla="*/ 39 h 600"/>
              <a:gd name="T28" fmla="*/ 481 w 600"/>
              <a:gd name="T29" fmla="*/ 86 h 600"/>
              <a:gd name="T30" fmla="*/ 416 w 600"/>
              <a:gd name="T31" fmla="*/ 152 h 600"/>
              <a:gd name="T32" fmla="*/ 442 w 600"/>
              <a:gd name="T33" fmla="*/ 286 h 600"/>
              <a:gd name="T34" fmla="*/ 310 w 600"/>
              <a:gd name="T35" fmla="*/ 171 h 600"/>
              <a:gd name="T36" fmla="*/ 310 w 600"/>
              <a:gd name="T37" fmla="*/ 152 h 600"/>
              <a:gd name="T38" fmla="*/ 412 w 600"/>
              <a:gd name="T39" fmla="*/ 128 h 600"/>
              <a:gd name="T40" fmla="*/ 314 w 600"/>
              <a:gd name="T41" fmla="*/ 152 h 600"/>
              <a:gd name="T42" fmla="*/ 496 w 600"/>
              <a:gd name="T43" fmla="*/ 495 h 600"/>
              <a:gd name="T44" fmla="*/ 440 w 600"/>
              <a:gd name="T45" fmla="*/ 451 h 600"/>
              <a:gd name="T46" fmla="*/ 460 w 600"/>
              <a:gd name="T47" fmla="*/ 348 h 600"/>
              <a:gd name="T48" fmla="*/ 462 w 600"/>
              <a:gd name="T49" fmla="*/ 310 h 600"/>
              <a:gd name="T50" fmla="*/ 502 w 600"/>
              <a:gd name="T51" fmla="*/ 495 h 600"/>
              <a:gd name="T52" fmla="*/ 457 w 600"/>
              <a:gd name="T53" fmla="*/ 225 h 600"/>
              <a:gd name="T54" fmla="*/ 437 w 600"/>
              <a:gd name="T55" fmla="*/ 143 h 600"/>
              <a:gd name="T56" fmla="*/ 499 w 600"/>
              <a:gd name="T57" fmla="*/ 103 h 600"/>
              <a:gd name="T58" fmla="*/ 580 w 600"/>
              <a:gd name="T59" fmla="*/ 291 h 600"/>
              <a:gd name="T60" fmla="*/ 461 w 600"/>
              <a:gd name="T61" fmla="*/ 263 h 600"/>
              <a:gd name="T62" fmla="*/ 204 w 600"/>
              <a:gd name="T63" fmla="*/ 59 h 600"/>
              <a:gd name="T64" fmla="*/ 170 w 600"/>
              <a:gd name="T65" fmla="*/ 125 h 600"/>
              <a:gd name="T66" fmla="*/ 115 w 600"/>
              <a:gd name="T67" fmla="*/ 90 h 600"/>
              <a:gd name="T68" fmla="*/ 232 w 600"/>
              <a:gd name="T69" fmla="*/ 28 h 600"/>
              <a:gd name="T70" fmla="*/ 179 w 600"/>
              <a:gd name="T71" fmla="*/ 154 h 600"/>
              <a:gd name="T72" fmla="*/ 287 w 600"/>
              <a:gd name="T73" fmla="*/ 171 h 600"/>
              <a:gd name="T74" fmla="*/ 158 w 600"/>
              <a:gd name="T75" fmla="*/ 291 h 600"/>
              <a:gd name="T76" fmla="*/ 188 w 600"/>
              <a:gd name="T77" fmla="*/ 128 h 600"/>
              <a:gd name="T78" fmla="*/ 290 w 600"/>
              <a:gd name="T79" fmla="*/ 152 h 600"/>
              <a:gd name="T80" fmla="*/ 186 w 600"/>
              <a:gd name="T81" fmla="*/ 132 h 600"/>
              <a:gd name="T82" fmla="*/ 171 w 600"/>
              <a:gd name="T83" fmla="*/ 480 h 600"/>
              <a:gd name="T84" fmla="*/ 204 w 600"/>
              <a:gd name="T85" fmla="*/ 541 h 600"/>
              <a:gd name="T86" fmla="*/ 221 w 600"/>
              <a:gd name="T87" fmla="*/ 561 h 600"/>
              <a:gd name="T88" fmla="*/ 119 w 600"/>
              <a:gd name="T89" fmla="*/ 514 h 600"/>
              <a:gd name="T90" fmla="*/ 184 w 600"/>
              <a:gd name="T91" fmla="*/ 449 h 600"/>
              <a:gd name="T92" fmla="*/ 158 w 600"/>
              <a:gd name="T93" fmla="*/ 314 h 600"/>
              <a:gd name="T94" fmla="*/ 290 w 600"/>
              <a:gd name="T95" fmla="*/ 429 h 600"/>
              <a:gd name="T96" fmla="*/ 290 w 600"/>
              <a:gd name="T97" fmla="*/ 449 h 600"/>
              <a:gd name="T98" fmla="*/ 188 w 600"/>
              <a:gd name="T99" fmla="*/ 473 h 600"/>
              <a:gd name="T100" fmla="*/ 286 w 600"/>
              <a:gd name="T101" fmla="*/ 449 h 600"/>
              <a:gd name="T102" fmla="*/ 141 w 600"/>
              <a:gd name="T103" fmla="*/ 254 h 600"/>
              <a:gd name="T104" fmla="*/ 139 w 600"/>
              <a:gd name="T105" fmla="*/ 291 h 600"/>
              <a:gd name="T106" fmla="*/ 99 w 600"/>
              <a:gd name="T107" fmla="*/ 105 h 600"/>
              <a:gd name="T108" fmla="*/ 160 w 600"/>
              <a:gd name="T109" fmla="*/ 141 h 600"/>
              <a:gd name="T110" fmla="*/ 145 w 600"/>
              <a:gd name="T111" fmla="*/ 216 h 600"/>
              <a:gd name="T112" fmla="*/ 145 w 600"/>
              <a:gd name="T113" fmla="*/ 384 h 600"/>
              <a:gd name="T114" fmla="*/ 160 w 600"/>
              <a:gd name="T115" fmla="*/ 459 h 600"/>
              <a:gd name="T116" fmla="*/ 99 w 600"/>
              <a:gd name="T117" fmla="*/ 495 h 600"/>
              <a:gd name="T118" fmla="*/ 139 w 600"/>
              <a:gd name="T119" fmla="*/ 310 h 600"/>
              <a:gd name="T120" fmla="*/ 141 w 600"/>
              <a:gd name="T121" fmla="*/ 348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00" h="600">
                <a:moveTo>
                  <a:pt x="300" y="0"/>
                </a:moveTo>
                <a:cubicBezTo>
                  <a:pt x="135" y="0"/>
                  <a:pt x="0" y="135"/>
                  <a:pt x="0" y="300"/>
                </a:cubicBezTo>
                <a:cubicBezTo>
                  <a:pt x="0" y="466"/>
                  <a:pt x="135" y="600"/>
                  <a:pt x="300" y="600"/>
                </a:cubicBezTo>
                <a:cubicBezTo>
                  <a:pt x="466" y="600"/>
                  <a:pt x="600" y="466"/>
                  <a:pt x="600" y="300"/>
                </a:cubicBezTo>
                <a:cubicBezTo>
                  <a:pt x="600" y="135"/>
                  <a:pt x="466" y="0"/>
                  <a:pt x="300" y="0"/>
                </a:cubicBezTo>
                <a:close/>
                <a:moveTo>
                  <a:pt x="379" y="561"/>
                </a:moveTo>
                <a:cubicBezTo>
                  <a:pt x="385" y="556"/>
                  <a:pt x="390" y="549"/>
                  <a:pt x="396" y="541"/>
                </a:cubicBezTo>
                <a:cubicBezTo>
                  <a:pt x="398" y="539"/>
                  <a:pt x="398" y="539"/>
                  <a:pt x="398" y="539"/>
                </a:cubicBezTo>
                <a:cubicBezTo>
                  <a:pt x="409" y="524"/>
                  <a:pt x="418" y="506"/>
                  <a:pt x="427" y="485"/>
                </a:cubicBezTo>
                <a:cubicBezTo>
                  <a:pt x="431" y="476"/>
                  <a:pt x="431" y="476"/>
                  <a:pt x="431" y="476"/>
                </a:cubicBezTo>
                <a:cubicBezTo>
                  <a:pt x="435" y="478"/>
                  <a:pt x="435" y="478"/>
                  <a:pt x="435" y="478"/>
                </a:cubicBezTo>
                <a:cubicBezTo>
                  <a:pt x="452" y="486"/>
                  <a:pt x="467" y="496"/>
                  <a:pt x="481" y="508"/>
                </a:cubicBezTo>
                <a:cubicBezTo>
                  <a:pt x="485" y="511"/>
                  <a:pt x="485" y="511"/>
                  <a:pt x="485" y="511"/>
                </a:cubicBezTo>
                <a:cubicBezTo>
                  <a:pt x="481" y="514"/>
                  <a:pt x="481" y="514"/>
                  <a:pt x="481" y="514"/>
                </a:cubicBezTo>
                <a:cubicBezTo>
                  <a:pt x="453" y="539"/>
                  <a:pt x="419" y="557"/>
                  <a:pt x="383" y="568"/>
                </a:cubicBezTo>
                <a:cubicBezTo>
                  <a:pt x="368" y="573"/>
                  <a:pt x="368" y="573"/>
                  <a:pt x="368" y="573"/>
                </a:cubicBezTo>
                <a:cubicBezTo>
                  <a:pt x="379" y="561"/>
                  <a:pt x="379" y="561"/>
                  <a:pt x="379" y="561"/>
                </a:cubicBezTo>
                <a:close/>
                <a:moveTo>
                  <a:pt x="442" y="314"/>
                </a:moveTo>
                <a:cubicBezTo>
                  <a:pt x="441" y="361"/>
                  <a:pt x="434" y="406"/>
                  <a:pt x="421" y="446"/>
                </a:cubicBezTo>
                <a:cubicBezTo>
                  <a:pt x="420" y="451"/>
                  <a:pt x="420" y="451"/>
                  <a:pt x="420" y="451"/>
                </a:cubicBezTo>
                <a:cubicBezTo>
                  <a:pt x="416" y="449"/>
                  <a:pt x="416" y="449"/>
                  <a:pt x="416" y="449"/>
                </a:cubicBezTo>
                <a:cubicBezTo>
                  <a:pt x="385" y="437"/>
                  <a:pt x="350" y="431"/>
                  <a:pt x="314" y="429"/>
                </a:cubicBezTo>
                <a:cubicBezTo>
                  <a:pt x="310" y="429"/>
                  <a:pt x="310" y="429"/>
                  <a:pt x="310" y="429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442" y="310"/>
                  <a:pt x="442" y="310"/>
                  <a:pt x="442" y="310"/>
                </a:cubicBezTo>
                <a:lnTo>
                  <a:pt x="442" y="314"/>
                </a:lnTo>
                <a:close/>
                <a:moveTo>
                  <a:pt x="414" y="469"/>
                </a:moveTo>
                <a:cubicBezTo>
                  <a:pt x="412" y="473"/>
                  <a:pt x="412" y="473"/>
                  <a:pt x="412" y="473"/>
                </a:cubicBezTo>
                <a:cubicBezTo>
                  <a:pt x="388" y="534"/>
                  <a:pt x="354" y="572"/>
                  <a:pt x="315" y="579"/>
                </a:cubicBezTo>
                <a:cubicBezTo>
                  <a:pt x="310" y="580"/>
                  <a:pt x="310" y="580"/>
                  <a:pt x="310" y="580"/>
                </a:cubicBezTo>
                <a:cubicBezTo>
                  <a:pt x="310" y="449"/>
                  <a:pt x="310" y="449"/>
                  <a:pt x="310" y="449"/>
                </a:cubicBezTo>
                <a:cubicBezTo>
                  <a:pt x="314" y="449"/>
                  <a:pt x="314" y="449"/>
                  <a:pt x="314" y="449"/>
                </a:cubicBezTo>
                <a:cubicBezTo>
                  <a:pt x="348" y="450"/>
                  <a:pt x="381" y="456"/>
                  <a:pt x="410" y="467"/>
                </a:cubicBezTo>
                <a:lnTo>
                  <a:pt x="414" y="469"/>
                </a:lnTo>
                <a:close/>
                <a:moveTo>
                  <a:pt x="481" y="93"/>
                </a:moveTo>
                <a:cubicBezTo>
                  <a:pt x="467" y="104"/>
                  <a:pt x="451" y="114"/>
                  <a:pt x="435" y="123"/>
                </a:cubicBezTo>
                <a:cubicBezTo>
                  <a:pt x="430" y="123"/>
                  <a:pt x="430" y="123"/>
                  <a:pt x="430" y="123"/>
                </a:cubicBezTo>
                <a:cubicBezTo>
                  <a:pt x="429" y="119"/>
                  <a:pt x="429" y="119"/>
                  <a:pt x="429" y="119"/>
                </a:cubicBezTo>
                <a:cubicBezTo>
                  <a:pt x="427" y="114"/>
                  <a:pt x="427" y="114"/>
                  <a:pt x="427" y="114"/>
                </a:cubicBezTo>
                <a:cubicBezTo>
                  <a:pt x="419" y="95"/>
                  <a:pt x="409" y="78"/>
                  <a:pt x="397" y="61"/>
                </a:cubicBezTo>
                <a:cubicBezTo>
                  <a:pt x="396" y="59"/>
                  <a:pt x="396" y="59"/>
                  <a:pt x="396" y="59"/>
                </a:cubicBezTo>
                <a:cubicBezTo>
                  <a:pt x="391" y="52"/>
                  <a:pt x="385" y="45"/>
                  <a:pt x="379" y="39"/>
                </a:cubicBezTo>
                <a:cubicBezTo>
                  <a:pt x="368" y="28"/>
                  <a:pt x="368" y="28"/>
                  <a:pt x="368" y="28"/>
                </a:cubicBezTo>
                <a:cubicBezTo>
                  <a:pt x="383" y="32"/>
                  <a:pt x="383" y="32"/>
                  <a:pt x="383" y="32"/>
                </a:cubicBezTo>
                <a:cubicBezTo>
                  <a:pt x="419" y="43"/>
                  <a:pt x="453" y="62"/>
                  <a:pt x="481" y="86"/>
                </a:cubicBezTo>
                <a:cubicBezTo>
                  <a:pt x="485" y="89"/>
                  <a:pt x="485" y="89"/>
                  <a:pt x="485" y="89"/>
                </a:cubicBezTo>
                <a:cubicBezTo>
                  <a:pt x="481" y="93"/>
                  <a:pt x="481" y="93"/>
                  <a:pt x="481" y="93"/>
                </a:cubicBezTo>
                <a:close/>
                <a:moveTo>
                  <a:pt x="416" y="152"/>
                </a:moveTo>
                <a:cubicBezTo>
                  <a:pt x="420" y="150"/>
                  <a:pt x="420" y="150"/>
                  <a:pt x="420" y="150"/>
                </a:cubicBezTo>
                <a:cubicBezTo>
                  <a:pt x="421" y="154"/>
                  <a:pt x="421" y="154"/>
                  <a:pt x="421" y="154"/>
                </a:cubicBezTo>
                <a:cubicBezTo>
                  <a:pt x="434" y="194"/>
                  <a:pt x="441" y="240"/>
                  <a:pt x="442" y="286"/>
                </a:cubicBezTo>
                <a:cubicBezTo>
                  <a:pt x="442" y="291"/>
                  <a:pt x="442" y="291"/>
                  <a:pt x="442" y="291"/>
                </a:cubicBezTo>
                <a:cubicBezTo>
                  <a:pt x="310" y="291"/>
                  <a:pt x="310" y="291"/>
                  <a:pt x="310" y="291"/>
                </a:cubicBezTo>
                <a:cubicBezTo>
                  <a:pt x="310" y="171"/>
                  <a:pt x="310" y="171"/>
                  <a:pt x="310" y="171"/>
                </a:cubicBezTo>
                <a:cubicBezTo>
                  <a:pt x="314" y="171"/>
                  <a:pt x="314" y="171"/>
                  <a:pt x="314" y="171"/>
                </a:cubicBezTo>
                <a:cubicBezTo>
                  <a:pt x="350" y="170"/>
                  <a:pt x="385" y="163"/>
                  <a:pt x="416" y="152"/>
                </a:cubicBezTo>
                <a:close/>
                <a:moveTo>
                  <a:pt x="310" y="152"/>
                </a:moveTo>
                <a:cubicBezTo>
                  <a:pt x="310" y="20"/>
                  <a:pt x="310" y="20"/>
                  <a:pt x="310" y="20"/>
                </a:cubicBezTo>
                <a:cubicBezTo>
                  <a:pt x="315" y="21"/>
                  <a:pt x="315" y="21"/>
                  <a:pt x="315" y="21"/>
                </a:cubicBezTo>
                <a:cubicBezTo>
                  <a:pt x="354" y="29"/>
                  <a:pt x="388" y="67"/>
                  <a:pt x="412" y="128"/>
                </a:cubicBezTo>
                <a:cubicBezTo>
                  <a:pt x="414" y="132"/>
                  <a:pt x="414" y="132"/>
                  <a:pt x="414" y="132"/>
                </a:cubicBezTo>
                <a:cubicBezTo>
                  <a:pt x="410" y="133"/>
                  <a:pt x="410" y="133"/>
                  <a:pt x="410" y="133"/>
                </a:cubicBezTo>
                <a:cubicBezTo>
                  <a:pt x="381" y="144"/>
                  <a:pt x="348" y="150"/>
                  <a:pt x="314" y="152"/>
                </a:cubicBezTo>
                <a:lnTo>
                  <a:pt x="310" y="152"/>
                </a:lnTo>
                <a:close/>
                <a:moveTo>
                  <a:pt x="499" y="498"/>
                </a:moveTo>
                <a:cubicBezTo>
                  <a:pt x="496" y="495"/>
                  <a:pt x="496" y="495"/>
                  <a:pt x="496" y="495"/>
                </a:cubicBezTo>
                <a:cubicBezTo>
                  <a:pt x="479" y="481"/>
                  <a:pt x="461" y="469"/>
                  <a:pt x="441" y="459"/>
                </a:cubicBezTo>
                <a:cubicBezTo>
                  <a:pt x="437" y="458"/>
                  <a:pt x="437" y="458"/>
                  <a:pt x="437" y="458"/>
                </a:cubicBezTo>
                <a:cubicBezTo>
                  <a:pt x="440" y="451"/>
                  <a:pt x="440" y="451"/>
                  <a:pt x="440" y="451"/>
                </a:cubicBezTo>
                <a:cubicBezTo>
                  <a:pt x="446" y="430"/>
                  <a:pt x="452" y="407"/>
                  <a:pt x="455" y="384"/>
                </a:cubicBezTo>
                <a:cubicBezTo>
                  <a:pt x="457" y="375"/>
                  <a:pt x="457" y="375"/>
                  <a:pt x="457" y="375"/>
                </a:cubicBezTo>
                <a:cubicBezTo>
                  <a:pt x="458" y="366"/>
                  <a:pt x="459" y="357"/>
                  <a:pt x="460" y="348"/>
                </a:cubicBezTo>
                <a:cubicBezTo>
                  <a:pt x="461" y="338"/>
                  <a:pt x="461" y="338"/>
                  <a:pt x="461" y="338"/>
                </a:cubicBezTo>
                <a:cubicBezTo>
                  <a:pt x="461" y="332"/>
                  <a:pt x="461" y="326"/>
                  <a:pt x="461" y="320"/>
                </a:cubicBezTo>
                <a:cubicBezTo>
                  <a:pt x="462" y="310"/>
                  <a:pt x="462" y="310"/>
                  <a:pt x="462" y="310"/>
                </a:cubicBezTo>
                <a:cubicBezTo>
                  <a:pt x="580" y="310"/>
                  <a:pt x="580" y="310"/>
                  <a:pt x="580" y="310"/>
                </a:cubicBezTo>
                <a:cubicBezTo>
                  <a:pt x="580" y="314"/>
                  <a:pt x="580" y="314"/>
                  <a:pt x="580" y="314"/>
                </a:cubicBezTo>
                <a:cubicBezTo>
                  <a:pt x="577" y="382"/>
                  <a:pt x="549" y="446"/>
                  <a:pt x="502" y="495"/>
                </a:cubicBezTo>
                <a:cubicBezTo>
                  <a:pt x="499" y="498"/>
                  <a:pt x="499" y="498"/>
                  <a:pt x="499" y="498"/>
                </a:cubicBezTo>
                <a:close/>
                <a:moveTo>
                  <a:pt x="460" y="253"/>
                </a:moveTo>
                <a:cubicBezTo>
                  <a:pt x="459" y="244"/>
                  <a:pt x="458" y="234"/>
                  <a:pt x="457" y="225"/>
                </a:cubicBezTo>
                <a:cubicBezTo>
                  <a:pt x="455" y="216"/>
                  <a:pt x="455" y="216"/>
                  <a:pt x="455" y="216"/>
                </a:cubicBezTo>
                <a:cubicBezTo>
                  <a:pt x="452" y="193"/>
                  <a:pt x="447" y="171"/>
                  <a:pt x="440" y="149"/>
                </a:cubicBezTo>
                <a:cubicBezTo>
                  <a:pt x="437" y="143"/>
                  <a:pt x="437" y="143"/>
                  <a:pt x="437" y="143"/>
                </a:cubicBezTo>
                <a:cubicBezTo>
                  <a:pt x="441" y="141"/>
                  <a:pt x="441" y="141"/>
                  <a:pt x="441" y="141"/>
                </a:cubicBezTo>
                <a:cubicBezTo>
                  <a:pt x="461" y="132"/>
                  <a:pt x="479" y="120"/>
                  <a:pt x="496" y="105"/>
                </a:cubicBezTo>
                <a:cubicBezTo>
                  <a:pt x="499" y="103"/>
                  <a:pt x="499" y="103"/>
                  <a:pt x="499" y="103"/>
                </a:cubicBezTo>
                <a:cubicBezTo>
                  <a:pt x="502" y="105"/>
                  <a:pt x="502" y="105"/>
                  <a:pt x="502" y="105"/>
                </a:cubicBezTo>
                <a:cubicBezTo>
                  <a:pt x="549" y="154"/>
                  <a:pt x="577" y="218"/>
                  <a:pt x="580" y="286"/>
                </a:cubicBezTo>
                <a:cubicBezTo>
                  <a:pt x="580" y="291"/>
                  <a:pt x="580" y="291"/>
                  <a:pt x="580" y="291"/>
                </a:cubicBezTo>
                <a:cubicBezTo>
                  <a:pt x="462" y="291"/>
                  <a:pt x="462" y="291"/>
                  <a:pt x="462" y="291"/>
                </a:cubicBezTo>
                <a:cubicBezTo>
                  <a:pt x="461" y="280"/>
                  <a:pt x="461" y="280"/>
                  <a:pt x="461" y="280"/>
                </a:cubicBezTo>
                <a:cubicBezTo>
                  <a:pt x="461" y="274"/>
                  <a:pt x="461" y="269"/>
                  <a:pt x="461" y="263"/>
                </a:cubicBezTo>
                <a:cubicBezTo>
                  <a:pt x="460" y="253"/>
                  <a:pt x="460" y="253"/>
                  <a:pt x="460" y="253"/>
                </a:cubicBezTo>
                <a:close/>
                <a:moveTo>
                  <a:pt x="221" y="39"/>
                </a:moveTo>
                <a:cubicBezTo>
                  <a:pt x="215" y="45"/>
                  <a:pt x="209" y="52"/>
                  <a:pt x="204" y="59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1" y="78"/>
                  <a:pt x="182" y="95"/>
                  <a:pt x="174" y="11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66" y="123"/>
                  <a:pt x="166" y="123"/>
                  <a:pt x="166" y="123"/>
                </a:cubicBezTo>
                <a:cubicBezTo>
                  <a:pt x="149" y="115"/>
                  <a:pt x="133" y="104"/>
                  <a:pt x="119" y="93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9" y="86"/>
                  <a:pt x="119" y="86"/>
                  <a:pt x="119" y="86"/>
                </a:cubicBezTo>
                <a:cubicBezTo>
                  <a:pt x="148" y="62"/>
                  <a:pt x="181" y="43"/>
                  <a:pt x="217" y="32"/>
                </a:cubicBezTo>
                <a:cubicBezTo>
                  <a:pt x="232" y="28"/>
                  <a:pt x="232" y="28"/>
                  <a:pt x="232" y="28"/>
                </a:cubicBezTo>
                <a:cubicBezTo>
                  <a:pt x="221" y="39"/>
                  <a:pt x="221" y="39"/>
                  <a:pt x="221" y="39"/>
                </a:cubicBezTo>
                <a:close/>
                <a:moveTo>
                  <a:pt x="158" y="286"/>
                </a:moveTo>
                <a:cubicBezTo>
                  <a:pt x="159" y="240"/>
                  <a:pt x="166" y="194"/>
                  <a:pt x="179" y="154"/>
                </a:cubicBezTo>
                <a:cubicBezTo>
                  <a:pt x="180" y="150"/>
                  <a:pt x="180" y="150"/>
                  <a:pt x="180" y="150"/>
                </a:cubicBezTo>
                <a:cubicBezTo>
                  <a:pt x="184" y="151"/>
                  <a:pt x="184" y="151"/>
                  <a:pt x="184" y="151"/>
                </a:cubicBezTo>
                <a:cubicBezTo>
                  <a:pt x="216" y="163"/>
                  <a:pt x="250" y="170"/>
                  <a:pt x="287" y="171"/>
                </a:cubicBezTo>
                <a:cubicBezTo>
                  <a:pt x="290" y="171"/>
                  <a:pt x="290" y="171"/>
                  <a:pt x="290" y="171"/>
                </a:cubicBezTo>
                <a:cubicBezTo>
                  <a:pt x="290" y="291"/>
                  <a:pt x="290" y="291"/>
                  <a:pt x="290" y="291"/>
                </a:cubicBezTo>
                <a:cubicBezTo>
                  <a:pt x="158" y="291"/>
                  <a:pt x="158" y="291"/>
                  <a:pt x="158" y="291"/>
                </a:cubicBezTo>
                <a:lnTo>
                  <a:pt x="158" y="286"/>
                </a:lnTo>
                <a:close/>
                <a:moveTo>
                  <a:pt x="186" y="132"/>
                </a:moveTo>
                <a:cubicBezTo>
                  <a:pt x="188" y="128"/>
                  <a:pt x="188" y="128"/>
                  <a:pt x="188" y="128"/>
                </a:cubicBezTo>
                <a:cubicBezTo>
                  <a:pt x="212" y="67"/>
                  <a:pt x="247" y="29"/>
                  <a:pt x="286" y="21"/>
                </a:cubicBezTo>
                <a:cubicBezTo>
                  <a:pt x="290" y="20"/>
                  <a:pt x="290" y="20"/>
                  <a:pt x="290" y="20"/>
                </a:cubicBezTo>
                <a:cubicBezTo>
                  <a:pt x="290" y="152"/>
                  <a:pt x="290" y="152"/>
                  <a:pt x="290" y="152"/>
                </a:cubicBezTo>
                <a:cubicBezTo>
                  <a:pt x="286" y="152"/>
                  <a:pt x="286" y="152"/>
                  <a:pt x="286" y="152"/>
                </a:cubicBezTo>
                <a:cubicBezTo>
                  <a:pt x="252" y="150"/>
                  <a:pt x="220" y="144"/>
                  <a:pt x="190" y="133"/>
                </a:cubicBezTo>
                <a:lnTo>
                  <a:pt x="186" y="132"/>
                </a:lnTo>
                <a:close/>
                <a:moveTo>
                  <a:pt x="119" y="508"/>
                </a:moveTo>
                <a:cubicBezTo>
                  <a:pt x="133" y="496"/>
                  <a:pt x="149" y="486"/>
                  <a:pt x="165" y="478"/>
                </a:cubicBezTo>
                <a:cubicBezTo>
                  <a:pt x="171" y="480"/>
                  <a:pt x="171" y="480"/>
                  <a:pt x="171" y="480"/>
                </a:cubicBezTo>
                <a:cubicBezTo>
                  <a:pt x="174" y="487"/>
                  <a:pt x="174" y="487"/>
                  <a:pt x="174" y="487"/>
                </a:cubicBezTo>
                <a:cubicBezTo>
                  <a:pt x="182" y="506"/>
                  <a:pt x="192" y="524"/>
                  <a:pt x="203" y="539"/>
                </a:cubicBezTo>
                <a:cubicBezTo>
                  <a:pt x="204" y="541"/>
                  <a:pt x="204" y="541"/>
                  <a:pt x="204" y="541"/>
                </a:cubicBezTo>
                <a:cubicBezTo>
                  <a:pt x="206" y="544"/>
                  <a:pt x="208" y="545"/>
                  <a:pt x="209" y="547"/>
                </a:cubicBezTo>
                <a:cubicBezTo>
                  <a:pt x="212" y="550"/>
                  <a:pt x="214" y="553"/>
                  <a:pt x="216" y="556"/>
                </a:cubicBezTo>
                <a:cubicBezTo>
                  <a:pt x="218" y="558"/>
                  <a:pt x="219" y="560"/>
                  <a:pt x="221" y="561"/>
                </a:cubicBezTo>
                <a:cubicBezTo>
                  <a:pt x="232" y="573"/>
                  <a:pt x="232" y="573"/>
                  <a:pt x="232" y="573"/>
                </a:cubicBezTo>
                <a:cubicBezTo>
                  <a:pt x="217" y="568"/>
                  <a:pt x="217" y="568"/>
                  <a:pt x="217" y="568"/>
                </a:cubicBezTo>
                <a:cubicBezTo>
                  <a:pt x="181" y="557"/>
                  <a:pt x="148" y="539"/>
                  <a:pt x="119" y="514"/>
                </a:cubicBezTo>
                <a:cubicBezTo>
                  <a:pt x="115" y="511"/>
                  <a:pt x="115" y="511"/>
                  <a:pt x="115" y="511"/>
                </a:cubicBezTo>
                <a:cubicBezTo>
                  <a:pt x="119" y="508"/>
                  <a:pt x="119" y="508"/>
                  <a:pt x="119" y="508"/>
                </a:cubicBezTo>
                <a:close/>
                <a:moveTo>
                  <a:pt x="184" y="449"/>
                </a:moveTo>
                <a:cubicBezTo>
                  <a:pt x="180" y="451"/>
                  <a:pt x="180" y="451"/>
                  <a:pt x="180" y="451"/>
                </a:cubicBezTo>
                <a:cubicBezTo>
                  <a:pt x="179" y="446"/>
                  <a:pt x="179" y="446"/>
                  <a:pt x="179" y="446"/>
                </a:cubicBezTo>
                <a:cubicBezTo>
                  <a:pt x="166" y="406"/>
                  <a:pt x="159" y="361"/>
                  <a:pt x="158" y="314"/>
                </a:cubicBezTo>
                <a:cubicBezTo>
                  <a:pt x="158" y="310"/>
                  <a:pt x="158" y="310"/>
                  <a:pt x="158" y="310"/>
                </a:cubicBezTo>
                <a:cubicBezTo>
                  <a:pt x="290" y="310"/>
                  <a:pt x="290" y="310"/>
                  <a:pt x="290" y="310"/>
                </a:cubicBezTo>
                <a:cubicBezTo>
                  <a:pt x="290" y="429"/>
                  <a:pt x="290" y="429"/>
                  <a:pt x="290" y="429"/>
                </a:cubicBezTo>
                <a:cubicBezTo>
                  <a:pt x="286" y="429"/>
                  <a:pt x="286" y="429"/>
                  <a:pt x="286" y="429"/>
                </a:cubicBezTo>
                <a:cubicBezTo>
                  <a:pt x="250" y="431"/>
                  <a:pt x="216" y="437"/>
                  <a:pt x="184" y="449"/>
                </a:cubicBezTo>
                <a:close/>
                <a:moveTo>
                  <a:pt x="290" y="449"/>
                </a:moveTo>
                <a:cubicBezTo>
                  <a:pt x="290" y="580"/>
                  <a:pt x="290" y="580"/>
                  <a:pt x="290" y="580"/>
                </a:cubicBezTo>
                <a:cubicBezTo>
                  <a:pt x="286" y="579"/>
                  <a:pt x="286" y="579"/>
                  <a:pt x="286" y="579"/>
                </a:cubicBezTo>
                <a:cubicBezTo>
                  <a:pt x="247" y="572"/>
                  <a:pt x="212" y="534"/>
                  <a:pt x="188" y="473"/>
                </a:cubicBezTo>
                <a:cubicBezTo>
                  <a:pt x="186" y="469"/>
                  <a:pt x="186" y="469"/>
                  <a:pt x="186" y="469"/>
                </a:cubicBezTo>
                <a:cubicBezTo>
                  <a:pt x="190" y="467"/>
                  <a:pt x="190" y="467"/>
                  <a:pt x="190" y="467"/>
                </a:cubicBezTo>
                <a:cubicBezTo>
                  <a:pt x="220" y="456"/>
                  <a:pt x="252" y="450"/>
                  <a:pt x="286" y="449"/>
                </a:cubicBezTo>
                <a:cubicBezTo>
                  <a:pt x="290" y="449"/>
                  <a:pt x="290" y="449"/>
                  <a:pt x="290" y="449"/>
                </a:cubicBezTo>
                <a:close/>
                <a:moveTo>
                  <a:pt x="144" y="225"/>
                </a:moveTo>
                <a:cubicBezTo>
                  <a:pt x="142" y="234"/>
                  <a:pt x="141" y="243"/>
                  <a:pt x="141" y="254"/>
                </a:cubicBezTo>
                <a:cubicBezTo>
                  <a:pt x="140" y="263"/>
                  <a:pt x="140" y="263"/>
                  <a:pt x="140" y="263"/>
                </a:cubicBezTo>
                <a:cubicBezTo>
                  <a:pt x="139" y="269"/>
                  <a:pt x="139" y="275"/>
                  <a:pt x="139" y="282"/>
                </a:cubicBezTo>
                <a:cubicBezTo>
                  <a:pt x="139" y="291"/>
                  <a:pt x="139" y="291"/>
                  <a:pt x="139" y="291"/>
                </a:cubicBezTo>
                <a:cubicBezTo>
                  <a:pt x="20" y="291"/>
                  <a:pt x="20" y="291"/>
                  <a:pt x="20" y="291"/>
                </a:cubicBezTo>
                <a:cubicBezTo>
                  <a:pt x="20" y="286"/>
                  <a:pt x="20" y="286"/>
                  <a:pt x="20" y="286"/>
                </a:cubicBezTo>
                <a:cubicBezTo>
                  <a:pt x="24" y="218"/>
                  <a:pt x="51" y="154"/>
                  <a:pt x="99" y="105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21" y="119"/>
                  <a:pt x="140" y="131"/>
                  <a:pt x="160" y="141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9"/>
                  <a:pt x="161" y="149"/>
                  <a:pt x="161" y="149"/>
                </a:cubicBezTo>
                <a:cubicBezTo>
                  <a:pt x="154" y="171"/>
                  <a:pt x="149" y="193"/>
                  <a:pt x="145" y="216"/>
                </a:cubicBezTo>
                <a:lnTo>
                  <a:pt x="144" y="225"/>
                </a:lnTo>
                <a:close/>
                <a:moveTo>
                  <a:pt x="144" y="375"/>
                </a:moveTo>
                <a:cubicBezTo>
                  <a:pt x="145" y="384"/>
                  <a:pt x="145" y="384"/>
                  <a:pt x="145" y="384"/>
                </a:cubicBezTo>
                <a:cubicBezTo>
                  <a:pt x="149" y="408"/>
                  <a:pt x="154" y="430"/>
                  <a:pt x="161" y="451"/>
                </a:cubicBezTo>
                <a:cubicBezTo>
                  <a:pt x="163" y="458"/>
                  <a:pt x="163" y="458"/>
                  <a:pt x="163" y="458"/>
                </a:cubicBezTo>
                <a:cubicBezTo>
                  <a:pt x="160" y="459"/>
                  <a:pt x="160" y="459"/>
                  <a:pt x="160" y="459"/>
                </a:cubicBezTo>
                <a:cubicBezTo>
                  <a:pt x="139" y="469"/>
                  <a:pt x="121" y="481"/>
                  <a:pt x="104" y="495"/>
                </a:cubicBezTo>
                <a:cubicBezTo>
                  <a:pt x="101" y="498"/>
                  <a:pt x="101" y="498"/>
                  <a:pt x="101" y="498"/>
                </a:cubicBezTo>
                <a:cubicBezTo>
                  <a:pt x="99" y="495"/>
                  <a:pt x="99" y="495"/>
                  <a:pt x="99" y="495"/>
                </a:cubicBezTo>
                <a:cubicBezTo>
                  <a:pt x="52" y="446"/>
                  <a:pt x="24" y="382"/>
                  <a:pt x="20" y="314"/>
                </a:cubicBezTo>
                <a:cubicBezTo>
                  <a:pt x="20" y="310"/>
                  <a:pt x="20" y="310"/>
                  <a:pt x="20" y="310"/>
                </a:cubicBezTo>
                <a:cubicBezTo>
                  <a:pt x="139" y="310"/>
                  <a:pt x="139" y="310"/>
                  <a:pt x="139" y="310"/>
                </a:cubicBezTo>
                <a:cubicBezTo>
                  <a:pt x="139" y="319"/>
                  <a:pt x="139" y="319"/>
                  <a:pt x="139" y="319"/>
                </a:cubicBezTo>
                <a:cubicBezTo>
                  <a:pt x="139" y="325"/>
                  <a:pt x="139" y="331"/>
                  <a:pt x="140" y="338"/>
                </a:cubicBezTo>
                <a:cubicBezTo>
                  <a:pt x="141" y="348"/>
                  <a:pt x="141" y="348"/>
                  <a:pt x="141" y="348"/>
                </a:cubicBezTo>
                <a:cubicBezTo>
                  <a:pt x="141" y="357"/>
                  <a:pt x="142" y="367"/>
                  <a:pt x="144" y="37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0" y="6832041"/>
            <a:ext cx="3876675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8315325" y="6832041"/>
            <a:ext cx="3876675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3960338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5412001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6863664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98380" y="359298"/>
            <a:ext cx="2103385" cy="331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0" y="0"/>
            <a:ext cx="12192000" cy="2421653"/>
          </a:xfrm>
          <a:prstGeom prst="rect">
            <a:avLst/>
          </a:prstGeom>
          <a:gradFill>
            <a:gsLst>
              <a:gs pos="36000">
                <a:srgbClr val="E5E5FF">
                  <a:alpha val="24000"/>
                </a:srgbClr>
              </a:gs>
              <a:gs pos="100000">
                <a:srgbClr val="ECECEE">
                  <a:alpha val="34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2026" y="263529"/>
            <a:ext cx="10363200" cy="599331"/>
          </a:xfrm>
          <a:prstGeom prst="rect">
            <a:avLst/>
          </a:prstGeom>
        </p:spPr>
        <p:txBody>
          <a:bodyPr tIns="72000">
            <a:normAutofit/>
          </a:bodyPr>
          <a:lstStyle>
            <a:lvl1pPr>
              <a:defRPr sz="3000" b="1">
                <a:latin typeface="HarmonyOS Sans SC" panose="00000500000000000000" charset="-122"/>
                <a:ea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39780" y="311823"/>
            <a:ext cx="306067" cy="408433"/>
            <a:chOff x="339780" y="427935"/>
            <a:chExt cx="306067" cy="408433"/>
          </a:xfrm>
        </p:grpSpPr>
        <p:sp>
          <p:nvSpPr>
            <p:cNvPr id="5" name="矩形 4"/>
            <p:cNvSpPr/>
            <p:nvPr userDrawn="1"/>
          </p:nvSpPr>
          <p:spPr>
            <a:xfrm>
              <a:off x="534722" y="427935"/>
              <a:ext cx="111125" cy="408433"/>
            </a:xfrm>
            <a:prstGeom prst="rect">
              <a:avLst/>
            </a:prstGeom>
            <a:gradFill>
              <a:gsLst>
                <a:gs pos="0">
                  <a:srgbClr val="FF0000">
                    <a:alpha val="0"/>
                  </a:srgbClr>
                </a:gs>
                <a:gs pos="100000">
                  <a:srgbClr val="FF0000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339780" y="558904"/>
              <a:ext cx="111125" cy="277464"/>
            </a:xfrm>
            <a:prstGeom prst="rect">
              <a:avLst/>
            </a:prstGeom>
            <a:gradFill>
              <a:gsLst>
                <a:gs pos="0">
                  <a:srgbClr val="265EFA">
                    <a:alpha val="0"/>
                  </a:srgbClr>
                </a:gs>
                <a:gs pos="100000">
                  <a:srgbClr val="0101D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6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89945" y="8248"/>
            <a:ext cx="4402055" cy="2418929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10461215" y="6447305"/>
            <a:ext cx="1540550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www.dameng.com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339780" y="6447305"/>
            <a:ext cx="2185214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打造中国的世界级数据库品牌</a:t>
            </a:r>
          </a:p>
        </p:txBody>
      </p:sp>
      <p:sp>
        <p:nvSpPr>
          <p:cNvPr id="16" name="Freeform 5"/>
          <p:cNvSpPr>
            <a:spLocks noEditPoints="1"/>
          </p:cNvSpPr>
          <p:nvPr userDrawn="1"/>
        </p:nvSpPr>
        <p:spPr bwMode="auto">
          <a:xfrm>
            <a:off x="10239375" y="6509152"/>
            <a:ext cx="222250" cy="222250"/>
          </a:xfrm>
          <a:custGeom>
            <a:avLst/>
            <a:gdLst>
              <a:gd name="T0" fmla="*/ 300 w 600"/>
              <a:gd name="T1" fmla="*/ 600 h 600"/>
              <a:gd name="T2" fmla="*/ 379 w 600"/>
              <a:gd name="T3" fmla="*/ 561 h 600"/>
              <a:gd name="T4" fmla="*/ 427 w 600"/>
              <a:gd name="T5" fmla="*/ 485 h 600"/>
              <a:gd name="T6" fmla="*/ 481 w 600"/>
              <a:gd name="T7" fmla="*/ 508 h 600"/>
              <a:gd name="T8" fmla="*/ 383 w 600"/>
              <a:gd name="T9" fmla="*/ 568 h 600"/>
              <a:gd name="T10" fmla="*/ 442 w 600"/>
              <a:gd name="T11" fmla="*/ 314 h 600"/>
              <a:gd name="T12" fmla="*/ 416 w 600"/>
              <a:gd name="T13" fmla="*/ 449 h 600"/>
              <a:gd name="T14" fmla="*/ 310 w 600"/>
              <a:gd name="T15" fmla="*/ 310 h 600"/>
              <a:gd name="T16" fmla="*/ 414 w 600"/>
              <a:gd name="T17" fmla="*/ 469 h 600"/>
              <a:gd name="T18" fmla="*/ 310 w 600"/>
              <a:gd name="T19" fmla="*/ 580 h 600"/>
              <a:gd name="T20" fmla="*/ 410 w 600"/>
              <a:gd name="T21" fmla="*/ 467 h 600"/>
              <a:gd name="T22" fmla="*/ 435 w 600"/>
              <a:gd name="T23" fmla="*/ 123 h 600"/>
              <a:gd name="T24" fmla="*/ 427 w 600"/>
              <a:gd name="T25" fmla="*/ 114 h 600"/>
              <a:gd name="T26" fmla="*/ 379 w 600"/>
              <a:gd name="T27" fmla="*/ 39 h 600"/>
              <a:gd name="T28" fmla="*/ 481 w 600"/>
              <a:gd name="T29" fmla="*/ 86 h 600"/>
              <a:gd name="T30" fmla="*/ 416 w 600"/>
              <a:gd name="T31" fmla="*/ 152 h 600"/>
              <a:gd name="T32" fmla="*/ 442 w 600"/>
              <a:gd name="T33" fmla="*/ 286 h 600"/>
              <a:gd name="T34" fmla="*/ 310 w 600"/>
              <a:gd name="T35" fmla="*/ 171 h 600"/>
              <a:gd name="T36" fmla="*/ 310 w 600"/>
              <a:gd name="T37" fmla="*/ 152 h 600"/>
              <a:gd name="T38" fmla="*/ 412 w 600"/>
              <a:gd name="T39" fmla="*/ 128 h 600"/>
              <a:gd name="T40" fmla="*/ 314 w 600"/>
              <a:gd name="T41" fmla="*/ 152 h 600"/>
              <a:gd name="T42" fmla="*/ 496 w 600"/>
              <a:gd name="T43" fmla="*/ 495 h 600"/>
              <a:gd name="T44" fmla="*/ 440 w 600"/>
              <a:gd name="T45" fmla="*/ 451 h 600"/>
              <a:gd name="T46" fmla="*/ 460 w 600"/>
              <a:gd name="T47" fmla="*/ 348 h 600"/>
              <a:gd name="T48" fmla="*/ 462 w 600"/>
              <a:gd name="T49" fmla="*/ 310 h 600"/>
              <a:gd name="T50" fmla="*/ 502 w 600"/>
              <a:gd name="T51" fmla="*/ 495 h 600"/>
              <a:gd name="T52" fmla="*/ 457 w 600"/>
              <a:gd name="T53" fmla="*/ 225 h 600"/>
              <a:gd name="T54" fmla="*/ 437 w 600"/>
              <a:gd name="T55" fmla="*/ 143 h 600"/>
              <a:gd name="T56" fmla="*/ 499 w 600"/>
              <a:gd name="T57" fmla="*/ 103 h 600"/>
              <a:gd name="T58" fmla="*/ 580 w 600"/>
              <a:gd name="T59" fmla="*/ 291 h 600"/>
              <a:gd name="T60" fmla="*/ 461 w 600"/>
              <a:gd name="T61" fmla="*/ 263 h 600"/>
              <a:gd name="T62" fmla="*/ 204 w 600"/>
              <a:gd name="T63" fmla="*/ 59 h 600"/>
              <a:gd name="T64" fmla="*/ 170 w 600"/>
              <a:gd name="T65" fmla="*/ 125 h 600"/>
              <a:gd name="T66" fmla="*/ 115 w 600"/>
              <a:gd name="T67" fmla="*/ 90 h 600"/>
              <a:gd name="T68" fmla="*/ 232 w 600"/>
              <a:gd name="T69" fmla="*/ 28 h 600"/>
              <a:gd name="T70" fmla="*/ 179 w 600"/>
              <a:gd name="T71" fmla="*/ 154 h 600"/>
              <a:gd name="T72" fmla="*/ 287 w 600"/>
              <a:gd name="T73" fmla="*/ 171 h 600"/>
              <a:gd name="T74" fmla="*/ 158 w 600"/>
              <a:gd name="T75" fmla="*/ 291 h 600"/>
              <a:gd name="T76" fmla="*/ 188 w 600"/>
              <a:gd name="T77" fmla="*/ 128 h 600"/>
              <a:gd name="T78" fmla="*/ 290 w 600"/>
              <a:gd name="T79" fmla="*/ 152 h 600"/>
              <a:gd name="T80" fmla="*/ 186 w 600"/>
              <a:gd name="T81" fmla="*/ 132 h 600"/>
              <a:gd name="T82" fmla="*/ 171 w 600"/>
              <a:gd name="T83" fmla="*/ 480 h 600"/>
              <a:gd name="T84" fmla="*/ 204 w 600"/>
              <a:gd name="T85" fmla="*/ 541 h 600"/>
              <a:gd name="T86" fmla="*/ 221 w 600"/>
              <a:gd name="T87" fmla="*/ 561 h 600"/>
              <a:gd name="T88" fmla="*/ 119 w 600"/>
              <a:gd name="T89" fmla="*/ 514 h 600"/>
              <a:gd name="T90" fmla="*/ 184 w 600"/>
              <a:gd name="T91" fmla="*/ 449 h 600"/>
              <a:gd name="T92" fmla="*/ 158 w 600"/>
              <a:gd name="T93" fmla="*/ 314 h 600"/>
              <a:gd name="T94" fmla="*/ 290 w 600"/>
              <a:gd name="T95" fmla="*/ 429 h 600"/>
              <a:gd name="T96" fmla="*/ 290 w 600"/>
              <a:gd name="T97" fmla="*/ 449 h 600"/>
              <a:gd name="T98" fmla="*/ 188 w 600"/>
              <a:gd name="T99" fmla="*/ 473 h 600"/>
              <a:gd name="T100" fmla="*/ 286 w 600"/>
              <a:gd name="T101" fmla="*/ 449 h 600"/>
              <a:gd name="T102" fmla="*/ 141 w 600"/>
              <a:gd name="T103" fmla="*/ 254 h 600"/>
              <a:gd name="T104" fmla="*/ 139 w 600"/>
              <a:gd name="T105" fmla="*/ 291 h 600"/>
              <a:gd name="T106" fmla="*/ 99 w 600"/>
              <a:gd name="T107" fmla="*/ 105 h 600"/>
              <a:gd name="T108" fmla="*/ 160 w 600"/>
              <a:gd name="T109" fmla="*/ 141 h 600"/>
              <a:gd name="T110" fmla="*/ 145 w 600"/>
              <a:gd name="T111" fmla="*/ 216 h 600"/>
              <a:gd name="T112" fmla="*/ 145 w 600"/>
              <a:gd name="T113" fmla="*/ 384 h 600"/>
              <a:gd name="T114" fmla="*/ 160 w 600"/>
              <a:gd name="T115" fmla="*/ 459 h 600"/>
              <a:gd name="T116" fmla="*/ 99 w 600"/>
              <a:gd name="T117" fmla="*/ 495 h 600"/>
              <a:gd name="T118" fmla="*/ 139 w 600"/>
              <a:gd name="T119" fmla="*/ 310 h 600"/>
              <a:gd name="T120" fmla="*/ 141 w 600"/>
              <a:gd name="T121" fmla="*/ 348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00" h="600">
                <a:moveTo>
                  <a:pt x="300" y="0"/>
                </a:moveTo>
                <a:cubicBezTo>
                  <a:pt x="135" y="0"/>
                  <a:pt x="0" y="135"/>
                  <a:pt x="0" y="300"/>
                </a:cubicBezTo>
                <a:cubicBezTo>
                  <a:pt x="0" y="466"/>
                  <a:pt x="135" y="600"/>
                  <a:pt x="300" y="600"/>
                </a:cubicBezTo>
                <a:cubicBezTo>
                  <a:pt x="466" y="600"/>
                  <a:pt x="600" y="466"/>
                  <a:pt x="600" y="300"/>
                </a:cubicBezTo>
                <a:cubicBezTo>
                  <a:pt x="600" y="135"/>
                  <a:pt x="466" y="0"/>
                  <a:pt x="300" y="0"/>
                </a:cubicBezTo>
                <a:close/>
                <a:moveTo>
                  <a:pt x="379" y="561"/>
                </a:moveTo>
                <a:cubicBezTo>
                  <a:pt x="385" y="556"/>
                  <a:pt x="390" y="549"/>
                  <a:pt x="396" y="541"/>
                </a:cubicBezTo>
                <a:cubicBezTo>
                  <a:pt x="398" y="539"/>
                  <a:pt x="398" y="539"/>
                  <a:pt x="398" y="539"/>
                </a:cubicBezTo>
                <a:cubicBezTo>
                  <a:pt x="409" y="524"/>
                  <a:pt x="418" y="506"/>
                  <a:pt x="427" y="485"/>
                </a:cubicBezTo>
                <a:cubicBezTo>
                  <a:pt x="431" y="476"/>
                  <a:pt x="431" y="476"/>
                  <a:pt x="431" y="476"/>
                </a:cubicBezTo>
                <a:cubicBezTo>
                  <a:pt x="435" y="478"/>
                  <a:pt x="435" y="478"/>
                  <a:pt x="435" y="478"/>
                </a:cubicBezTo>
                <a:cubicBezTo>
                  <a:pt x="452" y="486"/>
                  <a:pt x="467" y="496"/>
                  <a:pt x="481" y="508"/>
                </a:cubicBezTo>
                <a:cubicBezTo>
                  <a:pt x="485" y="511"/>
                  <a:pt x="485" y="511"/>
                  <a:pt x="485" y="511"/>
                </a:cubicBezTo>
                <a:cubicBezTo>
                  <a:pt x="481" y="514"/>
                  <a:pt x="481" y="514"/>
                  <a:pt x="481" y="514"/>
                </a:cubicBezTo>
                <a:cubicBezTo>
                  <a:pt x="453" y="539"/>
                  <a:pt x="419" y="557"/>
                  <a:pt x="383" y="568"/>
                </a:cubicBezTo>
                <a:cubicBezTo>
                  <a:pt x="368" y="573"/>
                  <a:pt x="368" y="573"/>
                  <a:pt x="368" y="573"/>
                </a:cubicBezTo>
                <a:cubicBezTo>
                  <a:pt x="379" y="561"/>
                  <a:pt x="379" y="561"/>
                  <a:pt x="379" y="561"/>
                </a:cubicBezTo>
                <a:close/>
                <a:moveTo>
                  <a:pt x="442" y="314"/>
                </a:moveTo>
                <a:cubicBezTo>
                  <a:pt x="441" y="361"/>
                  <a:pt x="434" y="406"/>
                  <a:pt x="421" y="446"/>
                </a:cubicBezTo>
                <a:cubicBezTo>
                  <a:pt x="420" y="451"/>
                  <a:pt x="420" y="451"/>
                  <a:pt x="420" y="451"/>
                </a:cubicBezTo>
                <a:cubicBezTo>
                  <a:pt x="416" y="449"/>
                  <a:pt x="416" y="449"/>
                  <a:pt x="416" y="449"/>
                </a:cubicBezTo>
                <a:cubicBezTo>
                  <a:pt x="385" y="437"/>
                  <a:pt x="350" y="431"/>
                  <a:pt x="314" y="429"/>
                </a:cubicBezTo>
                <a:cubicBezTo>
                  <a:pt x="310" y="429"/>
                  <a:pt x="310" y="429"/>
                  <a:pt x="310" y="429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442" y="310"/>
                  <a:pt x="442" y="310"/>
                  <a:pt x="442" y="310"/>
                </a:cubicBezTo>
                <a:lnTo>
                  <a:pt x="442" y="314"/>
                </a:lnTo>
                <a:close/>
                <a:moveTo>
                  <a:pt x="414" y="469"/>
                </a:moveTo>
                <a:cubicBezTo>
                  <a:pt x="412" y="473"/>
                  <a:pt x="412" y="473"/>
                  <a:pt x="412" y="473"/>
                </a:cubicBezTo>
                <a:cubicBezTo>
                  <a:pt x="388" y="534"/>
                  <a:pt x="354" y="572"/>
                  <a:pt x="315" y="579"/>
                </a:cubicBezTo>
                <a:cubicBezTo>
                  <a:pt x="310" y="580"/>
                  <a:pt x="310" y="580"/>
                  <a:pt x="310" y="580"/>
                </a:cubicBezTo>
                <a:cubicBezTo>
                  <a:pt x="310" y="449"/>
                  <a:pt x="310" y="449"/>
                  <a:pt x="310" y="449"/>
                </a:cubicBezTo>
                <a:cubicBezTo>
                  <a:pt x="314" y="449"/>
                  <a:pt x="314" y="449"/>
                  <a:pt x="314" y="449"/>
                </a:cubicBezTo>
                <a:cubicBezTo>
                  <a:pt x="348" y="450"/>
                  <a:pt x="381" y="456"/>
                  <a:pt x="410" y="467"/>
                </a:cubicBezTo>
                <a:lnTo>
                  <a:pt x="414" y="469"/>
                </a:lnTo>
                <a:close/>
                <a:moveTo>
                  <a:pt x="481" y="93"/>
                </a:moveTo>
                <a:cubicBezTo>
                  <a:pt x="467" y="104"/>
                  <a:pt x="451" y="114"/>
                  <a:pt x="435" y="123"/>
                </a:cubicBezTo>
                <a:cubicBezTo>
                  <a:pt x="430" y="123"/>
                  <a:pt x="430" y="123"/>
                  <a:pt x="430" y="123"/>
                </a:cubicBezTo>
                <a:cubicBezTo>
                  <a:pt x="429" y="119"/>
                  <a:pt x="429" y="119"/>
                  <a:pt x="429" y="119"/>
                </a:cubicBezTo>
                <a:cubicBezTo>
                  <a:pt x="427" y="114"/>
                  <a:pt x="427" y="114"/>
                  <a:pt x="427" y="114"/>
                </a:cubicBezTo>
                <a:cubicBezTo>
                  <a:pt x="419" y="95"/>
                  <a:pt x="409" y="78"/>
                  <a:pt x="397" y="61"/>
                </a:cubicBezTo>
                <a:cubicBezTo>
                  <a:pt x="396" y="59"/>
                  <a:pt x="396" y="59"/>
                  <a:pt x="396" y="59"/>
                </a:cubicBezTo>
                <a:cubicBezTo>
                  <a:pt x="391" y="52"/>
                  <a:pt x="385" y="45"/>
                  <a:pt x="379" y="39"/>
                </a:cubicBezTo>
                <a:cubicBezTo>
                  <a:pt x="368" y="28"/>
                  <a:pt x="368" y="28"/>
                  <a:pt x="368" y="28"/>
                </a:cubicBezTo>
                <a:cubicBezTo>
                  <a:pt x="383" y="32"/>
                  <a:pt x="383" y="32"/>
                  <a:pt x="383" y="32"/>
                </a:cubicBezTo>
                <a:cubicBezTo>
                  <a:pt x="419" y="43"/>
                  <a:pt x="453" y="62"/>
                  <a:pt x="481" y="86"/>
                </a:cubicBezTo>
                <a:cubicBezTo>
                  <a:pt x="485" y="89"/>
                  <a:pt x="485" y="89"/>
                  <a:pt x="485" y="89"/>
                </a:cubicBezTo>
                <a:cubicBezTo>
                  <a:pt x="481" y="93"/>
                  <a:pt x="481" y="93"/>
                  <a:pt x="481" y="93"/>
                </a:cubicBezTo>
                <a:close/>
                <a:moveTo>
                  <a:pt x="416" y="152"/>
                </a:moveTo>
                <a:cubicBezTo>
                  <a:pt x="420" y="150"/>
                  <a:pt x="420" y="150"/>
                  <a:pt x="420" y="150"/>
                </a:cubicBezTo>
                <a:cubicBezTo>
                  <a:pt x="421" y="154"/>
                  <a:pt x="421" y="154"/>
                  <a:pt x="421" y="154"/>
                </a:cubicBezTo>
                <a:cubicBezTo>
                  <a:pt x="434" y="194"/>
                  <a:pt x="441" y="240"/>
                  <a:pt x="442" y="286"/>
                </a:cubicBezTo>
                <a:cubicBezTo>
                  <a:pt x="442" y="291"/>
                  <a:pt x="442" y="291"/>
                  <a:pt x="442" y="291"/>
                </a:cubicBezTo>
                <a:cubicBezTo>
                  <a:pt x="310" y="291"/>
                  <a:pt x="310" y="291"/>
                  <a:pt x="310" y="291"/>
                </a:cubicBezTo>
                <a:cubicBezTo>
                  <a:pt x="310" y="171"/>
                  <a:pt x="310" y="171"/>
                  <a:pt x="310" y="171"/>
                </a:cubicBezTo>
                <a:cubicBezTo>
                  <a:pt x="314" y="171"/>
                  <a:pt x="314" y="171"/>
                  <a:pt x="314" y="171"/>
                </a:cubicBezTo>
                <a:cubicBezTo>
                  <a:pt x="350" y="170"/>
                  <a:pt x="385" y="163"/>
                  <a:pt x="416" y="152"/>
                </a:cubicBezTo>
                <a:close/>
                <a:moveTo>
                  <a:pt x="310" y="152"/>
                </a:moveTo>
                <a:cubicBezTo>
                  <a:pt x="310" y="20"/>
                  <a:pt x="310" y="20"/>
                  <a:pt x="310" y="20"/>
                </a:cubicBezTo>
                <a:cubicBezTo>
                  <a:pt x="315" y="21"/>
                  <a:pt x="315" y="21"/>
                  <a:pt x="315" y="21"/>
                </a:cubicBezTo>
                <a:cubicBezTo>
                  <a:pt x="354" y="29"/>
                  <a:pt x="388" y="67"/>
                  <a:pt x="412" y="128"/>
                </a:cubicBezTo>
                <a:cubicBezTo>
                  <a:pt x="414" y="132"/>
                  <a:pt x="414" y="132"/>
                  <a:pt x="414" y="132"/>
                </a:cubicBezTo>
                <a:cubicBezTo>
                  <a:pt x="410" y="133"/>
                  <a:pt x="410" y="133"/>
                  <a:pt x="410" y="133"/>
                </a:cubicBezTo>
                <a:cubicBezTo>
                  <a:pt x="381" y="144"/>
                  <a:pt x="348" y="150"/>
                  <a:pt x="314" y="152"/>
                </a:cubicBezTo>
                <a:lnTo>
                  <a:pt x="310" y="152"/>
                </a:lnTo>
                <a:close/>
                <a:moveTo>
                  <a:pt x="499" y="498"/>
                </a:moveTo>
                <a:cubicBezTo>
                  <a:pt x="496" y="495"/>
                  <a:pt x="496" y="495"/>
                  <a:pt x="496" y="495"/>
                </a:cubicBezTo>
                <a:cubicBezTo>
                  <a:pt x="479" y="481"/>
                  <a:pt x="461" y="469"/>
                  <a:pt x="441" y="459"/>
                </a:cubicBezTo>
                <a:cubicBezTo>
                  <a:pt x="437" y="458"/>
                  <a:pt x="437" y="458"/>
                  <a:pt x="437" y="458"/>
                </a:cubicBezTo>
                <a:cubicBezTo>
                  <a:pt x="440" y="451"/>
                  <a:pt x="440" y="451"/>
                  <a:pt x="440" y="451"/>
                </a:cubicBezTo>
                <a:cubicBezTo>
                  <a:pt x="446" y="430"/>
                  <a:pt x="452" y="407"/>
                  <a:pt x="455" y="384"/>
                </a:cubicBezTo>
                <a:cubicBezTo>
                  <a:pt x="457" y="375"/>
                  <a:pt x="457" y="375"/>
                  <a:pt x="457" y="375"/>
                </a:cubicBezTo>
                <a:cubicBezTo>
                  <a:pt x="458" y="366"/>
                  <a:pt x="459" y="357"/>
                  <a:pt x="460" y="348"/>
                </a:cubicBezTo>
                <a:cubicBezTo>
                  <a:pt x="461" y="338"/>
                  <a:pt x="461" y="338"/>
                  <a:pt x="461" y="338"/>
                </a:cubicBezTo>
                <a:cubicBezTo>
                  <a:pt x="461" y="332"/>
                  <a:pt x="461" y="326"/>
                  <a:pt x="461" y="320"/>
                </a:cubicBezTo>
                <a:cubicBezTo>
                  <a:pt x="462" y="310"/>
                  <a:pt x="462" y="310"/>
                  <a:pt x="462" y="310"/>
                </a:cubicBezTo>
                <a:cubicBezTo>
                  <a:pt x="580" y="310"/>
                  <a:pt x="580" y="310"/>
                  <a:pt x="580" y="310"/>
                </a:cubicBezTo>
                <a:cubicBezTo>
                  <a:pt x="580" y="314"/>
                  <a:pt x="580" y="314"/>
                  <a:pt x="580" y="314"/>
                </a:cubicBezTo>
                <a:cubicBezTo>
                  <a:pt x="577" y="382"/>
                  <a:pt x="549" y="446"/>
                  <a:pt x="502" y="495"/>
                </a:cubicBezTo>
                <a:cubicBezTo>
                  <a:pt x="499" y="498"/>
                  <a:pt x="499" y="498"/>
                  <a:pt x="499" y="498"/>
                </a:cubicBezTo>
                <a:close/>
                <a:moveTo>
                  <a:pt x="460" y="253"/>
                </a:moveTo>
                <a:cubicBezTo>
                  <a:pt x="459" y="244"/>
                  <a:pt x="458" y="234"/>
                  <a:pt x="457" y="225"/>
                </a:cubicBezTo>
                <a:cubicBezTo>
                  <a:pt x="455" y="216"/>
                  <a:pt x="455" y="216"/>
                  <a:pt x="455" y="216"/>
                </a:cubicBezTo>
                <a:cubicBezTo>
                  <a:pt x="452" y="193"/>
                  <a:pt x="447" y="171"/>
                  <a:pt x="440" y="149"/>
                </a:cubicBezTo>
                <a:cubicBezTo>
                  <a:pt x="437" y="143"/>
                  <a:pt x="437" y="143"/>
                  <a:pt x="437" y="143"/>
                </a:cubicBezTo>
                <a:cubicBezTo>
                  <a:pt x="441" y="141"/>
                  <a:pt x="441" y="141"/>
                  <a:pt x="441" y="141"/>
                </a:cubicBezTo>
                <a:cubicBezTo>
                  <a:pt x="461" y="132"/>
                  <a:pt x="479" y="120"/>
                  <a:pt x="496" y="105"/>
                </a:cubicBezTo>
                <a:cubicBezTo>
                  <a:pt x="499" y="103"/>
                  <a:pt x="499" y="103"/>
                  <a:pt x="499" y="103"/>
                </a:cubicBezTo>
                <a:cubicBezTo>
                  <a:pt x="502" y="105"/>
                  <a:pt x="502" y="105"/>
                  <a:pt x="502" y="105"/>
                </a:cubicBezTo>
                <a:cubicBezTo>
                  <a:pt x="549" y="154"/>
                  <a:pt x="577" y="218"/>
                  <a:pt x="580" y="286"/>
                </a:cubicBezTo>
                <a:cubicBezTo>
                  <a:pt x="580" y="291"/>
                  <a:pt x="580" y="291"/>
                  <a:pt x="580" y="291"/>
                </a:cubicBezTo>
                <a:cubicBezTo>
                  <a:pt x="462" y="291"/>
                  <a:pt x="462" y="291"/>
                  <a:pt x="462" y="291"/>
                </a:cubicBezTo>
                <a:cubicBezTo>
                  <a:pt x="461" y="280"/>
                  <a:pt x="461" y="280"/>
                  <a:pt x="461" y="280"/>
                </a:cubicBezTo>
                <a:cubicBezTo>
                  <a:pt x="461" y="274"/>
                  <a:pt x="461" y="269"/>
                  <a:pt x="461" y="263"/>
                </a:cubicBezTo>
                <a:cubicBezTo>
                  <a:pt x="460" y="253"/>
                  <a:pt x="460" y="253"/>
                  <a:pt x="460" y="253"/>
                </a:cubicBezTo>
                <a:close/>
                <a:moveTo>
                  <a:pt x="221" y="39"/>
                </a:moveTo>
                <a:cubicBezTo>
                  <a:pt x="215" y="45"/>
                  <a:pt x="209" y="52"/>
                  <a:pt x="204" y="59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1" y="78"/>
                  <a:pt x="182" y="95"/>
                  <a:pt x="174" y="11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66" y="123"/>
                  <a:pt x="166" y="123"/>
                  <a:pt x="166" y="123"/>
                </a:cubicBezTo>
                <a:cubicBezTo>
                  <a:pt x="149" y="115"/>
                  <a:pt x="133" y="104"/>
                  <a:pt x="119" y="93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9" y="86"/>
                  <a:pt x="119" y="86"/>
                  <a:pt x="119" y="86"/>
                </a:cubicBezTo>
                <a:cubicBezTo>
                  <a:pt x="148" y="62"/>
                  <a:pt x="181" y="43"/>
                  <a:pt x="217" y="32"/>
                </a:cubicBezTo>
                <a:cubicBezTo>
                  <a:pt x="232" y="28"/>
                  <a:pt x="232" y="28"/>
                  <a:pt x="232" y="28"/>
                </a:cubicBezTo>
                <a:cubicBezTo>
                  <a:pt x="221" y="39"/>
                  <a:pt x="221" y="39"/>
                  <a:pt x="221" y="39"/>
                </a:cubicBezTo>
                <a:close/>
                <a:moveTo>
                  <a:pt x="158" y="286"/>
                </a:moveTo>
                <a:cubicBezTo>
                  <a:pt x="159" y="240"/>
                  <a:pt x="166" y="194"/>
                  <a:pt x="179" y="154"/>
                </a:cubicBezTo>
                <a:cubicBezTo>
                  <a:pt x="180" y="150"/>
                  <a:pt x="180" y="150"/>
                  <a:pt x="180" y="150"/>
                </a:cubicBezTo>
                <a:cubicBezTo>
                  <a:pt x="184" y="151"/>
                  <a:pt x="184" y="151"/>
                  <a:pt x="184" y="151"/>
                </a:cubicBezTo>
                <a:cubicBezTo>
                  <a:pt x="216" y="163"/>
                  <a:pt x="250" y="170"/>
                  <a:pt x="287" y="171"/>
                </a:cubicBezTo>
                <a:cubicBezTo>
                  <a:pt x="290" y="171"/>
                  <a:pt x="290" y="171"/>
                  <a:pt x="290" y="171"/>
                </a:cubicBezTo>
                <a:cubicBezTo>
                  <a:pt x="290" y="291"/>
                  <a:pt x="290" y="291"/>
                  <a:pt x="290" y="291"/>
                </a:cubicBezTo>
                <a:cubicBezTo>
                  <a:pt x="158" y="291"/>
                  <a:pt x="158" y="291"/>
                  <a:pt x="158" y="291"/>
                </a:cubicBezTo>
                <a:lnTo>
                  <a:pt x="158" y="286"/>
                </a:lnTo>
                <a:close/>
                <a:moveTo>
                  <a:pt x="186" y="132"/>
                </a:moveTo>
                <a:cubicBezTo>
                  <a:pt x="188" y="128"/>
                  <a:pt x="188" y="128"/>
                  <a:pt x="188" y="128"/>
                </a:cubicBezTo>
                <a:cubicBezTo>
                  <a:pt x="212" y="67"/>
                  <a:pt x="247" y="29"/>
                  <a:pt x="286" y="21"/>
                </a:cubicBezTo>
                <a:cubicBezTo>
                  <a:pt x="290" y="20"/>
                  <a:pt x="290" y="20"/>
                  <a:pt x="290" y="20"/>
                </a:cubicBezTo>
                <a:cubicBezTo>
                  <a:pt x="290" y="152"/>
                  <a:pt x="290" y="152"/>
                  <a:pt x="290" y="152"/>
                </a:cubicBezTo>
                <a:cubicBezTo>
                  <a:pt x="286" y="152"/>
                  <a:pt x="286" y="152"/>
                  <a:pt x="286" y="152"/>
                </a:cubicBezTo>
                <a:cubicBezTo>
                  <a:pt x="252" y="150"/>
                  <a:pt x="220" y="144"/>
                  <a:pt x="190" y="133"/>
                </a:cubicBezTo>
                <a:lnTo>
                  <a:pt x="186" y="132"/>
                </a:lnTo>
                <a:close/>
                <a:moveTo>
                  <a:pt x="119" y="508"/>
                </a:moveTo>
                <a:cubicBezTo>
                  <a:pt x="133" y="496"/>
                  <a:pt x="149" y="486"/>
                  <a:pt x="165" y="478"/>
                </a:cubicBezTo>
                <a:cubicBezTo>
                  <a:pt x="171" y="480"/>
                  <a:pt x="171" y="480"/>
                  <a:pt x="171" y="480"/>
                </a:cubicBezTo>
                <a:cubicBezTo>
                  <a:pt x="174" y="487"/>
                  <a:pt x="174" y="487"/>
                  <a:pt x="174" y="487"/>
                </a:cubicBezTo>
                <a:cubicBezTo>
                  <a:pt x="182" y="506"/>
                  <a:pt x="192" y="524"/>
                  <a:pt x="203" y="539"/>
                </a:cubicBezTo>
                <a:cubicBezTo>
                  <a:pt x="204" y="541"/>
                  <a:pt x="204" y="541"/>
                  <a:pt x="204" y="541"/>
                </a:cubicBezTo>
                <a:cubicBezTo>
                  <a:pt x="206" y="544"/>
                  <a:pt x="208" y="545"/>
                  <a:pt x="209" y="547"/>
                </a:cubicBezTo>
                <a:cubicBezTo>
                  <a:pt x="212" y="550"/>
                  <a:pt x="214" y="553"/>
                  <a:pt x="216" y="556"/>
                </a:cubicBezTo>
                <a:cubicBezTo>
                  <a:pt x="218" y="558"/>
                  <a:pt x="219" y="560"/>
                  <a:pt x="221" y="561"/>
                </a:cubicBezTo>
                <a:cubicBezTo>
                  <a:pt x="232" y="573"/>
                  <a:pt x="232" y="573"/>
                  <a:pt x="232" y="573"/>
                </a:cubicBezTo>
                <a:cubicBezTo>
                  <a:pt x="217" y="568"/>
                  <a:pt x="217" y="568"/>
                  <a:pt x="217" y="568"/>
                </a:cubicBezTo>
                <a:cubicBezTo>
                  <a:pt x="181" y="557"/>
                  <a:pt x="148" y="539"/>
                  <a:pt x="119" y="514"/>
                </a:cubicBezTo>
                <a:cubicBezTo>
                  <a:pt x="115" y="511"/>
                  <a:pt x="115" y="511"/>
                  <a:pt x="115" y="511"/>
                </a:cubicBezTo>
                <a:cubicBezTo>
                  <a:pt x="119" y="508"/>
                  <a:pt x="119" y="508"/>
                  <a:pt x="119" y="508"/>
                </a:cubicBezTo>
                <a:close/>
                <a:moveTo>
                  <a:pt x="184" y="449"/>
                </a:moveTo>
                <a:cubicBezTo>
                  <a:pt x="180" y="451"/>
                  <a:pt x="180" y="451"/>
                  <a:pt x="180" y="451"/>
                </a:cubicBezTo>
                <a:cubicBezTo>
                  <a:pt x="179" y="446"/>
                  <a:pt x="179" y="446"/>
                  <a:pt x="179" y="446"/>
                </a:cubicBezTo>
                <a:cubicBezTo>
                  <a:pt x="166" y="406"/>
                  <a:pt x="159" y="361"/>
                  <a:pt x="158" y="314"/>
                </a:cubicBezTo>
                <a:cubicBezTo>
                  <a:pt x="158" y="310"/>
                  <a:pt x="158" y="310"/>
                  <a:pt x="158" y="310"/>
                </a:cubicBezTo>
                <a:cubicBezTo>
                  <a:pt x="290" y="310"/>
                  <a:pt x="290" y="310"/>
                  <a:pt x="290" y="310"/>
                </a:cubicBezTo>
                <a:cubicBezTo>
                  <a:pt x="290" y="429"/>
                  <a:pt x="290" y="429"/>
                  <a:pt x="290" y="429"/>
                </a:cubicBezTo>
                <a:cubicBezTo>
                  <a:pt x="286" y="429"/>
                  <a:pt x="286" y="429"/>
                  <a:pt x="286" y="429"/>
                </a:cubicBezTo>
                <a:cubicBezTo>
                  <a:pt x="250" y="431"/>
                  <a:pt x="216" y="437"/>
                  <a:pt x="184" y="449"/>
                </a:cubicBezTo>
                <a:close/>
                <a:moveTo>
                  <a:pt x="290" y="449"/>
                </a:moveTo>
                <a:cubicBezTo>
                  <a:pt x="290" y="580"/>
                  <a:pt x="290" y="580"/>
                  <a:pt x="290" y="580"/>
                </a:cubicBezTo>
                <a:cubicBezTo>
                  <a:pt x="286" y="579"/>
                  <a:pt x="286" y="579"/>
                  <a:pt x="286" y="579"/>
                </a:cubicBezTo>
                <a:cubicBezTo>
                  <a:pt x="247" y="572"/>
                  <a:pt x="212" y="534"/>
                  <a:pt x="188" y="473"/>
                </a:cubicBezTo>
                <a:cubicBezTo>
                  <a:pt x="186" y="469"/>
                  <a:pt x="186" y="469"/>
                  <a:pt x="186" y="469"/>
                </a:cubicBezTo>
                <a:cubicBezTo>
                  <a:pt x="190" y="467"/>
                  <a:pt x="190" y="467"/>
                  <a:pt x="190" y="467"/>
                </a:cubicBezTo>
                <a:cubicBezTo>
                  <a:pt x="220" y="456"/>
                  <a:pt x="252" y="450"/>
                  <a:pt x="286" y="449"/>
                </a:cubicBezTo>
                <a:cubicBezTo>
                  <a:pt x="290" y="449"/>
                  <a:pt x="290" y="449"/>
                  <a:pt x="290" y="449"/>
                </a:cubicBezTo>
                <a:close/>
                <a:moveTo>
                  <a:pt x="144" y="225"/>
                </a:moveTo>
                <a:cubicBezTo>
                  <a:pt x="142" y="234"/>
                  <a:pt x="141" y="243"/>
                  <a:pt x="141" y="254"/>
                </a:cubicBezTo>
                <a:cubicBezTo>
                  <a:pt x="140" y="263"/>
                  <a:pt x="140" y="263"/>
                  <a:pt x="140" y="263"/>
                </a:cubicBezTo>
                <a:cubicBezTo>
                  <a:pt x="139" y="269"/>
                  <a:pt x="139" y="275"/>
                  <a:pt x="139" y="282"/>
                </a:cubicBezTo>
                <a:cubicBezTo>
                  <a:pt x="139" y="291"/>
                  <a:pt x="139" y="291"/>
                  <a:pt x="139" y="291"/>
                </a:cubicBezTo>
                <a:cubicBezTo>
                  <a:pt x="20" y="291"/>
                  <a:pt x="20" y="291"/>
                  <a:pt x="20" y="291"/>
                </a:cubicBezTo>
                <a:cubicBezTo>
                  <a:pt x="20" y="286"/>
                  <a:pt x="20" y="286"/>
                  <a:pt x="20" y="286"/>
                </a:cubicBezTo>
                <a:cubicBezTo>
                  <a:pt x="24" y="218"/>
                  <a:pt x="51" y="154"/>
                  <a:pt x="99" y="105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21" y="119"/>
                  <a:pt x="140" y="131"/>
                  <a:pt x="160" y="141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9"/>
                  <a:pt x="161" y="149"/>
                  <a:pt x="161" y="149"/>
                </a:cubicBezTo>
                <a:cubicBezTo>
                  <a:pt x="154" y="171"/>
                  <a:pt x="149" y="193"/>
                  <a:pt x="145" y="216"/>
                </a:cubicBezTo>
                <a:lnTo>
                  <a:pt x="144" y="225"/>
                </a:lnTo>
                <a:close/>
                <a:moveTo>
                  <a:pt x="144" y="375"/>
                </a:moveTo>
                <a:cubicBezTo>
                  <a:pt x="145" y="384"/>
                  <a:pt x="145" y="384"/>
                  <a:pt x="145" y="384"/>
                </a:cubicBezTo>
                <a:cubicBezTo>
                  <a:pt x="149" y="408"/>
                  <a:pt x="154" y="430"/>
                  <a:pt x="161" y="451"/>
                </a:cubicBezTo>
                <a:cubicBezTo>
                  <a:pt x="163" y="458"/>
                  <a:pt x="163" y="458"/>
                  <a:pt x="163" y="458"/>
                </a:cubicBezTo>
                <a:cubicBezTo>
                  <a:pt x="160" y="459"/>
                  <a:pt x="160" y="459"/>
                  <a:pt x="160" y="459"/>
                </a:cubicBezTo>
                <a:cubicBezTo>
                  <a:pt x="139" y="469"/>
                  <a:pt x="121" y="481"/>
                  <a:pt x="104" y="495"/>
                </a:cubicBezTo>
                <a:cubicBezTo>
                  <a:pt x="101" y="498"/>
                  <a:pt x="101" y="498"/>
                  <a:pt x="101" y="498"/>
                </a:cubicBezTo>
                <a:cubicBezTo>
                  <a:pt x="99" y="495"/>
                  <a:pt x="99" y="495"/>
                  <a:pt x="99" y="495"/>
                </a:cubicBezTo>
                <a:cubicBezTo>
                  <a:pt x="52" y="446"/>
                  <a:pt x="24" y="382"/>
                  <a:pt x="20" y="314"/>
                </a:cubicBezTo>
                <a:cubicBezTo>
                  <a:pt x="20" y="310"/>
                  <a:pt x="20" y="310"/>
                  <a:pt x="20" y="310"/>
                </a:cubicBezTo>
                <a:cubicBezTo>
                  <a:pt x="139" y="310"/>
                  <a:pt x="139" y="310"/>
                  <a:pt x="139" y="310"/>
                </a:cubicBezTo>
                <a:cubicBezTo>
                  <a:pt x="139" y="319"/>
                  <a:pt x="139" y="319"/>
                  <a:pt x="139" y="319"/>
                </a:cubicBezTo>
                <a:cubicBezTo>
                  <a:pt x="139" y="325"/>
                  <a:pt x="139" y="331"/>
                  <a:pt x="140" y="338"/>
                </a:cubicBezTo>
                <a:cubicBezTo>
                  <a:pt x="141" y="348"/>
                  <a:pt x="141" y="348"/>
                  <a:pt x="141" y="348"/>
                </a:cubicBezTo>
                <a:cubicBezTo>
                  <a:pt x="141" y="357"/>
                  <a:pt x="142" y="367"/>
                  <a:pt x="144" y="37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0" y="6832041"/>
            <a:ext cx="3876675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8315325" y="6832041"/>
            <a:ext cx="3876675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3960338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5412001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6863664" y="6832041"/>
            <a:ext cx="136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98380" y="359298"/>
            <a:ext cx="2103385" cy="331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136"/>
            <a:ext cx="12192000" cy="6847728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72026" y="263529"/>
            <a:ext cx="10363200" cy="599331"/>
          </a:xfrm>
          <a:prstGeom prst="rect">
            <a:avLst/>
          </a:prstGeom>
        </p:spPr>
        <p:txBody>
          <a:bodyPr tIns="72000">
            <a:normAutofit/>
          </a:bodyPr>
          <a:lstStyle>
            <a:lvl1pPr>
              <a:defRPr sz="3000" b="1">
                <a:latin typeface="HarmonyOS Sans SC" panose="00000500000000000000" charset="-122"/>
                <a:ea typeface="HarmonyOS Sans SC" panose="000005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39780" y="311823"/>
            <a:ext cx="306067" cy="408433"/>
            <a:chOff x="339780" y="427935"/>
            <a:chExt cx="306067" cy="408433"/>
          </a:xfrm>
        </p:grpSpPr>
        <p:sp>
          <p:nvSpPr>
            <p:cNvPr id="2" name="矩形 1"/>
            <p:cNvSpPr/>
            <p:nvPr userDrawn="1"/>
          </p:nvSpPr>
          <p:spPr>
            <a:xfrm>
              <a:off x="534722" y="427935"/>
              <a:ext cx="111125" cy="408433"/>
            </a:xfrm>
            <a:prstGeom prst="rect">
              <a:avLst/>
            </a:prstGeom>
            <a:gradFill>
              <a:gsLst>
                <a:gs pos="0">
                  <a:srgbClr val="FF0000">
                    <a:alpha val="0"/>
                  </a:srgbClr>
                </a:gs>
                <a:gs pos="100000">
                  <a:srgbClr val="FF0000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 userDrawn="1"/>
          </p:nvSpPr>
          <p:spPr>
            <a:xfrm>
              <a:off x="339780" y="558904"/>
              <a:ext cx="111125" cy="277464"/>
            </a:xfrm>
            <a:prstGeom prst="rect">
              <a:avLst/>
            </a:prstGeom>
            <a:gradFill>
              <a:gsLst>
                <a:gs pos="0">
                  <a:srgbClr val="265EFA">
                    <a:alpha val="0"/>
                  </a:srgbClr>
                </a:gs>
                <a:gs pos="100000">
                  <a:srgbClr val="0101D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 userDrawn="1"/>
        </p:nvSpPr>
        <p:spPr>
          <a:xfrm>
            <a:off x="10461215" y="6447305"/>
            <a:ext cx="1540550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www.dameng.com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339780" y="6447305"/>
            <a:ext cx="2185214" cy="295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HarmonyOS Sans SC" panose="00000500000000000000" charset="-122"/>
                <a:ea typeface="HarmonyOS Sans SC" panose="00000500000000000000" charset="-122"/>
              </a:rPr>
              <a:t>打造中国的世界级数据库品牌</a:t>
            </a:r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10239375" y="6509152"/>
            <a:ext cx="222250" cy="222250"/>
          </a:xfrm>
          <a:custGeom>
            <a:avLst/>
            <a:gdLst>
              <a:gd name="T0" fmla="*/ 300 w 600"/>
              <a:gd name="T1" fmla="*/ 600 h 600"/>
              <a:gd name="T2" fmla="*/ 379 w 600"/>
              <a:gd name="T3" fmla="*/ 561 h 600"/>
              <a:gd name="T4" fmla="*/ 427 w 600"/>
              <a:gd name="T5" fmla="*/ 485 h 600"/>
              <a:gd name="T6" fmla="*/ 481 w 600"/>
              <a:gd name="T7" fmla="*/ 508 h 600"/>
              <a:gd name="T8" fmla="*/ 383 w 600"/>
              <a:gd name="T9" fmla="*/ 568 h 600"/>
              <a:gd name="T10" fmla="*/ 442 w 600"/>
              <a:gd name="T11" fmla="*/ 314 h 600"/>
              <a:gd name="T12" fmla="*/ 416 w 600"/>
              <a:gd name="T13" fmla="*/ 449 h 600"/>
              <a:gd name="T14" fmla="*/ 310 w 600"/>
              <a:gd name="T15" fmla="*/ 310 h 600"/>
              <a:gd name="T16" fmla="*/ 414 w 600"/>
              <a:gd name="T17" fmla="*/ 469 h 600"/>
              <a:gd name="T18" fmla="*/ 310 w 600"/>
              <a:gd name="T19" fmla="*/ 580 h 600"/>
              <a:gd name="T20" fmla="*/ 410 w 600"/>
              <a:gd name="T21" fmla="*/ 467 h 600"/>
              <a:gd name="T22" fmla="*/ 435 w 600"/>
              <a:gd name="T23" fmla="*/ 123 h 600"/>
              <a:gd name="T24" fmla="*/ 427 w 600"/>
              <a:gd name="T25" fmla="*/ 114 h 600"/>
              <a:gd name="T26" fmla="*/ 379 w 600"/>
              <a:gd name="T27" fmla="*/ 39 h 600"/>
              <a:gd name="T28" fmla="*/ 481 w 600"/>
              <a:gd name="T29" fmla="*/ 86 h 600"/>
              <a:gd name="T30" fmla="*/ 416 w 600"/>
              <a:gd name="T31" fmla="*/ 152 h 600"/>
              <a:gd name="T32" fmla="*/ 442 w 600"/>
              <a:gd name="T33" fmla="*/ 286 h 600"/>
              <a:gd name="T34" fmla="*/ 310 w 600"/>
              <a:gd name="T35" fmla="*/ 171 h 600"/>
              <a:gd name="T36" fmla="*/ 310 w 600"/>
              <a:gd name="T37" fmla="*/ 152 h 600"/>
              <a:gd name="T38" fmla="*/ 412 w 600"/>
              <a:gd name="T39" fmla="*/ 128 h 600"/>
              <a:gd name="T40" fmla="*/ 314 w 600"/>
              <a:gd name="T41" fmla="*/ 152 h 600"/>
              <a:gd name="T42" fmla="*/ 496 w 600"/>
              <a:gd name="T43" fmla="*/ 495 h 600"/>
              <a:gd name="T44" fmla="*/ 440 w 600"/>
              <a:gd name="T45" fmla="*/ 451 h 600"/>
              <a:gd name="T46" fmla="*/ 460 w 600"/>
              <a:gd name="T47" fmla="*/ 348 h 600"/>
              <a:gd name="T48" fmla="*/ 462 w 600"/>
              <a:gd name="T49" fmla="*/ 310 h 600"/>
              <a:gd name="T50" fmla="*/ 502 w 600"/>
              <a:gd name="T51" fmla="*/ 495 h 600"/>
              <a:gd name="T52" fmla="*/ 457 w 600"/>
              <a:gd name="T53" fmla="*/ 225 h 600"/>
              <a:gd name="T54" fmla="*/ 437 w 600"/>
              <a:gd name="T55" fmla="*/ 143 h 600"/>
              <a:gd name="T56" fmla="*/ 499 w 600"/>
              <a:gd name="T57" fmla="*/ 103 h 600"/>
              <a:gd name="T58" fmla="*/ 580 w 600"/>
              <a:gd name="T59" fmla="*/ 291 h 600"/>
              <a:gd name="T60" fmla="*/ 461 w 600"/>
              <a:gd name="T61" fmla="*/ 263 h 600"/>
              <a:gd name="T62" fmla="*/ 204 w 600"/>
              <a:gd name="T63" fmla="*/ 59 h 600"/>
              <a:gd name="T64" fmla="*/ 170 w 600"/>
              <a:gd name="T65" fmla="*/ 125 h 600"/>
              <a:gd name="T66" fmla="*/ 115 w 600"/>
              <a:gd name="T67" fmla="*/ 90 h 600"/>
              <a:gd name="T68" fmla="*/ 232 w 600"/>
              <a:gd name="T69" fmla="*/ 28 h 600"/>
              <a:gd name="T70" fmla="*/ 179 w 600"/>
              <a:gd name="T71" fmla="*/ 154 h 600"/>
              <a:gd name="T72" fmla="*/ 287 w 600"/>
              <a:gd name="T73" fmla="*/ 171 h 600"/>
              <a:gd name="T74" fmla="*/ 158 w 600"/>
              <a:gd name="T75" fmla="*/ 291 h 600"/>
              <a:gd name="T76" fmla="*/ 188 w 600"/>
              <a:gd name="T77" fmla="*/ 128 h 600"/>
              <a:gd name="T78" fmla="*/ 290 w 600"/>
              <a:gd name="T79" fmla="*/ 152 h 600"/>
              <a:gd name="T80" fmla="*/ 186 w 600"/>
              <a:gd name="T81" fmla="*/ 132 h 600"/>
              <a:gd name="T82" fmla="*/ 171 w 600"/>
              <a:gd name="T83" fmla="*/ 480 h 600"/>
              <a:gd name="T84" fmla="*/ 204 w 600"/>
              <a:gd name="T85" fmla="*/ 541 h 600"/>
              <a:gd name="T86" fmla="*/ 221 w 600"/>
              <a:gd name="T87" fmla="*/ 561 h 600"/>
              <a:gd name="T88" fmla="*/ 119 w 600"/>
              <a:gd name="T89" fmla="*/ 514 h 600"/>
              <a:gd name="T90" fmla="*/ 184 w 600"/>
              <a:gd name="T91" fmla="*/ 449 h 600"/>
              <a:gd name="T92" fmla="*/ 158 w 600"/>
              <a:gd name="T93" fmla="*/ 314 h 600"/>
              <a:gd name="T94" fmla="*/ 290 w 600"/>
              <a:gd name="T95" fmla="*/ 429 h 600"/>
              <a:gd name="T96" fmla="*/ 290 w 600"/>
              <a:gd name="T97" fmla="*/ 449 h 600"/>
              <a:gd name="T98" fmla="*/ 188 w 600"/>
              <a:gd name="T99" fmla="*/ 473 h 600"/>
              <a:gd name="T100" fmla="*/ 286 w 600"/>
              <a:gd name="T101" fmla="*/ 449 h 600"/>
              <a:gd name="T102" fmla="*/ 141 w 600"/>
              <a:gd name="T103" fmla="*/ 254 h 600"/>
              <a:gd name="T104" fmla="*/ 139 w 600"/>
              <a:gd name="T105" fmla="*/ 291 h 600"/>
              <a:gd name="T106" fmla="*/ 99 w 600"/>
              <a:gd name="T107" fmla="*/ 105 h 600"/>
              <a:gd name="T108" fmla="*/ 160 w 600"/>
              <a:gd name="T109" fmla="*/ 141 h 600"/>
              <a:gd name="T110" fmla="*/ 145 w 600"/>
              <a:gd name="T111" fmla="*/ 216 h 600"/>
              <a:gd name="T112" fmla="*/ 145 w 600"/>
              <a:gd name="T113" fmla="*/ 384 h 600"/>
              <a:gd name="T114" fmla="*/ 160 w 600"/>
              <a:gd name="T115" fmla="*/ 459 h 600"/>
              <a:gd name="T116" fmla="*/ 99 w 600"/>
              <a:gd name="T117" fmla="*/ 495 h 600"/>
              <a:gd name="T118" fmla="*/ 139 w 600"/>
              <a:gd name="T119" fmla="*/ 310 h 600"/>
              <a:gd name="T120" fmla="*/ 141 w 600"/>
              <a:gd name="T121" fmla="*/ 348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00" h="600">
                <a:moveTo>
                  <a:pt x="300" y="0"/>
                </a:moveTo>
                <a:cubicBezTo>
                  <a:pt x="135" y="0"/>
                  <a:pt x="0" y="135"/>
                  <a:pt x="0" y="300"/>
                </a:cubicBezTo>
                <a:cubicBezTo>
                  <a:pt x="0" y="466"/>
                  <a:pt x="135" y="600"/>
                  <a:pt x="300" y="600"/>
                </a:cubicBezTo>
                <a:cubicBezTo>
                  <a:pt x="466" y="600"/>
                  <a:pt x="600" y="466"/>
                  <a:pt x="600" y="300"/>
                </a:cubicBezTo>
                <a:cubicBezTo>
                  <a:pt x="600" y="135"/>
                  <a:pt x="466" y="0"/>
                  <a:pt x="300" y="0"/>
                </a:cubicBezTo>
                <a:close/>
                <a:moveTo>
                  <a:pt x="379" y="561"/>
                </a:moveTo>
                <a:cubicBezTo>
                  <a:pt x="385" y="556"/>
                  <a:pt x="390" y="549"/>
                  <a:pt x="396" y="541"/>
                </a:cubicBezTo>
                <a:cubicBezTo>
                  <a:pt x="398" y="539"/>
                  <a:pt x="398" y="539"/>
                  <a:pt x="398" y="539"/>
                </a:cubicBezTo>
                <a:cubicBezTo>
                  <a:pt x="409" y="524"/>
                  <a:pt x="418" y="506"/>
                  <a:pt x="427" y="485"/>
                </a:cubicBezTo>
                <a:cubicBezTo>
                  <a:pt x="431" y="476"/>
                  <a:pt x="431" y="476"/>
                  <a:pt x="431" y="476"/>
                </a:cubicBezTo>
                <a:cubicBezTo>
                  <a:pt x="435" y="478"/>
                  <a:pt x="435" y="478"/>
                  <a:pt x="435" y="478"/>
                </a:cubicBezTo>
                <a:cubicBezTo>
                  <a:pt x="452" y="486"/>
                  <a:pt x="467" y="496"/>
                  <a:pt x="481" y="508"/>
                </a:cubicBezTo>
                <a:cubicBezTo>
                  <a:pt x="485" y="511"/>
                  <a:pt x="485" y="511"/>
                  <a:pt x="485" y="511"/>
                </a:cubicBezTo>
                <a:cubicBezTo>
                  <a:pt x="481" y="514"/>
                  <a:pt x="481" y="514"/>
                  <a:pt x="481" y="514"/>
                </a:cubicBezTo>
                <a:cubicBezTo>
                  <a:pt x="453" y="539"/>
                  <a:pt x="419" y="557"/>
                  <a:pt x="383" y="568"/>
                </a:cubicBezTo>
                <a:cubicBezTo>
                  <a:pt x="368" y="573"/>
                  <a:pt x="368" y="573"/>
                  <a:pt x="368" y="573"/>
                </a:cubicBezTo>
                <a:cubicBezTo>
                  <a:pt x="379" y="561"/>
                  <a:pt x="379" y="561"/>
                  <a:pt x="379" y="561"/>
                </a:cubicBezTo>
                <a:close/>
                <a:moveTo>
                  <a:pt x="442" y="314"/>
                </a:moveTo>
                <a:cubicBezTo>
                  <a:pt x="441" y="361"/>
                  <a:pt x="434" y="406"/>
                  <a:pt x="421" y="446"/>
                </a:cubicBezTo>
                <a:cubicBezTo>
                  <a:pt x="420" y="451"/>
                  <a:pt x="420" y="451"/>
                  <a:pt x="420" y="451"/>
                </a:cubicBezTo>
                <a:cubicBezTo>
                  <a:pt x="416" y="449"/>
                  <a:pt x="416" y="449"/>
                  <a:pt x="416" y="449"/>
                </a:cubicBezTo>
                <a:cubicBezTo>
                  <a:pt x="385" y="437"/>
                  <a:pt x="350" y="431"/>
                  <a:pt x="314" y="429"/>
                </a:cubicBezTo>
                <a:cubicBezTo>
                  <a:pt x="310" y="429"/>
                  <a:pt x="310" y="429"/>
                  <a:pt x="310" y="429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442" y="310"/>
                  <a:pt x="442" y="310"/>
                  <a:pt x="442" y="310"/>
                </a:cubicBezTo>
                <a:lnTo>
                  <a:pt x="442" y="314"/>
                </a:lnTo>
                <a:close/>
                <a:moveTo>
                  <a:pt x="414" y="469"/>
                </a:moveTo>
                <a:cubicBezTo>
                  <a:pt x="412" y="473"/>
                  <a:pt x="412" y="473"/>
                  <a:pt x="412" y="473"/>
                </a:cubicBezTo>
                <a:cubicBezTo>
                  <a:pt x="388" y="534"/>
                  <a:pt x="354" y="572"/>
                  <a:pt x="315" y="579"/>
                </a:cubicBezTo>
                <a:cubicBezTo>
                  <a:pt x="310" y="580"/>
                  <a:pt x="310" y="580"/>
                  <a:pt x="310" y="580"/>
                </a:cubicBezTo>
                <a:cubicBezTo>
                  <a:pt x="310" y="449"/>
                  <a:pt x="310" y="449"/>
                  <a:pt x="310" y="449"/>
                </a:cubicBezTo>
                <a:cubicBezTo>
                  <a:pt x="314" y="449"/>
                  <a:pt x="314" y="449"/>
                  <a:pt x="314" y="449"/>
                </a:cubicBezTo>
                <a:cubicBezTo>
                  <a:pt x="348" y="450"/>
                  <a:pt x="381" y="456"/>
                  <a:pt x="410" y="467"/>
                </a:cubicBezTo>
                <a:lnTo>
                  <a:pt x="414" y="469"/>
                </a:lnTo>
                <a:close/>
                <a:moveTo>
                  <a:pt x="481" y="93"/>
                </a:moveTo>
                <a:cubicBezTo>
                  <a:pt x="467" y="104"/>
                  <a:pt x="451" y="114"/>
                  <a:pt x="435" y="123"/>
                </a:cubicBezTo>
                <a:cubicBezTo>
                  <a:pt x="430" y="123"/>
                  <a:pt x="430" y="123"/>
                  <a:pt x="430" y="123"/>
                </a:cubicBezTo>
                <a:cubicBezTo>
                  <a:pt x="429" y="119"/>
                  <a:pt x="429" y="119"/>
                  <a:pt x="429" y="119"/>
                </a:cubicBezTo>
                <a:cubicBezTo>
                  <a:pt x="427" y="114"/>
                  <a:pt x="427" y="114"/>
                  <a:pt x="427" y="114"/>
                </a:cubicBezTo>
                <a:cubicBezTo>
                  <a:pt x="419" y="95"/>
                  <a:pt x="409" y="78"/>
                  <a:pt x="397" y="61"/>
                </a:cubicBezTo>
                <a:cubicBezTo>
                  <a:pt x="396" y="59"/>
                  <a:pt x="396" y="59"/>
                  <a:pt x="396" y="59"/>
                </a:cubicBezTo>
                <a:cubicBezTo>
                  <a:pt x="391" y="52"/>
                  <a:pt x="385" y="45"/>
                  <a:pt x="379" y="39"/>
                </a:cubicBezTo>
                <a:cubicBezTo>
                  <a:pt x="368" y="28"/>
                  <a:pt x="368" y="28"/>
                  <a:pt x="368" y="28"/>
                </a:cubicBezTo>
                <a:cubicBezTo>
                  <a:pt x="383" y="32"/>
                  <a:pt x="383" y="32"/>
                  <a:pt x="383" y="32"/>
                </a:cubicBezTo>
                <a:cubicBezTo>
                  <a:pt x="419" y="43"/>
                  <a:pt x="453" y="62"/>
                  <a:pt x="481" y="86"/>
                </a:cubicBezTo>
                <a:cubicBezTo>
                  <a:pt x="485" y="89"/>
                  <a:pt x="485" y="89"/>
                  <a:pt x="485" y="89"/>
                </a:cubicBezTo>
                <a:cubicBezTo>
                  <a:pt x="481" y="93"/>
                  <a:pt x="481" y="93"/>
                  <a:pt x="481" y="93"/>
                </a:cubicBezTo>
                <a:close/>
                <a:moveTo>
                  <a:pt x="416" y="152"/>
                </a:moveTo>
                <a:cubicBezTo>
                  <a:pt x="420" y="150"/>
                  <a:pt x="420" y="150"/>
                  <a:pt x="420" y="150"/>
                </a:cubicBezTo>
                <a:cubicBezTo>
                  <a:pt x="421" y="154"/>
                  <a:pt x="421" y="154"/>
                  <a:pt x="421" y="154"/>
                </a:cubicBezTo>
                <a:cubicBezTo>
                  <a:pt x="434" y="194"/>
                  <a:pt x="441" y="240"/>
                  <a:pt x="442" y="286"/>
                </a:cubicBezTo>
                <a:cubicBezTo>
                  <a:pt x="442" y="291"/>
                  <a:pt x="442" y="291"/>
                  <a:pt x="442" y="291"/>
                </a:cubicBezTo>
                <a:cubicBezTo>
                  <a:pt x="310" y="291"/>
                  <a:pt x="310" y="291"/>
                  <a:pt x="310" y="291"/>
                </a:cubicBezTo>
                <a:cubicBezTo>
                  <a:pt x="310" y="171"/>
                  <a:pt x="310" y="171"/>
                  <a:pt x="310" y="171"/>
                </a:cubicBezTo>
                <a:cubicBezTo>
                  <a:pt x="314" y="171"/>
                  <a:pt x="314" y="171"/>
                  <a:pt x="314" y="171"/>
                </a:cubicBezTo>
                <a:cubicBezTo>
                  <a:pt x="350" y="170"/>
                  <a:pt x="385" y="163"/>
                  <a:pt x="416" y="152"/>
                </a:cubicBezTo>
                <a:close/>
                <a:moveTo>
                  <a:pt x="310" y="152"/>
                </a:moveTo>
                <a:cubicBezTo>
                  <a:pt x="310" y="20"/>
                  <a:pt x="310" y="20"/>
                  <a:pt x="310" y="20"/>
                </a:cubicBezTo>
                <a:cubicBezTo>
                  <a:pt x="315" y="21"/>
                  <a:pt x="315" y="21"/>
                  <a:pt x="315" y="21"/>
                </a:cubicBezTo>
                <a:cubicBezTo>
                  <a:pt x="354" y="29"/>
                  <a:pt x="388" y="67"/>
                  <a:pt x="412" y="128"/>
                </a:cubicBezTo>
                <a:cubicBezTo>
                  <a:pt x="414" y="132"/>
                  <a:pt x="414" y="132"/>
                  <a:pt x="414" y="132"/>
                </a:cubicBezTo>
                <a:cubicBezTo>
                  <a:pt x="410" y="133"/>
                  <a:pt x="410" y="133"/>
                  <a:pt x="410" y="133"/>
                </a:cubicBezTo>
                <a:cubicBezTo>
                  <a:pt x="381" y="144"/>
                  <a:pt x="348" y="150"/>
                  <a:pt x="314" y="152"/>
                </a:cubicBezTo>
                <a:lnTo>
                  <a:pt x="310" y="152"/>
                </a:lnTo>
                <a:close/>
                <a:moveTo>
                  <a:pt x="499" y="498"/>
                </a:moveTo>
                <a:cubicBezTo>
                  <a:pt x="496" y="495"/>
                  <a:pt x="496" y="495"/>
                  <a:pt x="496" y="495"/>
                </a:cubicBezTo>
                <a:cubicBezTo>
                  <a:pt x="479" y="481"/>
                  <a:pt x="461" y="469"/>
                  <a:pt x="441" y="459"/>
                </a:cubicBezTo>
                <a:cubicBezTo>
                  <a:pt x="437" y="458"/>
                  <a:pt x="437" y="458"/>
                  <a:pt x="437" y="458"/>
                </a:cubicBezTo>
                <a:cubicBezTo>
                  <a:pt x="440" y="451"/>
                  <a:pt x="440" y="451"/>
                  <a:pt x="440" y="451"/>
                </a:cubicBezTo>
                <a:cubicBezTo>
                  <a:pt x="446" y="430"/>
                  <a:pt x="452" y="407"/>
                  <a:pt x="455" y="384"/>
                </a:cubicBezTo>
                <a:cubicBezTo>
                  <a:pt x="457" y="375"/>
                  <a:pt x="457" y="375"/>
                  <a:pt x="457" y="375"/>
                </a:cubicBezTo>
                <a:cubicBezTo>
                  <a:pt x="458" y="366"/>
                  <a:pt x="459" y="357"/>
                  <a:pt x="460" y="348"/>
                </a:cubicBezTo>
                <a:cubicBezTo>
                  <a:pt x="461" y="338"/>
                  <a:pt x="461" y="338"/>
                  <a:pt x="461" y="338"/>
                </a:cubicBezTo>
                <a:cubicBezTo>
                  <a:pt x="461" y="332"/>
                  <a:pt x="461" y="326"/>
                  <a:pt x="461" y="320"/>
                </a:cubicBezTo>
                <a:cubicBezTo>
                  <a:pt x="462" y="310"/>
                  <a:pt x="462" y="310"/>
                  <a:pt x="462" y="310"/>
                </a:cubicBezTo>
                <a:cubicBezTo>
                  <a:pt x="580" y="310"/>
                  <a:pt x="580" y="310"/>
                  <a:pt x="580" y="310"/>
                </a:cubicBezTo>
                <a:cubicBezTo>
                  <a:pt x="580" y="314"/>
                  <a:pt x="580" y="314"/>
                  <a:pt x="580" y="314"/>
                </a:cubicBezTo>
                <a:cubicBezTo>
                  <a:pt x="577" y="382"/>
                  <a:pt x="549" y="446"/>
                  <a:pt x="502" y="495"/>
                </a:cubicBezTo>
                <a:cubicBezTo>
                  <a:pt x="499" y="498"/>
                  <a:pt x="499" y="498"/>
                  <a:pt x="499" y="498"/>
                </a:cubicBezTo>
                <a:close/>
                <a:moveTo>
                  <a:pt x="460" y="253"/>
                </a:moveTo>
                <a:cubicBezTo>
                  <a:pt x="459" y="244"/>
                  <a:pt x="458" y="234"/>
                  <a:pt x="457" y="225"/>
                </a:cubicBezTo>
                <a:cubicBezTo>
                  <a:pt x="455" y="216"/>
                  <a:pt x="455" y="216"/>
                  <a:pt x="455" y="216"/>
                </a:cubicBezTo>
                <a:cubicBezTo>
                  <a:pt x="452" y="193"/>
                  <a:pt x="447" y="171"/>
                  <a:pt x="440" y="149"/>
                </a:cubicBezTo>
                <a:cubicBezTo>
                  <a:pt x="437" y="143"/>
                  <a:pt x="437" y="143"/>
                  <a:pt x="437" y="143"/>
                </a:cubicBezTo>
                <a:cubicBezTo>
                  <a:pt x="441" y="141"/>
                  <a:pt x="441" y="141"/>
                  <a:pt x="441" y="141"/>
                </a:cubicBezTo>
                <a:cubicBezTo>
                  <a:pt x="461" y="132"/>
                  <a:pt x="479" y="120"/>
                  <a:pt x="496" y="105"/>
                </a:cubicBezTo>
                <a:cubicBezTo>
                  <a:pt x="499" y="103"/>
                  <a:pt x="499" y="103"/>
                  <a:pt x="499" y="103"/>
                </a:cubicBezTo>
                <a:cubicBezTo>
                  <a:pt x="502" y="105"/>
                  <a:pt x="502" y="105"/>
                  <a:pt x="502" y="105"/>
                </a:cubicBezTo>
                <a:cubicBezTo>
                  <a:pt x="549" y="154"/>
                  <a:pt x="577" y="218"/>
                  <a:pt x="580" y="286"/>
                </a:cubicBezTo>
                <a:cubicBezTo>
                  <a:pt x="580" y="291"/>
                  <a:pt x="580" y="291"/>
                  <a:pt x="580" y="291"/>
                </a:cubicBezTo>
                <a:cubicBezTo>
                  <a:pt x="462" y="291"/>
                  <a:pt x="462" y="291"/>
                  <a:pt x="462" y="291"/>
                </a:cubicBezTo>
                <a:cubicBezTo>
                  <a:pt x="461" y="280"/>
                  <a:pt x="461" y="280"/>
                  <a:pt x="461" y="280"/>
                </a:cubicBezTo>
                <a:cubicBezTo>
                  <a:pt x="461" y="274"/>
                  <a:pt x="461" y="269"/>
                  <a:pt x="461" y="263"/>
                </a:cubicBezTo>
                <a:cubicBezTo>
                  <a:pt x="460" y="253"/>
                  <a:pt x="460" y="253"/>
                  <a:pt x="460" y="253"/>
                </a:cubicBezTo>
                <a:close/>
                <a:moveTo>
                  <a:pt x="221" y="39"/>
                </a:moveTo>
                <a:cubicBezTo>
                  <a:pt x="215" y="45"/>
                  <a:pt x="209" y="52"/>
                  <a:pt x="204" y="59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1" y="78"/>
                  <a:pt x="182" y="95"/>
                  <a:pt x="174" y="114"/>
                </a:cubicBezTo>
                <a:cubicBezTo>
                  <a:pt x="170" y="125"/>
                  <a:pt x="170" y="125"/>
                  <a:pt x="170" y="125"/>
                </a:cubicBezTo>
                <a:cubicBezTo>
                  <a:pt x="166" y="123"/>
                  <a:pt x="166" y="123"/>
                  <a:pt x="166" y="123"/>
                </a:cubicBezTo>
                <a:cubicBezTo>
                  <a:pt x="149" y="115"/>
                  <a:pt x="133" y="104"/>
                  <a:pt x="119" y="93"/>
                </a:cubicBezTo>
                <a:cubicBezTo>
                  <a:pt x="115" y="90"/>
                  <a:pt x="115" y="90"/>
                  <a:pt x="115" y="90"/>
                </a:cubicBezTo>
                <a:cubicBezTo>
                  <a:pt x="119" y="86"/>
                  <a:pt x="119" y="86"/>
                  <a:pt x="119" y="86"/>
                </a:cubicBezTo>
                <a:cubicBezTo>
                  <a:pt x="148" y="62"/>
                  <a:pt x="181" y="43"/>
                  <a:pt x="217" y="32"/>
                </a:cubicBezTo>
                <a:cubicBezTo>
                  <a:pt x="232" y="28"/>
                  <a:pt x="232" y="28"/>
                  <a:pt x="232" y="28"/>
                </a:cubicBezTo>
                <a:cubicBezTo>
                  <a:pt x="221" y="39"/>
                  <a:pt x="221" y="39"/>
                  <a:pt x="221" y="39"/>
                </a:cubicBezTo>
                <a:close/>
                <a:moveTo>
                  <a:pt x="158" y="286"/>
                </a:moveTo>
                <a:cubicBezTo>
                  <a:pt x="159" y="240"/>
                  <a:pt x="166" y="194"/>
                  <a:pt x="179" y="154"/>
                </a:cubicBezTo>
                <a:cubicBezTo>
                  <a:pt x="180" y="150"/>
                  <a:pt x="180" y="150"/>
                  <a:pt x="180" y="150"/>
                </a:cubicBezTo>
                <a:cubicBezTo>
                  <a:pt x="184" y="151"/>
                  <a:pt x="184" y="151"/>
                  <a:pt x="184" y="151"/>
                </a:cubicBezTo>
                <a:cubicBezTo>
                  <a:pt x="216" y="163"/>
                  <a:pt x="250" y="170"/>
                  <a:pt x="287" y="171"/>
                </a:cubicBezTo>
                <a:cubicBezTo>
                  <a:pt x="290" y="171"/>
                  <a:pt x="290" y="171"/>
                  <a:pt x="290" y="171"/>
                </a:cubicBezTo>
                <a:cubicBezTo>
                  <a:pt x="290" y="291"/>
                  <a:pt x="290" y="291"/>
                  <a:pt x="290" y="291"/>
                </a:cubicBezTo>
                <a:cubicBezTo>
                  <a:pt x="158" y="291"/>
                  <a:pt x="158" y="291"/>
                  <a:pt x="158" y="291"/>
                </a:cubicBezTo>
                <a:lnTo>
                  <a:pt x="158" y="286"/>
                </a:lnTo>
                <a:close/>
                <a:moveTo>
                  <a:pt x="186" y="132"/>
                </a:moveTo>
                <a:cubicBezTo>
                  <a:pt x="188" y="128"/>
                  <a:pt x="188" y="128"/>
                  <a:pt x="188" y="128"/>
                </a:cubicBezTo>
                <a:cubicBezTo>
                  <a:pt x="212" y="67"/>
                  <a:pt x="247" y="29"/>
                  <a:pt x="286" y="21"/>
                </a:cubicBezTo>
                <a:cubicBezTo>
                  <a:pt x="290" y="20"/>
                  <a:pt x="290" y="20"/>
                  <a:pt x="290" y="20"/>
                </a:cubicBezTo>
                <a:cubicBezTo>
                  <a:pt x="290" y="152"/>
                  <a:pt x="290" y="152"/>
                  <a:pt x="290" y="152"/>
                </a:cubicBezTo>
                <a:cubicBezTo>
                  <a:pt x="286" y="152"/>
                  <a:pt x="286" y="152"/>
                  <a:pt x="286" y="152"/>
                </a:cubicBezTo>
                <a:cubicBezTo>
                  <a:pt x="252" y="150"/>
                  <a:pt x="220" y="144"/>
                  <a:pt x="190" y="133"/>
                </a:cubicBezTo>
                <a:lnTo>
                  <a:pt x="186" y="132"/>
                </a:lnTo>
                <a:close/>
                <a:moveTo>
                  <a:pt x="119" y="508"/>
                </a:moveTo>
                <a:cubicBezTo>
                  <a:pt x="133" y="496"/>
                  <a:pt x="149" y="486"/>
                  <a:pt x="165" y="478"/>
                </a:cubicBezTo>
                <a:cubicBezTo>
                  <a:pt x="171" y="480"/>
                  <a:pt x="171" y="480"/>
                  <a:pt x="171" y="480"/>
                </a:cubicBezTo>
                <a:cubicBezTo>
                  <a:pt x="174" y="487"/>
                  <a:pt x="174" y="487"/>
                  <a:pt x="174" y="487"/>
                </a:cubicBezTo>
                <a:cubicBezTo>
                  <a:pt x="182" y="506"/>
                  <a:pt x="192" y="524"/>
                  <a:pt x="203" y="539"/>
                </a:cubicBezTo>
                <a:cubicBezTo>
                  <a:pt x="204" y="541"/>
                  <a:pt x="204" y="541"/>
                  <a:pt x="204" y="541"/>
                </a:cubicBezTo>
                <a:cubicBezTo>
                  <a:pt x="206" y="544"/>
                  <a:pt x="208" y="545"/>
                  <a:pt x="209" y="547"/>
                </a:cubicBezTo>
                <a:cubicBezTo>
                  <a:pt x="212" y="550"/>
                  <a:pt x="214" y="553"/>
                  <a:pt x="216" y="556"/>
                </a:cubicBezTo>
                <a:cubicBezTo>
                  <a:pt x="218" y="558"/>
                  <a:pt x="219" y="560"/>
                  <a:pt x="221" y="561"/>
                </a:cubicBezTo>
                <a:cubicBezTo>
                  <a:pt x="232" y="573"/>
                  <a:pt x="232" y="573"/>
                  <a:pt x="232" y="573"/>
                </a:cubicBezTo>
                <a:cubicBezTo>
                  <a:pt x="217" y="568"/>
                  <a:pt x="217" y="568"/>
                  <a:pt x="217" y="568"/>
                </a:cubicBezTo>
                <a:cubicBezTo>
                  <a:pt x="181" y="557"/>
                  <a:pt x="148" y="539"/>
                  <a:pt x="119" y="514"/>
                </a:cubicBezTo>
                <a:cubicBezTo>
                  <a:pt x="115" y="511"/>
                  <a:pt x="115" y="511"/>
                  <a:pt x="115" y="511"/>
                </a:cubicBezTo>
                <a:cubicBezTo>
                  <a:pt x="119" y="508"/>
                  <a:pt x="119" y="508"/>
                  <a:pt x="119" y="508"/>
                </a:cubicBezTo>
                <a:close/>
                <a:moveTo>
                  <a:pt x="184" y="449"/>
                </a:moveTo>
                <a:cubicBezTo>
                  <a:pt x="180" y="451"/>
                  <a:pt x="180" y="451"/>
                  <a:pt x="180" y="451"/>
                </a:cubicBezTo>
                <a:cubicBezTo>
                  <a:pt x="179" y="446"/>
                  <a:pt x="179" y="446"/>
                  <a:pt x="179" y="446"/>
                </a:cubicBezTo>
                <a:cubicBezTo>
                  <a:pt x="166" y="406"/>
                  <a:pt x="159" y="361"/>
                  <a:pt x="158" y="314"/>
                </a:cubicBezTo>
                <a:cubicBezTo>
                  <a:pt x="158" y="310"/>
                  <a:pt x="158" y="310"/>
                  <a:pt x="158" y="310"/>
                </a:cubicBezTo>
                <a:cubicBezTo>
                  <a:pt x="290" y="310"/>
                  <a:pt x="290" y="310"/>
                  <a:pt x="290" y="310"/>
                </a:cubicBezTo>
                <a:cubicBezTo>
                  <a:pt x="290" y="429"/>
                  <a:pt x="290" y="429"/>
                  <a:pt x="290" y="429"/>
                </a:cubicBezTo>
                <a:cubicBezTo>
                  <a:pt x="286" y="429"/>
                  <a:pt x="286" y="429"/>
                  <a:pt x="286" y="429"/>
                </a:cubicBezTo>
                <a:cubicBezTo>
                  <a:pt x="250" y="431"/>
                  <a:pt x="216" y="437"/>
                  <a:pt x="184" y="449"/>
                </a:cubicBezTo>
                <a:close/>
                <a:moveTo>
                  <a:pt x="290" y="449"/>
                </a:moveTo>
                <a:cubicBezTo>
                  <a:pt x="290" y="580"/>
                  <a:pt x="290" y="580"/>
                  <a:pt x="290" y="580"/>
                </a:cubicBezTo>
                <a:cubicBezTo>
                  <a:pt x="286" y="579"/>
                  <a:pt x="286" y="579"/>
                  <a:pt x="286" y="579"/>
                </a:cubicBezTo>
                <a:cubicBezTo>
                  <a:pt x="247" y="572"/>
                  <a:pt x="212" y="534"/>
                  <a:pt x="188" y="473"/>
                </a:cubicBezTo>
                <a:cubicBezTo>
                  <a:pt x="186" y="469"/>
                  <a:pt x="186" y="469"/>
                  <a:pt x="186" y="469"/>
                </a:cubicBezTo>
                <a:cubicBezTo>
                  <a:pt x="190" y="467"/>
                  <a:pt x="190" y="467"/>
                  <a:pt x="190" y="467"/>
                </a:cubicBezTo>
                <a:cubicBezTo>
                  <a:pt x="220" y="456"/>
                  <a:pt x="252" y="450"/>
                  <a:pt x="286" y="449"/>
                </a:cubicBezTo>
                <a:cubicBezTo>
                  <a:pt x="290" y="449"/>
                  <a:pt x="290" y="449"/>
                  <a:pt x="290" y="449"/>
                </a:cubicBezTo>
                <a:close/>
                <a:moveTo>
                  <a:pt x="144" y="225"/>
                </a:moveTo>
                <a:cubicBezTo>
                  <a:pt x="142" y="234"/>
                  <a:pt x="141" y="243"/>
                  <a:pt x="141" y="254"/>
                </a:cubicBezTo>
                <a:cubicBezTo>
                  <a:pt x="140" y="263"/>
                  <a:pt x="140" y="263"/>
                  <a:pt x="140" y="263"/>
                </a:cubicBezTo>
                <a:cubicBezTo>
                  <a:pt x="139" y="269"/>
                  <a:pt x="139" y="275"/>
                  <a:pt x="139" y="282"/>
                </a:cubicBezTo>
                <a:cubicBezTo>
                  <a:pt x="139" y="291"/>
                  <a:pt x="139" y="291"/>
                  <a:pt x="139" y="291"/>
                </a:cubicBezTo>
                <a:cubicBezTo>
                  <a:pt x="20" y="291"/>
                  <a:pt x="20" y="291"/>
                  <a:pt x="20" y="291"/>
                </a:cubicBezTo>
                <a:cubicBezTo>
                  <a:pt x="20" y="286"/>
                  <a:pt x="20" y="286"/>
                  <a:pt x="20" y="286"/>
                </a:cubicBezTo>
                <a:cubicBezTo>
                  <a:pt x="24" y="218"/>
                  <a:pt x="51" y="154"/>
                  <a:pt x="99" y="105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21" y="119"/>
                  <a:pt x="140" y="131"/>
                  <a:pt x="160" y="141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9"/>
                  <a:pt x="161" y="149"/>
                  <a:pt x="161" y="149"/>
                </a:cubicBezTo>
                <a:cubicBezTo>
                  <a:pt x="154" y="171"/>
                  <a:pt x="149" y="193"/>
                  <a:pt x="145" y="216"/>
                </a:cubicBezTo>
                <a:lnTo>
                  <a:pt x="144" y="225"/>
                </a:lnTo>
                <a:close/>
                <a:moveTo>
                  <a:pt x="144" y="375"/>
                </a:moveTo>
                <a:cubicBezTo>
                  <a:pt x="145" y="384"/>
                  <a:pt x="145" y="384"/>
                  <a:pt x="145" y="384"/>
                </a:cubicBezTo>
                <a:cubicBezTo>
                  <a:pt x="149" y="408"/>
                  <a:pt x="154" y="430"/>
                  <a:pt x="161" y="451"/>
                </a:cubicBezTo>
                <a:cubicBezTo>
                  <a:pt x="163" y="458"/>
                  <a:pt x="163" y="458"/>
                  <a:pt x="163" y="458"/>
                </a:cubicBezTo>
                <a:cubicBezTo>
                  <a:pt x="160" y="459"/>
                  <a:pt x="160" y="459"/>
                  <a:pt x="160" y="459"/>
                </a:cubicBezTo>
                <a:cubicBezTo>
                  <a:pt x="139" y="469"/>
                  <a:pt x="121" y="481"/>
                  <a:pt x="104" y="495"/>
                </a:cubicBezTo>
                <a:cubicBezTo>
                  <a:pt x="101" y="498"/>
                  <a:pt x="101" y="498"/>
                  <a:pt x="101" y="498"/>
                </a:cubicBezTo>
                <a:cubicBezTo>
                  <a:pt x="99" y="495"/>
                  <a:pt x="99" y="495"/>
                  <a:pt x="99" y="495"/>
                </a:cubicBezTo>
                <a:cubicBezTo>
                  <a:pt x="52" y="446"/>
                  <a:pt x="24" y="382"/>
                  <a:pt x="20" y="314"/>
                </a:cubicBezTo>
                <a:cubicBezTo>
                  <a:pt x="20" y="310"/>
                  <a:pt x="20" y="310"/>
                  <a:pt x="20" y="310"/>
                </a:cubicBezTo>
                <a:cubicBezTo>
                  <a:pt x="139" y="310"/>
                  <a:pt x="139" y="310"/>
                  <a:pt x="139" y="310"/>
                </a:cubicBezTo>
                <a:cubicBezTo>
                  <a:pt x="139" y="319"/>
                  <a:pt x="139" y="319"/>
                  <a:pt x="139" y="319"/>
                </a:cubicBezTo>
                <a:cubicBezTo>
                  <a:pt x="139" y="325"/>
                  <a:pt x="139" y="331"/>
                  <a:pt x="140" y="338"/>
                </a:cubicBezTo>
                <a:cubicBezTo>
                  <a:pt x="141" y="348"/>
                  <a:pt x="141" y="348"/>
                  <a:pt x="141" y="348"/>
                </a:cubicBezTo>
                <a:cubicBezTo>
                  <a:pt x="141" y="357"/>
                  <a:pt x="142" y="367"/>
                  <a:pt x="144" y="37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98380" y="359298"/>
            <a:ext cx="2103385" cy="331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F1246F1-35CF-9E91-9B3F-DA27DFBE13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2765207-B73B-29D4-7D49-32578124B3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6150" y="398029"/>
            <a:ext cx="2590805" cy="408433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F70196D6-3E5C-FCF8-C3EC-CFFE829B7B51}"/>
              </a:ext>
            </a:extLst>
          </p:cNvPr>
          <p:cNvGrpSpPr/>
          <p:nvPr userDrawn="1"/>
        </p:nvGrpSpPr>
        <p:grpSpPr>
          <a:xfrm>
            <a:off x="2154427" y="5067417"/>
            <a:ext cx="2852063" cy="1380888"/>
            <a:chOff x="476150" y="5154565"/>
            <a:chExt cx="2852063" cy="1380888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2DDCE7F-8B3C-7D8B-D577-72F560CD44D8}"/>
                </a:ext>
              </a:extLst>
            </p:cNvPr>
            <p:cNvSpPr txBox="1"/>
            <p:nvPr/>
          </p:nvSpPr>
          <p:spPr>
            <a:xfrm>
              <a:off x="476150" y="5154565"/>
              <a:ext cx="2852063" cy="3754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武汉达梦数据库股份有限公司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244E37E-A07A-44E2-46BE-23FC5742EC42}"/>
                </a:ext>
              </a:extLst>
            </p:cNvPr>
            <p:cNvSpPr txBox="1"/>
            <p:nvPr/>
          </p:nvSpPr>
          <p:spPr>
            <a:xfrm>
              <a:off x="476150" y="5651110"/>
              <a:ext cx="2113079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www.dameng.com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74E6F5D-9EC8-D167-A1DB-B004ED4A8197}"/>
                </a:ext>
              </a:extLst>
            </p:cNvPr>
            <p:cNvSpPr txBox="1"/>
            <p:nvPr/>
          </p:nvSpPr>
          <p:spPr>
            <a:xfrm>
              <a:off x="476150" y="6147655"/>
              <a:ext cx="1661032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400-991-6599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99EFD05-4610-7A1A-5215-A41881E2E11B}"/>
              </a:ext>
            </a:extLst>
          </p:cNvPr>
          <p:cNvSpPr txBox="1"/>
          <p:nvPr userDrawn="1"/>
        </p:nvSpPr>
        <p:spPr>
          <a:xfrm>
            <a:off x="476150" y="1955216"/>
            <a:ext cx="3877985" cy="136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7200" b="1" dirty="0">
                <a:solidFill>
                  <a:srgbClr val="020202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感谢聆听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D62384-F5F8-E41B-6363-64162AEFB465}"/>
              </a:ext>
            </a:extLst>
          </p:cNvPr>
          <p:cNvSpPr txBox="1"/>
          <p:nvPr userDrawn="1"/>
        </p:nvSpPr>
        <p:spPr>
          <a:xfrm>
            <a:off x="552255" y="3321635"/>
            <a:ext cx="4185761" cy="517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D2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打造中国的世界级数据库品牌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4E600B1-1006-1E57-A0B4-0811B3B1C18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6521" y="5048028"/>
            <a:ext cx="1419669" cy="141966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3" r:id="rId2"/>
    <p:sldLayoutId id="2147483661" r:id="rId3"/>
    <p:sldLayoutId id="2147483650" r:id="rId4"/>
    <p:sldLayoutId id="2147483656" r:id="rId5"/>
    <p:sldLayoutId id="2147483657" r:id="rId6"/>
    <p:sldLayoutId id="2147483658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AE1B6-7FF0-D13D-14AE-9FB50149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EB86922-BE21-C063-295F-2597BC72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A6DE42-9542-3187-564E-EA03B13C0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endParaRPr lang="zh-CN" altLang="en-US" dirty="0">
              <a:latin typeface="Poppins" panose="02000000000000000000" pitchFamily="2" charset="0"/>
              <a:sym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7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9A024-955D-C435-165F-CE8F9401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A99AA18-6720-6161-0E94-05116836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773896-8062-BA4E-C6C5-556A37FF7812}"/>
              </a:ext>
            </a:extLst>
          </p:cNvPr>
          <p:cNvSpPr txBox="1"/>
          <p:nvPr/>
        </p:nvSpPr>
        <p:spPr>
          <a:xfrm>
            <a:off x="1865273" y="190382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+mn-ea"/>
                <a:sym typeface="Poppins" panose="02000000000000000000" pitchFamily="2" charset="0"/>
              </a:rPr>
              <a:t>关于达梦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45DA86-62CE-86E1-3414-2FC06177998F}"/>
              </a:ext>
            </a:extLst>
          </p:cNvPr>
          <p:cNvSpPr txBox="1"/>
          <p:nvPr/>
        </p:nvSpPr>
        <p:spPr>
          <a:xfrm>
            <a:off x="1865273" y="30674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+mn-ea"/>
                <a:sym typeface="Poppins" panose="02000000000000000000" pitchFamily="2" charset="0"/>
              </a:rPr>
              <a:t>技术能力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CDEEF9-3B1D-6830-0C47-44AE8FB40E2E}"/>
              </a:ext>
            </a:extLst>
          </p:cNvPr>
          <p:cNvSpPr txBox="1"/>
          <p:nvPr/>
        </p:nvSpPr>
        <p:spPr>
          <a:xfrm>
            <a:off x="1865273" y="423100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解决方案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A81758A-0EDD-DDB3-F98F-815AA483FCEA}"/>
              </a:ext>
            </a:extLst>
          </p:cNvPr>
          <p:cNvGrpSpPr/>
          <p:nvPr/>
        </p:nvGrpSpPr>
        <p:grpSpPr>
          <a:xfrm>
            <a:off x="916935" y="3021484"/>
            <a:ext cx="679599" cy="679599"/>
            <a:chOff x="972112" y="3587762"/>
            <a:chExt cx="679599" cy="679599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0F62A79-3961-3CDD-CE5F-2C396D3D9CE0}"/>
                </a:ext>
              </a:extLst>
            </p:cNvPr>
            <p:cNvSpPr/>
            <p:nvPr/>
          </p:nvSpPr>
          <p:spPr>
            <a:xfrm>
              <a:off x="972112" y="3587762"/>
              <a:ext cx="679599" cy="679599"/>
            </a:xfrm>
            <a:prstGeom prst="ellipse">
              <a:avLst/>
            </a:prstGeom>
            <a:gradFill>
              <a:gsLst>
                <a:gs pos="0">
                  <a:srgbClr val="265EFA">
                    <a:alpha val="31000"/>
                  </a:srgbClr>
                </a:gs>
                <a:gs pos="100000">
                  <a:srgbClr val="0101D2"/>
                </a:gs>
              </a:gsLst>
              <a:lin ang="16200000" scaled="0"/>
            </a:gradFill>
            <a:ln>
              <a:noFill/>
            </a:ln>
            <a:effectLst>
              <a:outerShdw blurRad="317500" dist="38100" dir="5400000" algn="t" rotWithShape="0">
                <a:srgbClr val="0000D2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+mn-ea"/>
                <a:sym typeface="Poppins" panose="02000000000000000000" pitchFamily="2" charset="0"/>
              </a:endParaRPr>
            </a:p>
          </p:txBody>
        </p:sp>
        <p:sp>
          <p:nvSpPr>
            <p:cNvPr id="25" name="iconfont-11253-5330406">
              <a:extLst>
                <a:ext uri="{FF2B5EF4-FFF2-40B4-BE49-F238E27FC236}">
                  <a16:creationId xmlns:a16="http://schemas.microsoft.com/office/drawing/2014/main" id="{40DC4340-6ED8-3D8D-E056-5D2AEA4D16F9}"/>
                </a:ext>
              </a:extLst>
            </p:cNvPr>
            <p:cNvSpPr/>
            <p:nvPr/>
          </p:nvSpPr>
          <p:spPr>
            <a:xfrm>
              <a:off x="1184111" y="3769909"/>
              <a:ext cx="255600" cy="315304"/>
            </a:xfrm>
            <a:custGeom>
              <a:avLst/>
              <a:gdLst>
                <a:gd name="T0" fmla="*/ 2137 w 8572"/>
                <a:gd name="T1" fmla="*/ 193 h 10000"/>
                <a:gd name="T2" fmla="*/ 4286 w 8572"/>
                <a:gd name="T3" fmla="*/ 0 h 10000"/>
                <a:gd name="T4" fmla="*/ 6435 w 8572"/>
                <a:gd name="T5" fmla="*/ 193 h 10000"/>
                <a:gd name="T6" fmla="*/ 7997 w 8572"/>
                <a:gd name="T7" fmla="*/ 715 h 10000"/>
                <a:gd name="T8" fmla="*/ 8572 w 8572"/>
                <a:gd name="T9" fmla="*/ 1430 h 10000"/>
                <a:gd name="T10" fmla="*/ 8572 w 8572"/>
                <a:gd name="T11" fmla="*/ 2145 h 10000"/>
                <a:gd name="T12" fmla="*/ 7997 w 8572"/>
                <a:gd name="T13" fmla="*/ 2860 h 10000"/>
                <a:gd name="T14" fmla="*/ 6435 w 8572"/>
                <a:gd name="T15" fmla="*/ 3383 h 10000"/>
                <a:gd name="T16" fmla="*/ 4286 w 8572"/>
                <a:gd name="T17" fmla="*/ 3572 h 10000"/>
                <a:gd name="T18" fmla="*/ 2137 w 8572"/>
                <a:gd name="T19" fmla="*/ 3380 h 10000"/>
                <a:gd name="T20" fmla="*/ 575 w 8572"/>
                <a:gd name="T21" fmla="*/ 2858 h 10000"/>
                <a:gd name="T22" fmla="*/ 0 w 8572"/>
                <a:gd name="T23" fmla="*/ 2142 h 10000"/>
                <a:gd name="T24" fmla="*/ 0 w 8572"/>
                <a:gd name="T25" fmla="*/ 1428 h 10000"/>
                <a:gd name="T26" fmla="*/ 575 w 8572"/>
                <a:gd name="T27" fmla="*/ 713 h 10000"/>
                <a:gd name="T28" fmla="*/ 2137 w 8572"/>
                <a:gd name="T29" fmla="*/ 193 h 10000"/>
                <a:gd name="T30" fmla="*/ 1815 w 8572"/>
                <a:gd name="T31" fmla="*/ 4045 h 10000"/>
                <a:gd name="T32" fmla="*/ 4286 w 8572"/>
                <a:gd name="T33" fmla="*/ 4285 h 10000"/>
                <a:gd name="T34" fmla="*/ 6757 w 8572"/>
                <a:gd name="T35" fmla="*/ 4045 h 10000"/>
                <a:gd name="T36" fmla="*/ 8571 w 8572"/>
                <a:gd name="T37" fmla="*/ 3336 h 10000"/>
                <a:gd name="T38" fmla="*/ 8571 w 8572"/>
                <a:gd name="T39" fmla="*/ 4285 h 10000"/>
                <a:gd name="T40" fmla="*/ 7996 w 8572"/>
                <a:gd name="T41" fmla="*/ 5000 h 10000"/>
                <a:gd name="T42" fmla="*/ 6434 w 8572"/>
                <a:gd name="T43" fmla="*/ 5523 h 10000"/>
                <a:gd name="T44" fmla="*/ 4286 w 8572"/>
                <a:gd name="T45" fmla="*/ 5714 h 10000"/>
                <a:gd name="T46" fmla="*/ 2137 w 8572"/>
                <a:gd name="T47" fmla="*/ 5521 h 10000"/>
                <a:gd name="T48" fmla="*/ 575 w 8572"/>
                <a:gd name="T49" fmla="*/ 4999 h 10000"/>
                <a:gd name="T50" fmla="*/ 0 w 8572"/>
                <a:gd name="T51" fmla="*/ 4284 h 10000"/>
                <a:gd name="T52" fmla="*/ 0 w 8572"/>
                <a:gd name="T53" fmla="*/ 3335 h 10000"/>
                <a:gd name="T54" fmla="*/ 1815 w 8572"/>
                <a:gd name="T55" fmla="*/ 4045 h 10000"/>
                <a:gd name="T56" fmla="*/ 1815 w 8572"/>
                <a:gd name="T57" fmla="*/ 6189 h 10000"/>
                <a:gd name="T58" fmla="*/ 4286 w 8572"/>
                <a:gd name="T59" fmla="*/ 6429 h 10000"/>
                <a:gd name="T60" fmla="*/ 6757 w 8572"/>
                <a:gd name="T61" fmla="*/ 6189 h 10000"/>
                <a:gd name="T62" fmla="*/ 8571 w 8572"/>
                <a:gd name="T63" fmla="*/ 5480 h 10000"/>
                <a:gd name="T64" fmla="*/ 8571 w 8572"/>
                <a:gd name="T65" fmla="*/ 6429 h 10000"/>
                <a:gd name="T66" fmla="*/ 7996 w 8572"/>
                <a:gd name="T67" fmla="*/ 7144 h 10000"/>
                <a:gd name="T68" fmla="*/ 6434 w 8572"/>
                <a:gd name="T69" fmla="*/ 7666 h 10000"/>
                <a:gd name="T70" fmla="*/ 4286 w 8572"/>
                <a:gd name="T71" fmla="*/ 7859 h 10000"/>
                <a:gd name="T72" fmla="*/ 2137 w 8572"/>
                <a:gd name="T73" fmla="*/ 7666 h 10000"/>
                <a:gd name="T74" fmla="*/ 575 w 8572"/>
                <a:gd name="T75" fmla="*/ 7144 h 10000"/>
                <a:gd name="T76" fmla="*/ 0 w 8572"/>
                <a:gd name="T77" fmla="*/ 6429 h 10000"/>
                <a:gd name="T78" fmla="*/ 0 w 8572"/>
                <a:gd name="T79" fmla="*/ 5480 h 10000"/>
                <a:gd name="T80" fmla="*/ 1815 w 8572"/>
                <a:gd name="T81" fmla="*/ 6189 h 10000"/>
                <a:gd name="T82" fmla="*/ 1815 w 8572"/>
                <a:gd name="T83" fmla="*/ 8331 h 10000"/>
                <a:gd name="T84" fmla="*/ 4286 w 8572"/>
                <a:gd name="T85" fmla="*/ 8571 h 10000"/>
                <a:gd name="T86" fmla="*/ 6757 w 8572"/>
                <a:gd name="T87" fmla="*/ 8331 h 10000"/>
                <a:gd name="T88" fmla="*/ 8571 w 8572"/>
                <a:gd name="T89" fmla="*/ 7623 h 10000"/>
                <a:gd name="T90" fmla="*/ 8571 w 8572"/>
                <a:gd name="T91" fmla="*/ 8571 h 10000"/>
                <a:gd name="T92" fmla="*/ 7996 w 8572"/>
                <a:gd name="T93" fmla="*/ 9286 h 10000"/>
                <a:gd name="T94" fmla="*/ 6434 w 8572"/>
                <a:gd name="T95" fmla="*/ 9809 h 10000"/>
                <a:gd name="T96" fmla="*/ 4286 w 8572"/>
                <a:gd name="T97" fmla="*/ 10000 h 10000"/>
                <a:gd name="T98" fmla="*/ 2137 w 8572"/>
                <a:gd name="T99" fmla="*/ 9808 h 10000"/>
                <a:gd name="T100" fmla="*/ 575 w 8572"/>
                <a:gd name="T101" fmla="*/ 9285 h 10000"/>
                <a:gd name="T102" fmla="*/ 0 w 8572"/>
                <a:gd name="T103" fmla="*/ 8570 h 10000"/>
                <a:gd name="T104" fmla="*/ 0 w 8572"/>
                <a:gd name="T105" fmla="*/ 7621 h 10000"/>
                <a:gd name="T106" fmla="*/ 1815 w 8572"/>
                <a:gd name="T107" fmla="*/ 8331 h 1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572" h="10000">
                  <a:moveTo>
                    <a:pt x="2137" y="193"/>
                  </a:moveTo>
                  <a:cubicBezTo>
                    <a:pt x="2796" y="65"/>
                    <a:pt x="3512" y="0"/>
                    <a:pt x="4286" y="0"/>
                  </a:cubicBezTo>
                  <a:cubicBezTo>
                    <a:pt x="5060" y="0"/>
                    <a:pt x="5776" y="65"/>
                    <a:pt x="6435" y="193"/>
                  </a:cubicBezTo>
                  <a:cubicBezTo>
                    <a:pt x="7093" y="320"/>
                    <a:pt x="7615" y="495"/>
                    <a:pt x="7997" y="715"/>
                  </a:cubicBezTo>
                  <a:cubicBezTo>
                    <a:pt x="8380" y="935"/>
                    <a:pt x="8572" y="1173"/>
                    <a:pt x="8572" y="1430"/>
                  </a:cubicBezTo>
                  <a:lnTo>
                    <a:pt x="8572" y="2145"/>
                  </a:lnTo>
                  <a:cubicBezTo>
                    <a:pt x="8572" y="2403"/>
                    <a:pt x="8381" y="2640"/>
                    <a:pt x="7997" y="2860"/>
                  </a:cubicBezTo>
                  <a:cubicBezTo>
                    <a:pt x="7614" y="3080"/>
                    <a:pt x="7094" y="3254"/>
                    <a:pt x="6435" y="3383"/>
                  </a:cubicBezTo>
                  <a:cubicBezTo>
                    <a:pt x="5776" y="3509"/>
                    <a:pt x="5060" y="3572"/>
                    <a:pt x="4286" y="3572"/>
                  </a:cubicBezTo>
                  <a:cubicBezTo>
                    <a:pt x="3512" y="3572"/>
                    <a:pt x="2796" y="3508"/>
                    <a:pt x="2137" y="3380"/>
                  </a:cubicBezTo>
                  <a:cubicBezTo>
                    <a:pt x="1479" y="3253"/>
                    <a:pt x="957" y="3078"/>
                    <a:pt x="575" y="2858"/>
                  </a:cubicBezTo>
                  <a:cubicBezTo>
                    <a:pt x="191" y="2637"/>
                    <a:pt x="0" y="2400"/>
                    <a:pt x="0" y="2142"/>
                  </a:cubicBezTo>
                  <a:lnTo>
                    <a:pt x="0" y="1428"/>
                  </a:lnTo>
                  <a:cubicBezTo>
                    <a:pt x="0" y="1170"/>
                    <a:pt x="191" y="933"/>
                    <a:pt x="575" y="713"/>
                  </a:cubicBezTo>
                  <a:cubicBezTo>
                    <a:pt x="959" y="495"/>
                    <a:pt x="1479" y="321"/>
                    <a:pt x="2137" y="193"/>
                  </a:cubicBezTo>
                  <a:close/>
                  <a:moveTo>
                    <a:pt x="1815" y="4045"/>
                  </a:moveTo>
                  <a:cubicBezTo>
                    <a:pt x="2581" y="4205"/>
                    <a:pt x="3405" y="4285"/>
                    <a:pt x="4286" y="4285"/>
                  </a:cubicBezTo>
                  <a:cubicBezTo>
                    <a:pt x="5167" y="4285"/>
                    <a:pt x="5991" y="4205"/>
                    <a:pt x="6757" y="4045"/>
                  </a:cubicBezTo>
                  <a:cubicBezTo>
                    <a:pt x="7524" y="3885"/>
                    <a:pt x="8129" y="3649"/>
                    <a:pt x="8571" y="3336"/>
                  </a:cubicBezTo>
                  <a:lnTo>
                    <a:pt x="8571" y="4285"/>
                  </a:lnTo>
                  <a:cubicBezTo>
                    <a:pt x="8571" y="4543"/>
                    <a:pt x="8380" y="4780"/>
                    <a:pt x="7996" y="5000"/>
                  </a:cubicBezTo>
                  <a:cubicBezTo>
                    <a:pt x="7612" y="5220"/>
                    <a:pt x="7092" y="5394"/>
                    <a:pt x="6434" y="5523"/>
                  </a:cubicBezTo>
                  <a:cubicBezTo>
                    <a:pt x="5776" y="5650"/>
                    <a:pt x="5060" y="5714"/>
                    <a:pt x="4286" y="5714"/>
                  </a:cubicBezTo>
                  <a:cubicBezTo>
                    <a:pt x="3512" y="5714"/>
                    <a:pt x="2796" y="5649"/>
                    <a:pt x="2137" y="5521"/>
                  </a:cubicBezTo>
                  <a:cubicBezTo>
                    <a:pt x="1479" y="5394"/>
                    <a:pt x="957" y="5219"/>
                    <a:pt x="575" y="4999"/>
                  </a:cubicBezTo>
                  <a:cubicBezTo>
                    <a:pt x="191" y="4779"/>
                    <a:pt x="0" y="4541"/>
                    <a:pt x="0" y="4284"/>
                  </a:cubicBezTo>
                  <a:lnTo>
                    <a:pt x="0" y="3335"/>
                  </a:lnTo>
                  <a:cubicBezTo>
                    <a:pt x="444" y="3650"/>
                    <a:pt x="1049" y="3886"/>
                    <a:pt x="1815" y="4045"/>
                  </a:cubicBezTo>
                  <a:close/>
                  <a:moveTo>
                    <a:pt x="1815" y="6189"/>
                  </a:moveTo>
                  <a:cubicBezTo>
                    <a:pt x="2581" y="6349"/>
                    <a:pt x="3405" y="6429"/>
                    <a:pt x="4286" y="6429"/>
                  </a:cubicBezTo>
                  <a:cubicBezTo>
                    <a:pt x="5167" y="6429"/>
                    <a:pt x="5991" y="6349"/>
                    <a:pt x="6757" y="6189"/>
                  </a:cubicBezTo>
                  <a:cubicBezTo>
                    <a:pt x="7524" y="6029"/>
                    <a:pt x="8129" y="5793"/>
                    <a:pt x="8571" y="5480"/>
                  </a:cubicBezTo>
                  <a:lnTo>
                    <a:pt x="8571" y="6429"/>
                  </a:lnTo>
                  <a:cubicBezTo>
                    <a:pt x="8571" y="6686"/>
                    <a:pt x="8380" y="6924"/>
                    <a:pt x="7996" y="7144"/>
                  </a:cubicBezTo>
                  <a:cubicBezTo>
                    <a:pt x="7612" y="7364"/>
                    <a:pt x="7092" y="7538"/>
                    <a:pt x="6434" y="7666"/>
                  </a:cubicBezTo>
                  <a:cubicBezTo>
                    <a:pt x="5775" y="7795"/>
                    <a:pt x="5060" y="7859"/>
                    <a:pt x="4286" y="7859"/>
                  </a:cubicBezTo>
                  <a:cubicBezTo>
                    <a:pt x="3512" y="7859"/>
                    <a:pt x="2796" y="7794"/>
                    <a:pt x="2137" y="7666"/>
                  </a:cubicBezTo>
                  <a:cubicBezTo>
                    <a:pt x="1479" y="7539"/>
                    <a:pt x="959" y="7364"/>
                    <a:pt x="575" y="7144"/>
                  </a:cubicBezTo>
                  <a:cubicBezTo>
                    <a:pt x="191" y="6924"/>
                    <a:pt x="0" y="6686"/>
                    <a:pt x="0" y="6429"/>
                  </a:cubicBezTo>
                  <a:lnTo>
                    <a:pt x="0" y="5480"/>
                  </a:lnTo>
                  <a:cubicBezTo>
                    <a:pt x="444" y="5793"/>
                    <a:pt x="1049" y="6029"/>
                    <a:pt x="1815" y="6189"/>
                  </a:cubicBezTo>
                  <a:close/>
                  <a:moveTo>
                    <a:pt x="1815" y="8331"/>
                  </a:moveTo>
                  <a:cubicBezTo>
                    <a:pt x="2581" y="8491"/>
                    <a:pt x="3405" y="8571"/>
                    <a:pt x="4286" y="8571"/>
                  </a:cubicBezTo>
                  <a:cubicBezTo>
                    <a:pt x="5167" y="8571"/>
                    <a:pt x="5991" y="8491"/>
                    <a:pt x="6757" y="8331"/>
                  </a:cubicBezTo>
                  <a:cubicBezTo>
                    <a:pt x="7524" y="8171"/>
                    <a:pt x="8129" y="7935"/>
                    <a:pt x="8571" y="7623"/>
                  </a:cubicBezTo>
                  <a:lnTo>
                    <a:pt x="8571" y="8571"/>
                  </a:lnTo>
                  <a:cubicBezTo>
                    <a:pt x="8571" y="8829"/>
                    <a:pt x="8380" y="9066"/>
                    <a:pt x="7996" y="9286"/>
                  </a:cubicBezTo>
                  <a:cubicBezTo>
                    <a:pt x="7612" y="9506"/>
                    <a:pt x="7092" y="9680"/>
                    <a:pt x="6434" y="9809"/>
                  </a:cubicBezTo>
                  <a:cubicBezTo>
                    <a:pt x="5775" y="9937"/>
                    <a:pt x="5060" y="10000"/>
                    <a:pt x="4286" y="10000"/>
                  </a:cubicBezTo>
                  <a:cubicBezTo>
                    <a:pt x="3512" y="10000"/>
                    <a:pt x="2796" y="9935"/>
                    <a:pt x="2137" y="9808"/>
                  </a:cubicBezTo>
                  <a:cubicBezTo>
                    <a:pt x="1479" y="9680"/>
                    <a:pt x="957" y="9505"/>
                    <a:pt x="575" y="9285"/>
                  </a:cubicBezTo>
                  <a:cubicBezTo>
                    <a:pt x="191" y="9065"/>
                    <a:pt x="0" y="8828"/>
                    <a:pt x="0" y="8570"/>
                  </a:cubicBezTo>
                  <a:lnTo>
                    <a:pt x="0" y="7621"/>
                  </a:lnTo>
                  <a:cubicBezTo>
                    <a:pt x="444" y="7935"/>
                    <a:pt x="1049" y="8171"/>
                    <a:pt x="1815" y="83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1697763-0CD4-0F03-9F12-EAF5B68987E2}"/>
              </a:ext>
            </a:extLst>
          </p:cNvPr>
          <p:cNvGrpSpPr/>
          <p:nvPr/>
        </p:nvGrpSpPr>
        <p:grpSpPr>
          <a:xfrm>
            <a:off x="916935" y="1874024"/>
            <a:ext cx="679599" cy="679599"/>
            <a:chOff x="916935" y="2525351"/>
            <a:chExt cx="679599" cy="679599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444D46B-7A49-3755-AC1F-E7B8CD2B0ACD}"/>
                </a:ext>
              </a:extLst>
            </p:cNvPr>
            <p:cNvSpPr/>
            <p:nvPr/>
          </p:nvSpPr>
          <p:spPr>
            <a:xfrm>
              <a:off x="916935" y="2525351"/>
              <a:ext cx="679599" cy="679599"/>
            </a:xfrm>
            <a:prstGeom prst="ellipse">
              <a:avLst/>
            </a:prstGeom>
            <a:gradFill>
              <a:gsLst>
                <a:gs pos="0">
                  <a:srgbClr val="265EFA">
                    <a:alpha val="31000"/>
                  </a:srgbClr>
                </a:gs>
                <a:gs pos="100000">
                  <a:srgbClr val="0101D2"/>
                </a:gs>
              </a:gsLst>
              <a:lin ang="16200000" scaled="0"/>
            </a:gradFill>
            <a:ln>
              <a:noFill/>
            </a:ln>
            <a:effectLst>
              <a:outerShdw blurRad="317500" dist="38100" dir="5400000" algn="t" rotWithShape="0">
                <a:srgbClr val="0000D2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+mn-ea"/>
                <a:sym typeface="Poppins" panose="02000000000000000000" pitchFamily="2" charset="0"/>
              </a:endParaRPr>
            </a:p>
          </p:txBody>
        </p:sp>
        <p:sp>
          <p:nvSpPr>
            <p:cNvPr id="32" name="iconfont-1161-857021">
              <a:extLst>
                <a:ext uri="{FF2B5EF4-FFF2-40B4-BE49-F238E27FC236}">
                  <a16:creationId xmlns:a16="http://schemas.microsoft.com/office/drawing/2014/main" id="{03155668-5CD7-9A5B-ABC1-8656E975E83D}"/>
                </a:ext>
              </a:extLst>
            </p:cNvPr>
            <p:cNvSpPr/>
            <p:nvPr/>
          </p:nvSpPr>
          <p:spPr>
            <a:xfrm>
              <a:off x="1073757" y="2682173"/>
              <a:ext cx="365954" cy="365954"/>
            </a:xfrm>
            <a:custGeom>
              <a:avLst/>
              <a:gdLst>
                <a:gd name="T0" fmla="*/ 4569 w 9137"/>
                <a:gd name="T1" fmla="*/ 0 h 9137"/>
                <a:gd name="T2" fmla="*/ 0 w 9137"/>
                <a:gd name="T3" fmla="*/ 4569 h 9137"/>
                <a:gd name="T4" fmla="*/ 4569 w 9137"/>
                <a:gd name="T5" fmla="*/ 9137 h 9137"/>
                <a:gd name="T6" fmla="*/ 9137 w 9137"/>
                <a:gd name="T7" fmla="*/ 4569 h 9137"/>
                <a:gd name="T8" fmla="*/ 4569 w 9137"/>
                <a:gd name="T9" fmla="*/ 0 h 9137"/>
                <a:gd name="T10" fmla="*/ 4451 w 9137"/>
                <a:gd name="T11" fmla="*/ 5591 h 9137"/>
                <a:gd name="T12" fmla="*/ 4451 w 9137"/>
                <a:gd name="T13" fmla="*/ 4047 h 9137"/>
                <a:gd name="T14" fmla="*/ 4841 w 9137"/>
                <a:gd name="T15" fmla="*/ 4047 h 9137"/>
                <a:gd name="T16" fmla="*/ 4934 w 9137"/>
                <a:gd name="T17" fmla="*/ 4077 h 9137"/>
                <a:gd name="T18" fmla="*/ 4921 w 9137"/>
                <a:gd name="T19" fmla="*/ 4140 h 9137"/>
                <a:gd name="T20" fmla="*/ 4888 w 9137"/>
                <a:gd name="T21" fmla="*/ 4401 h 9137"/>
                <a:gd name="T22" fmla="*/ 4888 w 9137"/>
                <a:gd name="T23" fmla="*/ 4655 h 9137"/>
                <a:gd name="T24" fmla="*/ 5743 w 9137"/>
                <a:gd name="T25" fmla="*/ 4655 h 9137"/>
                <a:gd name="T26" fmla="*/ 5743 w 9137"/>
                <a:gd name="T27" fmla="*/ 5012 h 9137"/>
                <a:gd name="T28" fmla="*/ 4888 w 9137"/>
                <a:gd name="T29" fmla="*/ 5012 h 9137"/>
                <a:gd name="T30" fmla="*/ 4888 w 9137"/>
                <a:gd name="T31" fmla="*/ 5591 h 9137"/>
                <a:gd name="T32" fmla="*/ 5999 w 9137"/>
                <a:gd name="T33" fmla="*/ 5591 h 9137"/>
                <a:gd name="T34" fmla="*/ 5999 w 9137"/>
                <a:gd name="T35" fmla="*/ 5959 h 9137"/>
                <a:gd name="T36" fmla="*/ 3112 w 9137"/>
                <a:gd name="T37" fmla="*/ 5959 h 9137"/>
                <a:gd name="T38" fmla="*/ 3112 w 9137"/>
                <a:gd name="T39" fmla="*/ 5591 h 9137"/>
                <a:gd name="T40" fmla="*/ 3605 w 9137"/>
                <a:gd name="T41" fmla="*/ 5591 h 9137"/>
                <a:gd name="T42" fmla="*/ 3605 w 9137"/>
                <a:gd name="T43" fmla="*/ 4398 h 9137"/>
                <a:gd name="T44" fmla="*/ 3988 w 9137"/>
                <a:gd name="T45" fmla="*/ 4398 h 9137"/>
                <a:gd name="T46" fmla="*/ 4075 w 9137"/>
                <a:gd name="T47" fmla="*/ 4426 h 9137"/>
                <a:gd name="T48" fmla="*/ 4058 w 9137"/>
                <a:gd name="T49" fmla="*/ 4495 h 9137"/>
                <a:gd name="T50" fmla="*/ 4025 w 9137"/>
                <a:gd name="T51" fmla="*/ 4752 h 9137"/>
                <a:gd name="T52" fmla="*/ 4025 w 9137"/>
                <a:gd name="T53" fmla="*/ 5591 h 9137"/>
                <a:gd name="T54" fmla="*/ 4451 w 9137"/>
                <a:gd name="T55" fmla="*/ 5591 h 9137"/>
                <a:gd name="T56" fmla="*/ 5880 w 9137"/>
                <a:gd name="T57" fmla="*/ 4495 h 9137"/>
                <a:gd name="T58" fmla="*/ 4588 w 9137"/>
                <a:gd name="T59" fmla="*/ 3455 h 9137"/>
                <a:gd name="T60" fmla="*/ 3259 w 9137"/>
                <a:gd name="T61" fmla="*/ 4501 h 9137"/>
                <a:gd name="T62" fmla="*/ 2946 w 9137"/>
                <a:gd name="T63" fmla="*/ 4164 h 9137"/>
                <a:gd name="T64" fmla="*/ 4398 w 9137"/>
                <a:gd name="T65" fmla="*/ 2870 h 9137"/>
                <a:gd name="T66" fmla="*/ 4884 w 9137"/>
                <a:gd name="T67" fmla="*/ 3000 h 9137"/>
                <a:gd name="T68" fmla="*/ 4911 w 9137"/>
                <a:gd name="T69" fmla="*/ 3037 h 9137"/>
                <a:gd name="T70" fmla="*/ 4874 w 9137"/>
                <a:gd name="T71" fmla="*/ 3091 h 9137"/>
                <a:gd name="T72" fmla="*/ 4818 w 9137"/>
                <a:gd name="T73" fmla="*/ 3134 h 9137"/>
                <a:gd name="T74" fmla="*/ 5381 w 9137"/>
                <a:gd name="T75" fmla="*/ 3711 h 9137"/>
                <a:gd name="T76" fmla="*/ 6192 w 9137"/>
                <a:gd name="T77" fmla="*/ 4067 h 9137"/>
                <a:gd name="T78" fmla="*/ 5880 w 9137"/>
                <a:gd name="T79" fmla="*/ 4495 h 9137"/>
                <a:gd name="T80" fmla="*/ 7507 w 9137"/>
                <a:gd name="T81" fmla="*/ 5845 h 9137"/>
                <a:gd name="T82" fmla="*/ 7428 w 9137"/>
                <a:gd name="T83" fmla="*/ 6021 h 9137"/>
                <a:gd name="T84" fmla="*/ 7060 w 9137"/>
                <a:gd name="T85" fmla="*/ 6015 h 9137"/>
                <a:gd name="T86" fmla="*/ 7046 w 9137"/>
                <a:gd name="T87" fmla="*/ 5612 h 9137"/>
                <a:gd name="T88" fmla="*/ 6500 w 9137"/>
                <a:gd name="T89" fmla="*/ 2705 h 9137"/>
                <a:gd name="T90" fmla="*/ 2706 w 9137"/>
                <a:gd name="T91" fmla="*/ 2645 h 9137"/>
                <a:gd name="T92" fmla="*/ 2645 w 9137"/>
                <a:gd name="T93" fmla="*/ 6435 h 9137"/>
                <a:gd name="T94" fmla="*/ 5671 w 9137"/>
                <a:gd name="T95" fmla="*/ 7011 h 9137"/>
                <a:gd name="T96" fmla="*/ 6065 w 9137"/>
                <a:gd name="T97" fmla="*/ 6978 h 9137"/>
                <a:gd name="T98" fmla="*/ 6101 w 9137"/>
                <a:gd name="T99" fmla="*/ 7379 h 9137"/>
                <a:gd name="T100" fmla="*/ 2273 w 9137"/>
                <a:gd name="T101" fmla="*/ 6796 h 9137"/>
                <a:gd name="T102" fmla="*/ 2345 w 9137"/>
                <a:gd name="T103" fmla="*/ 2272 h 9137"/>
                <a:gd name="T104" fmla="*/ 6875 w 9137"/>
                <a:gd name="T105" fmla="*/ 2344 h 9137"/>
                <a:gd name="T106" fmla="*/ 7507 w 9137"/>
                <a:gd name="T107" fmla="*/ 5845 h 9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137" h="9137">
                  <a:moveTo>
                    <a:pt x="4569" y="0"/>
                  </a:moveTo>
                  <a:cubicBezTo>
                    <a:pt x="2045" y="0"/>
                    <a:pt x="0" y="2046"/>
                    <a:pt x="0" y="4569"/>
                  </a:cubicBezTo>
                  <a:cubicBezTo>
                    <a:pt x="0" y="7092"/>
                    <a:pt x="2045" y="9137"/>
                    <a:pt x="4569" y="9137"/>
                  </a:cubicBezTo>
                  <a:cubicBezTo>
                    <a:pt x="7092" y="9137"/>
                    <a:pt x="9137" y="7092"/>
                    <a:pt x="9137" y="4569"/>
                  </a:cubicBezTo>
                  <a:cubicBezTo>
                    <a:pt x="9137" y="2046"/>
                    <a:pt x="7092" y="0"/>
                    <a:pt x="4569" y="0"/>
                  </a:cubicBezTo>
                  <a:close/>
                  <a:moveTo>
                    <a:pt x="4451" y="5591"/>
                  </a:moveTo>
                  <a:lnTo>
                    <a:pt x="4451" y="4047"/>
                  </a:lnTo>
                  <a:lnTo>
                    <a:pt x="4841" y="4047"/>
                  </a:lnTo>
                  <a:cubicBezTo>
                    <a:pt x="4903" y="4047"/>
                    <a:pt x="4934" y="4056"/>
                    <a:pt x="4934" y="4077"/>
                  </a:cubicBezTo>
                  <a:cubicBezTo>
                    <a:pt x="4934" y="4097"/>
                    <a:pt x="4929" y="4118"/>
                    <a:pt x="4921" y="4140"/>
                  </a:cubicBezTo>
                  <a:cubicBezTo>
                    <a:pt x="4899" y="4196"/>
                    <a:pt x="4888" y="4283"/>
                    <a:pt x="4888" y="4401"/>
                  </a:cubicBezTo>
                  <a:lnTo>
                    <a:pt x="4888" y="4655"/>
                  </a:lnTo>
                  <a:lnTo>
                    <a:pt x="5743" y="4655"/>
                  </a:lnTo>
                  <a:lnTo>
                    <a:pt x="5743" y="5012"/>
                  </a:lnTo>
                  <a:lnTo>
                    <a:pt x="4888" y="5012"/>
                  </a:lnTo>
                  <a:lnTo>
                    <a:pt x="4888" y="5591"/>
                  </a:lnTo>
                  <a:lnTo>
                    <a:pt x="5999" y="5591"/>
                  </a:lnTo>
                  <a:lnTo>
                    <a:pt x="5999" y="5959"/>
                  </a:lnTo>
                  <a:lnTo>
                    <a:pt x="3112" y="5959"/>
                  </a:lnTo>
                  <a:lnTo>
                    <a:pt x="3112" y="5591"/>
                  </a:lnTo>
                  <a:lnTo>
                    <a:pt x="3605" y="5591"/>
                  </a:lnTo>
                  <a:lnTo>
                    <a:pt x="3605" y="4398"/>
                  </a:lnTo>
                  <a:lnTo>
                    <a:pt x="3988" y="4398"/>
                  </a:lnTo>
                  <a:cubicBezTo>
                    <a:pt x="4046" y="4398"/>
                    <a:pt x="4075" y="4407"/>
                    <a:pt x="4075" y="4426"/>
                  </a:cubicBezTo>
                  <a:cubicBezTo>
                    <a:pt x="4075" y="4445"/>
                    <a:pt x="4069" y="4468"/>
                    <a:pt x="4058" y="4495"/>
                  </a:cubicBezTo>
                  <a:cubicBezTo>
                    <a:pt x="4036" y="4550"/>
                    <a:pt x="4025" y="4636"/>
                    <a:pt x="4025" y="4752"/>
                  </a:cubicBezTo>
                  <a:lnTo>
                    <a:pt x="4025" y="5591"/>
                  </a:lnTo>
                  <a:lnTo>
                    <a:pt x="4451" y="5591"/>
                  </a:lnTo>
                  <a:close/>
                  <a:moveTo>
                    <a:pt x="5880" y="4495"/>
                  </a:moveTo>
                  <a:cubicBezTo>
                    <a:pt x="5307" y="4230"/>
                    <a:pt x="4876" y="3883"/>
                    <a:pt x="4588" y="3455"/>
                  </a:cubicBezTo>
                  <a:cubicBezTo>
                    <a:pt x="4310" y="3852"/>
                    <a:pt x="3867" y="4200"/>
                    <a:pt x="3259" y="4501"/>
                  </a:cubicBezTo>
                  <a:cubicBezTo>
                    <a:pt x="3137" y="4348"/>
                    <a:pt x="3033" y="4235"/>
                    <a:pt x="2946" y="4164"/>
                  </a:cubicBezTo>
                  <a:cubicBezTo>
                    <a:pt x="3681" y="3907"/>
                    <a:pt x="4165" y="3476"/>
                    <a:pt x="4398" y="2870"/>
                  </a:cubicBezTo>
                  <a:cubicBezTo>
                    <a:pt x="4704" y="2948"/>
                    <a:pt x="4866" y="2992"/>
                    <a:pt x="4884" y="3000"/>
                  </a:cubicBezTo>
                  <a:cubicBezTo>
                    <a:pt x="4902" y="3009"/>
                    <a:pt x="4911" y="3022"/>
                    <a:pt x="4911" y="3037"/>
                  </a:cubicBezTo>
                  <a:cubicBezTo>
                    <a:pt x="4911" y="3057"/>
                    <a:pt x="4899" y="3075"/>
                    <a:pt x="4874" y="3091"/>
                  </a:cubicBezTo>
                  <a:cubicBezTo>
                    <a:pt x="4850" y="3106"/>
                    <a:pt x="4831" y="3121"/>
                    <a:pt x="4818" y="3134"/>
                  </a:cubicBezTo>
                  <a:cubicBezTo>
                    <a:pt x="4953" y="3355"/>
                    <a:pt x="5140" y="3547"/>
                    <a:pt x="5381" y="3711"/>
                  </a:cubicBezTo>
                  <a:cubicBezTo>
                    <a:pt x="5621" y="3875"/>
                    <a:pt x="5890" y="3993"/>
                    <a:pt x="6192" y="4067"/>
                  </a:cubicBezTo>
                  <a:cubicBezTo>
                    <a:pt x="6099" y="4172"/>
                    <a:pt x="5995" y="4314"/>
                    <a:pt x="5880" y="4495"/>
                  </a:cubicBezTo>
                  <a:close/>
                  <a:moveTo>
                    <a:pt x="7507" y="5845"/>
                  </a:moveTo>
                  <a:cubicBezTo>
                    <a:pt x="7503" y="5908"/>
                    <a:pt x="7478" y="5972"/>
                    <a:pt x="7428" y="6021"/>
                  </a:cubicBezTo>
                  <a:cubicBezTo>
                    <a:pt x="7323" y="6120"/>
                    <a:pt x="7159" y="6118"/>
                    <a:pt x="7060" y="6015"/>
                  </a:cubicBezTo>
                  <a:cubicBezTo>
                    <a:pt x="6897" y="5847"/>
                    <a:pt x="7046" y="5612"/>
                    <a:pt x="7046" y="5612"/>
                  </a:cubicBezTo>
                  <a:cubicBezTo>
                    <a:pt x="7451" y="4651"/>
                    <a:pt x="7272" y="3500"/>
                    <a:pt x="6500" y="2705"/>
                  </a:cubicBezTo>
                  <a:cubicBezTo>
                    <a:pt x="5470" y="1642"/>
                    <a:pt x="3771" y="1615"/>
                    <a:pt x="2706" y="2645"/>
                  </a:cubicBezTo>
                  <a:cubicBezTo>
                    <a:pt x="1641" y="3675"/>
                    <a:pt x="1614" y="5372"/>
                    <a:pt x="2645" y="6435"/>
                  </a:cubicBezTo>
                  <a:cubicBezTo>
                    <a:pt x="3453" y="7267"/>
                    <a:pt x="4668" y="7460"/>
                    <a:pt x="5671" y="7011"/>
                  </a:cubicBezTo>
                  <a:cubicBezTo>
                    <a:pt x="5876" y="6890"/>
                    <a:pt x="5991" y="6905"/>
                    <a:pt x="6065" y="6978"/>
                  </a:cubicBezTo>
                  <a:cubicBezTo>
                    <a:pt x="6286" y="7194"/>
                    <a:pt x="6101" y="7379"/>
                    <a:pt x="6101" y="7379"/>
                  </a:cubicBezTo>
                  <a:cubicBezTo>
                    <a:pt x="4870" y="8048"/>
                    <a:pt x="3296" y="7850"/>
                    <a:pt x="2273" y="6796"/>
                  </a:cubicBezTo>
                  <a:cubicBezTo>
                    <a:pt x="1042" y="5526"/>
                    <a:pt x="1075" y="3501"/>
                    <a:pt x="2345" y="2272"/>
                  </a:cubicBezTo>
                  <a:cubicBezTo>
                    <a:pt x="3616" y="1043"/>
                    <a:pt x="5644" y="1075"/>
                    <a:pt x="6875" y="2344"/>
                  </a:cubicBezTo>
                  <a:cubicBezTo>
                    <a:pt x="7804" y="3302"/>
                    <a:pt x="8007" y="4691"/>
                    <a:pt x="7507" y="5845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67C228F-E2A1-F832-C1FF-A7BAE7E5D69D}"/>
              </a:ext>
            </a:extLst>
          </p:cNvPr>
          <p:cNvGrpSpPr/>
          <p:nvPr/>
        </p:nvGrpSpPr>
        <p:grpSpPr>
          <a:xfrm>
            <a:off x="916935" y="4168944"/>
            <a:ext cx="679599" cy="679599"/>
            <a:chOff x="972112" y="4575798"/>
            <a:chExt cx="679599" cy="679599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E6F34A1-8B80-9465-9E93-049792AE54CF}"/>
                </a:ext>
              </a:extLst>
            </p:cNvPr>
            <p:cNvSpPr/>
            <p:nvPr/>
          </p:nvSpPr>
          <p:spPr>
            <a:xfrm>
              <a:off x="972112" y="4575798"/>
              <a:ext cx="679599" cy="679599"/>
            </a:xfrm>
            <a:prstGeom prst="ellipse">
              <a:avLst/>
            </a:prstGeom>
            <a:gradFill>
              <a:gsLst>
                <a:gs pos="0">
                  <a:srgbClr val="265EFA">
                    <a:alpha val="31000"/>
                  </a:srgbClr>
                </a:gs>
                <a:gs pos="100000">
                  <a:srgbClr val="0101D2"/>
                </a:gs>
              </a:gsLst>
              <a:lin ang="16200000" scaled="0"/>
            </a:gradFill>
            <a:ln>
              <a:noFill/>
            </a:ln>
            <a:effectLst>
              <a:outerShdw blurRad="317500" dist="38100" dir="5400000" algn="t" rotWithShape="0">
                <a:srgbClr val="0000D2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+mn-ea"/>
                <a:sym typeface="Poppins" panose="02000000000000000000" pitchFamily="2" charset="0"/>
              </a:endParaRPr>
            </a:p>
          </p:txBody>
        </p:sp>
        <p:sp>
          <p:nvSpPr>
            <p:cNvPr id="35" name="iconfont-11442-2729551">
              <a:extLst>
                <a:ext uri="{FF2B5EF4-FFF2-40B4-BE49-F238E27FC236}">
                  <a16:creationId xmlns:a16="http://schemas.microsoft.com/office/drawing/2014/main" id="{2682C4B8-CFF4-9FE1-8F3E-7D48B6D34964}"/>
                </a:ext>
              </a:extLst>
            </p:cNvPr>
            <p:cNvSpPr/>
            <p:nvPr/>
          </p:nvSpPr>
          <p:spPr>
            <a:xfrm>
              <a:off x="1150088" y="4734752"/>
              <a:ext cx="323647" cy="361690"/>
            </a:xfrm>
            <a:custGeom>
              <a:avLst/>
              <a:gdLst>
                <a:gd name="T0" fmla="*/ 4715 w 11910"/>
                <a:gd name="T1" fmla="*/ 12964 h 13310"/>
                <a:gd name="T2" fmla="*/ 5571 w 11910"/>
                <a:gd name="T3" fmla="*/ 13250 h 13310"/>
                <a:gd name="T4" fmla="*/ 6031 w 11910"/>
                <a:gd name="T5" fmla="*/ 13306 h 13310"/>
                <a:gd name="T6" fmla="*/ 6326 w 11910"/>
                <a:gd name="T7" fmla="*/ 13308 h 13310"/>
                <a:gd name="T8" fmla="*/ 6785 w 11910"/>
                <a:gd name="T9" fmla="*/ 13257 h 13310"/>
                <a:gd name="T10" fmla="*/ 7653 w 11910"/>
                <a:gd name="T11" fmla="*/ 12968 h 13310"/>
                <a:gd name="T12" fmla="*/ 8646 w 11910"/>
                <a:gd name="T13" fmla="*/ 12296 h 13310"/>
                <a:gd name="T14" fmla="*/ 10313 w 11910"/>
                <a:gd name="T15" fmla="*/ 9860 h 13310"/>
                <a:gd name="T16" fmla="*/ 11429 w 11910"/>
                <a:gd name="T17" fmla="*/ 8301 h 13310"/>
                <a:gd name="T18" fmla="*/ 10839 w 11910"/>
                <a:gd name="T19" fmla="*/ 6773 h 13310"/>
                <a:gd name="T20" fmla="*/ 10823 w 11910"/>
                <a:gd name="T21" fmla="*/ 6447 h 13310"/>
                <a:gd name="T22" fmla="*/ 9217 w 11910"/>
                <a:gd name="T23" fmla="*/ 2727 h 13310"/>
                <a:gd name="T24" fmla="*/ 4132 w 11910"/>
                <a:gd name="T25" fmla="*/ 1901 h 13310"/>
                <a:gd name="T26" fmla="*/ 2565 w 11910"/>
                <a:gd name="T27" fmla="*/ 3279 h 13310"/>
                <a:gd name="T28" fmla="*/ 1624 w 11910"/>
                <a:gd name="T29" fmla="*/ 5928 h 13310"/>
                <a:gd name="T30" fmla="*/ 1338 w 11910"/>
                <a:gd name="T31" fmla="*/ 5975 h 13310"/>
                <a:gd name="T32" fmla="*/ 2465 w 11910"/>
                <a:gd name="T33" fmla="*/ 2355 h 13310"/>
                <a:gd name="T34" fmla="*/ 6197 w 11910"/>
                <a:gd name="T35" fmla="*/ 956 h 13310"/>
                <a:gd name="T36" fmla="*/ 10008 w 11910"/>
                <a:gd name="T37" fmla="*/ 2366 h 13310"/>
                <a:gd name="T38" fmla="*/ 11317 w 11910"/>
                <a:gd name="T39" fmla="*/ 6218 h 13310"/>
                <a:gd name="T40" fmla="*/ 11525 w 11910"/>
                <a:gd name="T41" fmla="*/ 6455 h 13310"/>
                <a:gd name="T42" fmla="*/ 11540 w 11910"/>
                <a:gd name="T43" fmla="*/ 6456 h 13310"/>
                <a:gd name="T44" fmla="*/ 11763 w 11910"/>
                <a:gd name="T45" fmla="*/ 6247 h 13310"/>
                <a:gd name="T46" fmla="*/ 10337 w 11910"/>
                <a:gd name="T47" fmla="*/ 2063 h 13310"/>
                <a:gd name="T48" fmla="*/ 6197 w 11910"/>
                <a:gd name="T49" fmla="*/ 509 h 13310"/>
                <a:gd name="T50" fmla="*/ 2129 w 11910"/>
                <a:gd name="T51" fmla="*/ 2061 h 13310"/>
                <a:gd name="T52" fmla="*/ 899 w 11910"/>
                <a:gd name="T53" fmla="*/ 6134 h 13310"/>
                <a:gd name="T54" fmla="*/ 108 w 11910"/>
                <a:gd name="T55" fmla="*/ 8317 h 13310"/>
                <a:gd name="T56" fmla="*/ 2182 w 11910"/>
                <a:gd name="T57" fmla="*/ 10625 h 13310"/>
                <a:gd name="T58" fmla="*/ 2668 w 11910"/>
                <a:gd name="T59" fmla="*/ 10513 h 13310"/>
                <a:gd name="T60" fmla="*/ 5452 w 11910"/>
                <a:gd name="T61" fmla="*/ 11219 h 13310"/>
                <a:gd name="T62" fmla="*/ 6201 w 11910"/>
                <a:gd name="T63" fmla="*/ 11564 h 13310"/>
                <a:gd name="T64" fmla="*/ 7035 w 11910"/>
                <a:gd name="T65" fmla="*/ 10951 h 13310"/>
                <a:gd name="T66" fmla="*/ 6201 w 11910"/>
                <a:gd name="T67" fmla="*/ 10337 h 13310"/>
                <a:gd name="T68" fmla="*/ 5405 w 11910"/>
                <a:gd name="T69" fmla="*/ 10770 h 13310"/>
                <a:gd name="T70" fmla="*/ 3383 w 11910"/>
                <a:gd name="T71" fmla="*/ 10379 h 13310"/>
                <a:gd name="T72" fmla="*/ 2448 w 11910"/>
                <a:gd name="T73" fmla="*/ 7253 h 13310"/>
                <a:gd name="T74" fmla="*/ 2476 w 11910"/>
                <a:gd name="T75" fmla="*/ 6399 h 13310"/>
                <a:gd name="T76" fmla="*/ 8100 w 11910"/>
                <a:gd name="T77" fmla="*/ 4283 h 13310"/>
                <a:gd name="T78" fmla="*/ 9908 w 11910"/>
                <a:gd name="T79" fmla="*/ 7948 h 13310"/>
                <a:gd name="T80" fmla="*/ 6201 w 11910"/>
                <a:gd name="T81" fmla="*/ 12417 h 13310"/>
                <a:gd name="T82" fmla="*/ 4037 w 11910"/>
                <a:gd name="T83" fmla="*/ 11334 h 13310"/>
                <a:gd name="T84" fmla="*/ 2481 w 11910"/>
                <a:gd name="T85" fmla="*/ 10723 h 13310"/>
                <a:gd name="T86" fmla="*/ 3720 w 11910"/>
                <a:gd name="T87" fmla="*/ 12294 h 13310"/>
                <a:gd name="T88" fmla="*/ 4715 w 11910"/>
                <a:gd name="T89" fmla="*/ 12964 h 1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910" h="13310">
                  <a:moveTo>
                    <a:pt x="4715" y="12964"/>
                  </a:moveTo>
                  <a:cubicBezTo>
                    <a:pt x="4964" y="13072"/>
                    <a:pt x="5274" y="13192"/>
                    <a:pt x="5571" y="13250"/>
                  </a:cubicBezTo>
                  <a:lnTo>
                    <a:pt x="6031" y="13306"/>
                  </a:lnTo>
                  <a:cubicBezTo>
                    <a:pt x="6087" y="13309"/>
                    <a:pt x="6284" y="13310"/>
                    <a:pt x="6326" y="13308"/>
                  </a:cubicBezTo>
                  <a:cubicBezTo>
                    <a:pt x="6326" y="13308"/>
                    <a:pt x="6561" y="13307"/>
                    <a:pt x="6785" y="13257"/>
                  </a:cubicBezTo>
                  <a:cubicBezTo>
                    <a:pt x="7009" y="13206"/>
                    <a:pt x="7375" y="13102"/>
                    <a:pt x="7653" y="12968"/>
                  </a:cubicBezTo>
                  <a:cubicBezTo>
                    <a:pt x="7653" y="12968"/>
                    <a:pt x="8124" y="12696"/>
                    <a:pt x="8646" y="12296"/>
                  </a:cubicBezTo>
                  <a:cubicBezTo>
                    <a:pt x="9168" y="11896"/>
                    <a:pt x="9928" y="10806"/>
                    <a:pt x="10313" y="9860"/>
                  </a:cubicBezTo>
                  <a:cubicBezTo>
                    <a:pt x="10853" y="9740"/>
                    <a:pt x="11348" y="9291"/>
                    <a:pt x="11429" y="8301"/>
                  </a:cubicBezTo>
                  <a:cubicBezTo>
                    <a:pt x="11506" y="7369"/>
                    <a:pt x="11221" y="6954"/>
                    <a:pt x="10839" y="6773"/>
                  </a:cubicBezTo>
                  <a:cubicBezTo>
                    <a:pt x="10835" y="6662"/>
                    <a:pt x="10830" y="6553"/>
                    <a:pt x="10823" y="6447"/>
                  </a:cubicBezTo>
                  <a:cubicBezTo>
                    <a:pt x="11315" y="3724"/>
                    <a:pt x="9370" y="2773"/>
                    <a:pt x="9217" y="2727"/>
                  </a:cubicBezTo>
                  <a:cubicBezTo>
                    <a:pt x="8964" y="2341"/>
                    <a:pt x="7247" y="0"/>
                    <a:pt x="4132" y="1901"/>
                  </a:cubicBezTo>
                  <a:cubicBezTo>
                    <a:pt x="3675" y="2179"/>
                    <a:pt x="2952" y="2727"/>
                    <a:pt x="2565" y="3279"/>
                  </a:cubicBezTo>
                  <a:cubicBezTo>
                    <a:pt x="2100" y="3863"/>
                    <a:pt x="1762" y="4707"/>
                    <a:pt x="1624" y="5928"/>
                  </a:cubicBezTo>
                  <a:cubicBezTo>
                    <a:pt x="1528" y="5938"/>
                    <a:pt x="1432" y="5953"/>
                    <a:pt x="1338" y="5975"/>
                  </a:cubicBezTo>
                  <a:cubicBezTo>
                    <a:pt x="1313" y="5376"/>
                    <a:pt x="1346" y="3610"/>
                    <a:pt x="2465" y="2355"/>
                  </a:cubicBezTo>
                  <a:cubicBezTo>
                    <a:pt x="3292" y="1427"/>
                    <a:pt x="4548" y="956"/>
                    <a:pt x="6197" y="956"/>
                  </a:cubicBezTo>
                  <a:cubicBezTo>
                    <a:pt x="7849" y="956"/>
                    <a:pt x="9131" y="1430"/>
                    <a:pt x="10008" y="2366"/>
                  </a:cubicBezTo>
                  <a:cubicBezTo>
                    <a:pt x="11449" y="3902"/>
                    <a:pt x="11319" y="6195"/>
                    <a:pt x="11317" y="6218"/>
                  </a:cubicBezTo>
                  <a:cubicBezTo>
                    <a:pt x="11309" y="6341"/>
                    <a:pt x="11402" y="6447"/>
                    <a:pt x="11525" y="6455"/>
                  </a:cubicBezTo>
                  <a:cubicBezTo>
                    <a:pt x="11530" y="6456"/>
                    <a:pt x="11535" y="6456"/>
                    <a:pt x="11540" y="6456"/>
                  </a:cubicBezTo>
                  <a:cubicBezTo>
                    <a:pt x="11657" y="6456"/>
                    <a:pt x="11755" y="6365"/>
                    <a:pt x="11763" y="6247"/>
                  </a:cubicBezTo>
                  <a:cubicBezTo>
                    <a:pt x="11770" y="6146"/>
                    <a:pt x="11910" y="3743"/>
                    <a:pt x="10337" y="2063"/>
                  </a:cubicBezTo>
                  <a:cubicBezTo>
                    <a:pt x="9372" y="1032"/>
                    <a:pt x="7979" y="509"/>
                    <a:pt x="6197" y="509"/>
                  </a:cubicBezTo>
                  <a:cubicBezTo>
                    <a:pt x="4414" y="509"/>
                    <a:pt x="3045" y="1031"/>
                    <a:pt x="2129" y="2061"/>
                  </a:cubicBezTo>
                  <a:cubicBezTo>
                    <a:pt x="789" y="3566"/>
                    <a:pt x="861" y="5649"/>
                    <a:pt x="899" y="6134"/>
                  </a:cubicBezTo>
                  <a:cubicBezTo>
                    <a:pt x="377" y="6412"/>
                    <a:pt x="0" y="7019"/>
                    <a:pt x="108" y="8317"/>
                  </a:cubicBezTo>
                  <a:cubicBezTo>
                    <a:pt x="249" y="10029"/>
                    <a:pt x="1242" y="10625"/>
                    <a:pt x="2182" y="10625"/>
                  </a:cubicBezTo>
                  <a:cubicBezTo>
                    <a:pt x="2364" y="10625"/>
                    <a:pt x="2526" y="10585"/>
                    <a:pt x="2668" y="10513"/>
                  </a:cubicBezTo>
                  <a:cubicBezTo>
                    <a:pt x="3206" y="10861"/>
                    <a:pt x="4069" y="11163"/>
                    <a:pt x="5452" y="11219"/>
                  </a:cubicBezTo>
                  <a:cubicBezTo>
                    <a:pt x="5588" y="11423"/>
                    <a:pt x="5872" y="11564"/>
                    <a:pt x="6201" y="11564"/>
                  </a:cubicBezTo>
                  <a:cubicBezTo>
                    <a:pt x="6661" y="11564"/>
                    <a:pt x="7035" y="11289"/>
                    <a:pt x="7035" y="10951"/>
                  </a:cubicBezTo>
                  <a:cubicBezTo>
                    <a:pt x="7035" y="10612"/>
                    <a:pt x="6661" y="10337"/>
                    <a:pt x="6201" y="10337"/>
                  </a:cubicBezTo>
                  <a:cubicBezTo>
                    <a:pt x="5826" y="10337"/>
                    <a:pt x="5509" y="10520"/>
                    <a:pt x="5405" y="10770"/>
                  </a:cubicBezTo>
                  <a:cubicBezTo>
                    <a:pt x="4497" y="10727"/>
                    <a:pt x="3847" y="10573"/>
                    <a:pt x="3383" y="10379"/>
                  </a:cubicBezTo>
                  <a:cubicBezTo>
                    <a:pt x="2749" y="9527"/>
                    <a:pt x="2448" y="8080"/>
                    <a:pt x="2448" y="7253"/>
                  </a:cubicBezTo>
                  <a:cubicBezTo>
                    <a:pt x="2448" y="6948"/>
                    <a:pt x="2458" y="6663"/>
                    <a:pt x="2476" y="6399"/>
                  </a:cubicBezTo>
                  <a:cubicBezTo>
                    <a:pt x="5406" y="6497"/>
                    <a:pt x="7148" y="5312"/>
                    <a:pt x="8100" y="4283"/>
                  </a:cubicBezTo>
                  <a:cubicBezTo>
                    <a:pt x="9326" y="5505"/>
                    <a:pt x="9763" y="7158"/>
                    <a:pt x="9908" y="7948"/>
                  </a:cubicBezTo>
                  <a:cubicBezTo>
                    <a:pt x="9624" y="10116"/>
                    <a:pt x="8078" y="12417"/>
                    <a:pt x="6201" y="12417"/>
                  </a:cubicBezTo>
                  <a:cubicBezTo>
                    <a:pt x="5394" y="12417"/>
                    <a:pt x="4648" y="11992"/>
                    <a:pt x="4037" y="11334"/>
                  </a:cubicBezTo>
                  <a:cubicBezTo>
                    <a:pt x="3414" y="11203"/>
                    <a:pt x="2894" y="10999"/>
                    <a:pt x="2481" y="10723"/>
                  </a:cubicBezTo>
                  <a:cubicBezTo>
                    <a:pt x="2818" y="11326"/>
                    <a:pt x="3299" y="11948"/>
                    <a:pt x="3720" y="12294"/>
                  </a:cubicBezTo>
                  <a:cubicBezTo>
                    <a:pt x="4140" y="12639"/>
                    <a:pt x="4466" y="12855"/>
                    <a:pt x="4715" y="129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D6459E4C-F9EA-2A89-56B2-27F7FDDDBCB1}"/>
              </a:ext>
            </a:extLst>
          </p:cNvPr>
          <p:cNvSpPr txBox="1"/>
          <p:nvPr/>
        </p:nvSpPr>
        <p:spPr>
          <a:xfrm>
            <a:off x="1865273" y="539459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案例分享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D02E77F-2CAE-DE76-B365-8C78F14615E7}"/>
              </a:ext>
            </a:extLst>
          </p:cNvPr>
          <p:cNvSpPr/>
          <p:nvPr/>
        </p:nvSpPr>
        <p:spPr>
          <a:xfrm>
            <a:off x="916935" y="5316403"/>
            <a:ext cx="679599" cy="679599"/>
          </a:xfrm>
          <a:prstGeom prst="ellipse">
            <a:avLst/>
          </a:prstGeom>
          <a:gradFill>
            <a:gsLst>
              <a:gs pos="0">
                <a:srgbClr val="265EFA">
                  <a:alpha val="31000"/>
                </a:srgbClr>
              </a:gs>
              <a:gs pos="100000">
                <a:srgbClr val="0101D2"/>
              </a:gs>
            </a:gsLst>
            <a:lin ang="16200000" scaled="0"/>
          </a:gradFill>
          <a:ln>
            <a:noFill/>
          </a:ln>
          <a:effectLst>
            <a:outerShdw blurRad="317500" dist="38100" dir="5400000" algn="t" rotWithShape="0">
              <a:srgbClr val="0000D2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cs typeface="+mn-ea"/>
              <a:sym typeface="Poppins" panose="02000000000000000000" pitchFamily="2" charset="0"/>
            </a:endParaRPr>
          </a:p>
        </p:txBody>
      </p:sp>
      <p:pic>
        <p:nvPicPr>
          <p:cNvPr id="38" name="图形 37">
            <a:extLst>
              <a:ext uri="{FF2B5EF4-FFF2-40B4-BE49-F238E27FC236}">
                <a16:creationId xmlns:a16="http://schemas.microsoft.com/office/drawing/2014/main" id="{4A234A19-C137-2EF2-D6A6-8C6824DD3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694" y="5522433"/>
            <a:ext cx="289623" cy="28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3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01</a:t>
            </a:r>
            <a:endParaRPr lang="zh-CN" altLang="en-US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关于达梦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服务体系</a:t>
            </a: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 rotWithShape="1">
          <a:blip r:embed="rId3"/>
          <a:srcRect l="1723" t="8877" r="2915" b="5396"/>
          <a:stretch>
            <a:fillRect/>
          </a:stretch>
        </p:blipFill>
        <p:spPr>
          <a:xfrm>
            <a:off x="0" y="420914"/>
            <a:ext cx="12192000" cy="60614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组合 350"/>
          <p:cNvGrpSpPr/>
          <p:nvPr/>
        </p:nvGrpSpPr>
        <p:grpSpPr>
          <a:xfrm>
            <a:off x="3121660" y="516255"/>
            <a:ext cx="6443980" cy="6365875"/>
            <a:chOff x="3864730" y="1112617"/>
            <a:chExt cx="6444101" cy="5769525"/>
          </a:xfrm>
        </p:grpSpPr>
        <p:cxnSp>
          <p:nvCxnSpPr>
            <p:cNvPr id="333" name="直接连接符 332"/>
            <p:cNvCxnSpPr/>
            <p:nvPr/>
          </p:nvCxnSpPr>
          <p:spPr>
            <a:xfrm>
              <a:off x="3864730" y="1122142"/>
              <a:ext cx="0" cy="57600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3000">
                    <a:schemeClr val="accent3"/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/>
            <p:cNvCxnSpPr/>
            <p:nvPr/>
          </p:nvCxnSpPr>
          <p:spPr>
            <a:xfrm>
              <a:off x="7212571" y="1122142"/>
              <a:ext cx="0" cy="57600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3000">
                    <a:schemeClr val="accent3"/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/>
            <p:cNvCxnSpPr/>
            <p:nvPr/>
          </p:nvCxnSpPr>
          <p:spPr>
            <a:xfrm>
              <a:off x="10308831" y="1112617"/>
              <a:ext cx="0" cy="576000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3000">
                    <a:schemeClr val="accent3"/>
                  </a:gs>
                </a:gsLst>
                <a:lin ang="540000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0" name="图片 3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1668" y="2730013"/>
            <a:ext cx="12409708" cy="243001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架构演进</a:t>
            </a:r>
          </a:p>
        </p:txBody>
      </p:sp>
      <p:sp>
        <p:nvSpPr>
          <p:cNvPr id="247" name="TextBox 13"/>
          <p:cNvSpPr txBox="1"/>
          <p:nvPr/>
        </p:nvSpPr>
        <p:spPr>
          <a:xfrm>
            <a:off x="1170080" y="4834940"/>
            <a:ext cx="1887376" cy="109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" indent="-71755">
              <a:lnSpc>
                <a:spcPct val="120000"/>
              </a:lnSpc>
              <a:buClr>
                <a:srgbClr val="44546A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备机支持只读操作</a:t>
            </a:r>
            <a:endParaRPr lang="en-US" altLang="zh-CN" sz="1100" dirty="0">
              <a:solidFill>
                <a:srgbClr val="000000"/>
              </a:solidFill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71755" indent="-71755">
              <a:lnSpc>
                <a:spcPct val="120000"/>
              </a:lnSpc>
              <a:buClr>
                <a:srgbClr val="44546A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备机支持临时表读写</a:t>
            </a:r>
            <a:endParaRPr lang="en-US" altLang="zh-CN" sz="1100" dirty="0">
              <a:solidFill>
                <a:srgbClr val="000000"/>
              </a:solidFill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71755" indent="-71755">
              <a:lnSpc>
                <a:spcPct val="120000"/>
              </a:lnSpc>
              <a:buClr>
                <a:srgbClr val="44546A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同步备机可扩展至最多</a:t>
            </a:r>
            <a:r>
              <a:rPr lang="en-US" altLang="zh-CN" sz="1100" dirty="0">
                <a:solidFill>
                  <a:srgbClr val="000000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8</a:t>
            </a:r>
            <a:r>
              <a:rPr lang="zh-CN" altLang="en-US" sz="1100" dirty="0">
                <a:solidFill>
                  <a:srgbClr val="000000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个</a:t>
            </a:r>
            <a:endParaRPr lang="en-US" altLang="zh-CN" sz="1100" dirty="0">
              <a:solidFill>
                <a:srgbClr val="000000"/>
              </a:solidFill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71755" indent="-71755">
              <a:lnSpc>
                <a:spcPct val="120000"/>
              </a:lnSpc>
              <a:buClr>
                <a:srgbClr val="44546A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备库恢复流程可配置</a:t>
            </a:r>
            <a:endParaRPr lang="en-US" altLang="zh-CN" sz="1100" dirty="0">
              <a:solidFill>
                <a:srgbClr val="000000"/>
              </a:solidFill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71755" indent="-71755">
              <a:lnSpc>
                <a:spcPct val="120000"/>
              </a:lnSpc>
              <a:buClr>
                <a:srgbClr val="44546A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100" dirty="0">
                <a:solidFill>
                  <a:srgbClr val="000000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支持实时备库的异步备库</a:t>
            </a:r>
          </a:p>
        </p:txBody>
      </p:sp>
      <p:sp>
        <p:nvSpPr>
          <p:cNvPr id="249" name="TextBox 109"/>
          <p:cNvSpPr txBox="1"/>
          <p:nvPr/>
        </p:nvSpPr>
        <p:spPr>
          <a:xfrm>
            <a:off x="4246880" y="4574540"/>
            <a:ext cx="2218690" cy="1104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71755" indent="-71755" defTabSz="914400">
              <a:buClr>
                <a:srgbClr val="44546A"/>
              </a:buClr>
              <a:buFont typeface="Arial" panose="020B0604020202020204" pitchFamily="34" charset="0"/>
              <a:buChar char="•"/>
              <a:defRPr sz="110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>
              <a:lnSpc>
                <a:spcPct val="120000"/>
              </a:lnSpc>
            </a:pP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MPP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环境下支持存储过程等特性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行存储</a:t>
            </a: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+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列存储</a:t>
            </a: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+MPP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单机</a:t>
            </a: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SQL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特性全支持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单机接口全支持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应用无需特殊改造</a:t>
            </a:r>
          </a:p>
        </p:txBody>
      </p:sp>
      <p:sp>
        <p:nvSpPr>
          <p:cNvPr id="251" name="TextBox 111"/>
          <p:cNvSpPr txBox="1"/>
          <p:nvPr/>
        </p:nvSpPr>
        <p:spPr>
          <a:xfrm>
            <a:off x="3484677" y="3264082"/>
            <a:ext cx="2090957" cy="887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71755" indent="-71755" defTabSz="914400">
              <a:buClr>
                <a:srgbClr val="44546A"/>
              </a:buClr>
              <a:buFont typeface="Arial" panose="020B0604020202020204" pitchFamily="34" charset="0"/>
              <a:buChar char="•"/>
              <a:defRPr sz="110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支持事务的读写分离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读写分离策略可调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提升全国产平台可用性和性能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加快芯片级国产进程</a:t>
            </a:r>
          </a:p>
        </p:txBody>
      </p:sp>
      <p:sp>
        <p:nvSpPr>
          <p:cNvPr id="253" name="TextBox 113"/>
          <p:cNvSpPr txBox="1"/>
          <p:nvPr/>
        </p:nvSpPr>
        <p:spPr>
          <a:xfrm>
            <a:off x="6835140" y="2466340"/>
            <a:ext cx="1604645" cy="90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71755" indent="-71755" defTabSz="914400">
              <a:buClr>
                <a:srgbClr val="44546A"/>
              </a:buClr>
              <a:buFont typeface="Arial" panose="020B0604020202020204" pitchFamily="34" charset="0"/>
              <a:buChar char="•"/>
              <a:defRPr sz="110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>
              <a:lnSpc>
                <a:spcPct val="120000"/>
              </a:lnSpc>
            </a:pPr>
            <a:r>
              <a:rPr lang="en-US" altLang="zh-CN" b="1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“</a:t>
            </a:r>
            <a:r>
              <a:rPr lang="zh-CN" altLang="en-US" b="1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真正</a:t>
            </a:r>
            <a:r>
              <a:rPr lang="en-US" altLang="zh-CN" b="1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”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数据共享架构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DMAP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多中心高可用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节点负载可控可分配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支持</a:t>
            </a:r>
            <a:r>
              <a:rPr lang="en-US" altLang="zh-CN" dirty="0" err="1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DataWatch</a:t>
            </a:r>
          </a:p>
        </p:txBody>
      </p:sp>
      <p:sp>
        <p:nvSpPr>
          <p:cNvPr id="259" name="TextBox 109"/>
          <p:cNvSpPr txBox="1"/>
          <p:nvPr/>
        </p:nvSpPr>
        <p:spPr>
          <a:xfrm>
            <a:off x="7642458" y="3651506"/>
            <a:ext cx="1186863" cy="1099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71755" indent="-71755" defTabSz="914400">
              <a:buClr>
                <a:srgbClr val="44546A"/>
              </a:buClr>
              <a:buFont typeface="Arial" panose="020B0604020202020204" pitchFamily="34" charset="0"/>
              <a:buChar char="•"/>
              <a:defRPr sz="110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计算</a:t>
            </a: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-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存储分离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多数据副本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在线横向扩展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强事务支持</a:t>
            </a:r>
            <a:endParaRPr lang="en-US" altLang="zh-CN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完整</a:t>
            </a: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SQL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支持</a:t>
            </a:r>
          </a:p>
        </p:txBody>
      </p:sp>
      <p:grpSp>
        <p:nvGrpSpPr>
          <p:cNvPr id="274" name="组合 273"/>
          <p:cNvGrpSpPr/>
          <p:nvPr/>
        </p:nvGrpSpPr>
        <p:grpSpPr>
          <a:xfrm>
            <a:off x="427092" y="4055578"/>
            <a:ext cx="454502" cy="442796"/>
            <a:chOff x="336430" y="4721524"/>
            <a:chExt cx="931654" cy="971909"/>
          </a:xfrm>
          <a:solidFill>
            <a:srgbClr val="0068FF"/>
          </a:solidFill>
        </p:grpSpPr>
        <p:sp>
          <p:nvSpPr>
            <p:cNvPr id="275" name="流程图: 磁盘 274"/>
            <p:cNvSpPr/>
            <p:nvPr/>
          </p:nvSpPr>
          <p:spPr>
            <a:xfrm>
              <a:off x="336430" y="5270739"/>
              <a:ext cx="931653" cy="422694"/>
            </a:xfrm>
            <a:prstGeom prst="flowChartMagneticDisk">
              <a:avLst/>
            </a:prstGeom>
            <a:grp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276" name="流程图: 磁盘 275"/>
            <p:cNvSpPr/>
            <p:nvPr/>
          </p:nvSpPr>
          <p:spPr>
            <a:xfrm>
              <a:off x="336431" y="4991818"/>
              <a:ext cx="931653" cy="422694"/>
            </a:xfrm>
            <a:prstGeom prst="flowChartMagneticDisk">
              <a:avLst/>
            </a:prstGeom>
            <a:grp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277" name="流程图: 磁盘 276"/>
            <p:cNvSpPr/>
            <p:nvPr/>
          </p:nvSpPr>
          <p:spPr>
            <a:xfrm>
              <a:off x="336431" y="4721524"/>
              <a:ext cx="931653" cy="422694"/>
            </a:xfrm>
            <a:prstGeom prst="flowChartMagneticDisk">
              <a:avLst/>
            </a:prstGeom>
            <a:grp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</p:grpSp>
      <p:cxnSp>
        <p:nvCxnSpPr>
          <p:cNvPr id="297" name="直接连接符 296"/>
          <p:cNvCxnSpPr/>
          <p:nvPr/>
        </p:nvCxnSpPr>
        <p:spPr>
          <a:xfrm>
            <a:off x="191582" y="3487966"/>
            <a:ext cx="0" cy="1316654"/>
          </a:xfrm>
          <a:prstGeom prst="line">
            <a:avLst/>
          </a:prstGeom>
          <a:ln w="19050">
            <a:gradFill flip="none" rotWithShape="1">
              <a:gsLst>
                <a:gs pos="0">
                  <a:srgbClr val="0000D2"/>
                </a:gs>
                <a:gs pos="100000">
                  <a:srgbClr val="0000D2">
                    <a:alpha val="0"/>
                  </a:srgb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Text 31"/>
          <p:cNvSpPr/>
          <p:nvPr/>
        </p:nvSpPr>
        <p:spPr>
          <a:xfrm>
            <a:off x="331960" y="3366089"/>
            <a:ext cx="1013594" cy="4201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27000" dist="63500" dir="5400000" algn="t" rotWithShape="0">
              <a:srgbClr val="0000D2">
                <a:alpha val="32000"/>
              </a:srgbClr>
            </a:outerShdw>
          </a:effectLst>
        </p:spPr>
        <p:txBody>
          <a:bodyPr wrap="square" lIns="72000" tIns="0" rIns="0" bIns="36000" rtlCol="0" anchor="t"/>
          <a:lstStyle/>
          <a:p>
            <a:pPr marL="0" marR="0" lvl="0" indent="0" defTabSz="6096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单机</a:t>
            </a:r>
            <a:r>
              <a:rPr lang="en-US" altLang="zh-CN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SMP</a:t>
            </a:r>
          </a:p>
        </p:txBody>
      </p:sp>
      <p:cxnSp>
        <p:nvCxnSpPr>
          <p:cNvPr id="300" name="直接连接符 299"/>
          <p:cNvCxnSpPr/>
          <p:nvPr/>
        </p:nvCxnSpPr>
        <p:spPr>
          <a:xfrm>
            <a:off x="3353637" y="2593152"/>
            <a:ext cx="0" cy="1710799"/>
          </a:xfrm>
          <a:prstGeom prst="line">
            <a:avLst/>
          </a:prstGeom>
          <a:ln w="19050">
            <a:gradFill flip="none" rotWithShape="1">
              <a:gsLst>
                <a:gs pos="0">
                  <a:srgbClr val="0000D2"/>
                </a:gs>
                <a:gs pos="100000">
                  <a:srgbClr val="0000D2">
                    <a:alpha val="0"/>
                  </a:srgb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ext 31"/>
          <p:cNvSpPr/>
          <p:nvPr/>
        </p:nvSpPr>
        <p:spPr>
          <a:xfrm>
            <a:off x="3484677" y="2746551"/>
            <a:ext cx="1242440" cy="4201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27000" dist="63500" dir="5400000" algn="t" rotWithShape="0">
              <a:srgbClr val="0000D2">
                <a:alpha val="32000"/>
              </a:srgbClr>
            </a:outerShdw>
          </a:effectLst>
        </p:spPr>
        <p:txBody>
          <a:bodyPr wrap="square" lIns="72000" tIns="0" rIns="0" bIns="36000" rtlCol="0" anchor="t"/>
          <a:lstStyle/>
          <a:p>
            <a:pPr marL="0" marR="0" lvl="0" indent="0" defTabSz="6096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读写分离架构</a:t>
            </a:r>
          </a:p>
        </p:txBody>
      </p:sp>
      <p:cxnSp>
        <p:nvCxnSpPr>
          <p:cNvPr id="303" name="直接连接符 302"/>
          <p:cNvCxnSpPr/>
          <p:nvPr/>
        </p:nvCxnSpPr>
        <p:spPr>
          <a:xfrm>
            <a:off x="6672898" y="1892488"/>
            <a:ext cx="0" cy="2340610"/>
          </a:xfrm>
          <a:prstGeom prst="line">
            <a:avLst/>
          </a:prstGeom>
          <a:ln w="19050">
            <a:gradFill flip="none" rotWithShape="1">
              <a:gsLst>
                <a:gs pos="0">
                  <a:srgbClr val="0000D2"/>
                </a:gs>
                <a:gs pos="100000">
                  <a:srgbClr val="0000D2">
                    <a:alpha val="0"/>
                  </a:srgb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 31"/>
          <p:cNvSpPr/>
          <p:nvPr/>
        </p:nvSpPr>
        <p:spPr>
          <a:xfrm>
            <a:off x="6835184" y="2024108"/>
            <a:ext cx="1248028" cy="4201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27000" dist="63500" dir="5400000" algn="t" rotWithShape="0">
              <a:srgbClr val="0000D2">
                <a:alpha val="32000"/>
              </a:srgbClr>
            </a:outerShdw>
          </a:effectLst>
        </p:spPr>
        <p:txBody>
          <a:bodyPr wrap="square" lIns="72000" tIns="0" rIns="0" bIns="36000" rtlCol="0" anchor="t"/>
          <a:lstStyle/>
          <a:p>
            <a:pPr marL="0" marR="0" lvl="0" indent="0" defTabSz="6096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数据共享架构</a:t>
            </a:r>
          </a:p>
        </p:txBody>
      </p:sp>
      <p:cxnSp>
        <p:nvCxnSpPr>
          <p:cNvPr id="307" name="直接连接符 306"/>
          <p:cNvCxnSpPr/>
          <p:nvPr/>
        </p:nvCxnSpPr>
        <p:spPr>
          <a:xfrm>
            <a:off x="1124730" y="4958722"/>
            <a:ext cx="0" cy="1663065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/>
          <p:cNvCxnSpPr/>
          <p:nvPr/>
        </p:nvCxnSpPr>
        <p:spPr>
          <a:xfrm>
            <a:off x="4195237" y="4420787"/>
            <a:ext cx="0" cy="1767157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/>
          <p:cNvCxnSpPr/>
          <p:nvPr/>
        </p:nvCxnSpPr>
        <p:spPr>
          <a:xfrm>
            <a:off x="7642458" y="3504370"/>
            <a:ext cx="0" cy="1958411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 31"/>
          <p:cNvSpPr/>
          <p:nvPr/>
        </p:nvSpPr>
        <p:spPr>
          <a:xfrm>
            <a:off x="1267916" y="6140041"/>
            <a:ext cx="1005698" cy="4201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27000" dist="63500" dir="5400000" algn="t" rotWithShape="0">
              <a:srgbClr val="0000D2">
                <a:alpha val="32000"/>
              </a:srgbClr>
            </a:outerShdw>
          </a:effectLst>
        </p:spPr>
        <p:txBody>
          <a:bodyPr wrap="square" lIns="72000" tIns="0" rIns="0" bIns="36000" rtlCol="0" anchor="t"/>
          <a:lstStyle/>
          <a:p>
            <a:pPr marL="0" marR="0" lvl="0" indent="0" defTabSz="6096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主备架构</a:t>
            </a:r>
          </a:p>
        </p:txBody>
      </p:sp>
      <p:sp>
        <p:nvSpPr>
          <p:cNvPr id="312" name="Text 31"/>
          <p:cNvSpPr/>
          <p:nvPr/>
        </p:nvSpPr>
        <p:spPr>
          <a:xfrm>
            <a:off x="4326859" y="5991530"/>
            <a:ext cx="1349081" cy="4201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27000" dist="63500" dir="5400000" algn="t" rotWithShape="0">
              <a:srgbClr val="0000D2">
                <a:alpha val="32000"/>
              </a:srgbClr>
            </a:outerShdw>
          </a:effectLst>
        </p:spPr>
        <p:txBody>
          <a:bodyPr wrap="square" lIns="72000" tIns="0" rIns="0" bIns="36000" rtlCol="0" anchor="t"/>
          <a:lstStyle/>
          <a:p>
            <a:pPr marL="0" marR="0" lvl="0" indent="0" defTabSz="6096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并行计算架构</a:t>
            </a:r>
          </a:p>
        </p:txBody>
      </p:sp>
      <p:sp>
        <p:nvSpPr>
          <p:cNvPr id="314" name="TextBox 111"/>
          <p:cNvSpPr txBox="1"/>
          <p:nvPr/>
        </p:nvSpPr>
        <p:spPr>
          <a:xfrm>
            <a:off x="3484677" y="2406551"/>
            <a:ext cx="826508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44546A"/>
              </a:buClr>
              <a:defRPr/>
            </a:pPr>
            <a:r>
              <a:rPr lang="zh-CN" altLang="en-US" sz="12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国产</a:t>
            </a:r>
            <a:r>
              <a:rPr lang="en-US" altLang="zh-CN" sz="12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CPU+</a:t>
            </a:r>
            <a:endParaRPr lang="zh-CN" altLang="en-US" sz="1200" b="1" dirty="0">
              <a:solidFill>
                <a:schemeClr val="accent1"/>
              </a:solidFill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316" name="TextBox 111"/>
          <p:cNvSpPr txBox="1"/>
          <p:nvPr/>
        </p:nvSpPr>
        <p:spPr>
          <a:xfrm>
            <a:off x="6835184" y="1714390"/>
            <a:ext cx="1015663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44546A"/>
              </a:buClr>
              <a:defRPr/>
            </a:pPr>
            <a:r>
              <a:rPr lang="zh-CN" altLang="en-US" sz="12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核心业务需求</a:t>
            </a:r>
          </a:p>
        </p:txBody>
      </p:sp>
      <p:sp>
        <p:nvSpPr>
          <p:cNvPr id="319" name="TextBox 111"/>
          <p:cNvSpPr txBox="1"/>
          <p:nvPr/>
        </p:nvSpPr>
        <p:spPr>
          <a:xfrm>
            <a:off x="1340841" y="5866372"/>
            <a:ext cx="86177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44546A"/>
              </a:buClr>
              <a:defRPr/>
            </a:pPr>
            <a:r>
              <a:rPr lang="zh-CN" altLang="en-US" sz="12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高可用需求</a:t>
            </a:r>
          </a:p>
        </p:txBody>
      </p:sp>
      <p:sp>
        <p:nvSpPr>
          <p:cNvPr id="320" name="TextBox 111"/>
          <p:cNvSpPr txBox="1"/>
          <p:nvPr/>
        </p:nvSpPr>
        <p:spPr>
          <a:xfrm>
            <a:off x="4326859" y="5667817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44546A"/>
              </a:buClr>
              <a:defRPr/>
            </a:pPr>
            <a:r>
              <a:rPr lang="zh-CN" altLang="en-US" sz="12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大数据分析需求</a:t>
            </a:r>
          </a:p>
        </p:txBody>
      </p:sp>
      <p:sp>
        <p:nvSpPr>
          <p:cNvPr id="323" name="TextBox 111"/>
          <p:cNvSpPr txBox="1"/>
          <p:nvPr/>
        </p:nvSpPr>
        <p:spPr>
          <a:xfrm>
            <a:off x="7704460" y="4803506"/>
            <a:ext cx="116955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44546A"/>
              </a:buClr>
              <a:defRPr/>
            </a:pPr>
            <a:r>
              <a:rPr lang="zh-CN" altLang="en-US" sz="12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大并发处理需求</a:t>
            </a:r>
          </a:p>
        </p:txBody>
      </p:sp>
      <p:sp>
        <p:nvSpPr>
          <p:cNvPr id="324" name="Text 31"/>
          <p:cNvSpPr/>
          <p:nvPr/>
        </p:nvSpPr>
        <p:spPr>
          <a:xfrm>
            <a:off x="7704460" y="5132826"/>
            <a:ext cx="1629712" cy="42014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27000" dist="63500" dir="5400000" algn="t" rotWithShape="0">
              <a:srgbClr val="0000D2">
                <a:alpha val="32000"/>
              </a:srgbClr>
            </a:outerShdw>
          </a:effectLst>
        </p:spPr>
        <p:txBody>
          <a:bodyPr wrap="square" lIns="72000" tIns="0" rIns="0" bIns="36000" rtlCol="0" anchor="t"/>
          <a:lstStyle/>
          <a:p>
            <a:pPr marL="0" marR="0" lvl="0" indent="0" defTabSz="6096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分布式数据库架构</a:t>
            </a:r>
          </a:p>
        </p:txBody>
      </p:sp>
      <p:sp>
        <p:nvSpPr>
          <p:cNvPr id="3" name="TextBox 113"/>
          <p:cNvSpPr txBox="1"/>
          <p:nvPr/>
        </p:nvSpPr>
        <p:spPr>
          <a:xfrm>
            <a:off x="10075589" y="2187654"/>
            <a:ext cx="1232535" cy="1104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71755" indent="-71755" defTabSz="914400">
              <a:buClr>
                <a:srgbClr val="44546A"/>
              </a:buClr>
              <a:buFont typeface="Arial" panose="020B0604020202020204" pitchFamily="34" charset="0"/>
              <a:buChar char="•"/>
              <a:defRPr sz="110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>
              <a:lnSpc>
                <a:spcPct val="120000"/>
              </a:lnSpc>
            </a:pP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RAFT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自治选举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影子副本技术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多数派日志提交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动态增删副本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原生两地三中心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9963468" y="1428303"/>
            <a:ext cx="0" cy="2197100"/>
          </a:xfrm>
          <a:prstGeom prst="line">
            <a:avLst/>
          </a:prstGeom>
          <a:ln w="19050">
            <a:gradFill flip="none" rotWithShape="1">
              <a:gsLst>
                <a:gs pos="0">
                  <a:srgbClr val="0000D2"/>
                </a:gs>
                <a:gs pos="100000">
                  <a:srgbClr val="0000D2">
                    <a:alpha val="0"/>
                  </a:srgb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31"/>
          <p:cNvSpPr/>
          <p:nvPr/>
        </p:nvSpPr>
        <p:spPr>
          <a:xfrm>
            <a:off x="10075545" y="1745615"/>
            <a:ext cx="1866900" cy="42037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27000" dist="63500" dir="5400000" algn="t" rotWithShape="0">
              <a:srgbClr val="0000D2">
                <a:alpha val="32000"/>
              </a:srgbClr>
            </a:outerShdw>
          </a:effectLst>
        </p:spPr>
        <p:txBody>
          <a:bodyPr wrap="square" lIns="72000" tIns="0" rIns="0" bIns="36000" rtlCol="0" anchor="t"/>
          <a:lstStyle/>
          <a:p>
            <a:pPr marL="0" marR="0" lvl="0" indent="0" defTabSz="60960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集中</a:t>
            </a:r>
            <a:r>
              <a:rPr lang="en-US" altLang="zh-CN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-</a:t>
            </a:r>
            <a:r>
              <a:rPr lang="zh-CN" altLang="en-US" sz="1400" b="1" kern="0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分布式自由切换</a:t>
            </a:r>
          </a:p>
        </p:txBody>
      </p:sp>
      <p:sp>
        <p:nvSpPr>
          <p:cNvPr id="7" name="TextBox 111"/>
          <p:cNvSpPr txBox="1"/>
          <p:nvPr/>
        </p:nvSpPr>
        <p:spPr>
          <a:xfrm>
            <a:off x="10075589" y="1435625"/>
            <a:ext cx="1005840" cy="27559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44546A"/>
              </a:buClr>
              <a:defRPr/>
            </a:pPr>
            <a:r>
              <a:rPr lang="zh-CN" altLang="en-US" sz="12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架构选型需求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26695" y="991870"/>
            <a:ext cx="2666365" cy="321310"/>
            <a:chOff x="357" y="1512"/>
            <a:chExt cx="4199" cy="506"/>
          </a:xfrm>
        </p:grpSpPr>
        <p:sp>
          <p:nvSpPr>
            <p:cNvPr id="114" name="文本框 113"/>
            <p:cNvSpPr txBox="1"/>
            <p:nvPr/>
          </p:nvSpPr>
          <p:spPr>
            <a:xfrm>
              <a:off x="1504" y="1512"/>
              <a:ext cx="2019" cy="50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 cap="flat" cmpd="sng">
              <a:solidFill>
                <a:schemeClr val="accent3"/>
              </a:solidFill>
              <a:prstDash val="solid"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en-US" altLang="zh-CN" sz="1600" b="1" dirty="0">
                  <a:solidFill>
                    <a:schemeClr val="accent3">
                      <a:alpha val="70000"/>
                    </a:schemeClr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DM4~DM6</a:t>
              </a:r>
              <a:endParaRPr lang="en-US" altLang="zh-CN" sz="1600" b="1" dirty="0">
                <a:solidFill>
                  <a:schemeClr val="accent3">
                    <a:alpha val="70000"/>
                  </a:schemeClr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微软雅黑" panose="020B0503020204020204" pitchFamily="34" charset="-122"/>
                <a:sym typeface="Poppins" panose="02000000000000000000" pitchFamily="2" charset="0"/>
              </a:endParaRPr>
            </a:p>
          </p:txBody>
        </p:sp>
        <p:cxnSp>
          <p:nvCxnSpPr>
            <p:cNvPr id="134" name="米菲PPT20"/>
            <p:cNvCxnSpPr/>
            <p:nvPr/>
          </p:nvCxnSpPr>
          <p:spPr>
            <a:xfrm flipH="1">
              <a:off x="357" y="1761"/>
              <a:ext cx="1127" cy="0"/>
            </a:xfrm>
            <a:prstGeom prst="straightConnector1">
              <a:avLst/>
            </a:prstGeom>
            <a:ln w="15875">
              <a:solidFill>
                <a:schemeClr val="accent3">
                  <a:alpha val="60000"/>
                </a:schemeClr>
              </a:solidFill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米菲PPT21"/>
            <p:cNvCxnSpPr/>
            <p:nvPr/>
          </p:nvCxnSpPr>
          <p:spPr>
            <a:xfrm>
              <a:off x="3504" y="1765"/>
              <a:ext cx="1053" cy="0"/>
            </a:xfrm>
            <a:prstGeom prst="straightConnector1">
              <a:avLst/>
            </a:prstGeom>
            <a:ln w="15875">
              <a:solidFill>
                <a:schemeClr val="accent3">
                  <a:alpha val="60000"/>
                </a:schemeClr>
              </a:solidFill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3427095" y="991870"/>
            <a:ext cx="2666365" cy="321310"/>
            <a:chOff x="357" y="1512"/>
            <a:chExt cx="4199" cy="506"/>
          </a:xfrm>
        </p:grpSpPr>
        <p:sp>
          <p:nvSpPr>
            <p:cNvPr id="15" name="文本框 14"/>
            <p:cNvSpPr txBox="1"/>
            <p:nvPr/>
          </p:nvSpPr>
          <p:spPr>
            <a:xfrm>
              <a:off x="1504" y="1512"/>
              <a:ext cx="2019" cy="50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 cap="flat" cmpd="sng">
              <a:solidFill>
                <a:schemeClr val="accent3"/>
              </a:solidFill>
              <a:prstDash val="solid"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en-US" altLang="zh-CN" sz="1600" b="1" dirty="0">
                  <a:solidFill>
                    <a:schemeClr val="accent3">
                      <a:alpha val="70000"/>
                    </a:schemeClr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DM7</a:t>
              </a:r>
              <a:endParaRPr lang="en-US" altLang="zh-CN" sz="1600" b="1" dirty="0">
                <a:solidFill>
                  <a:schemeClr val="accent3">
                    <a:alpha val="70000"/>
                  </a:schemeClr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微软雅黑" panose="020B0503020204020204" pitchFamily="34" charset="-122"/>
                <a:sym typeface="Poppins" panose="02000000000000000000" pitchFamily="2" charset="0"/>
              </a:endParaRPr>
            </a:p>
          </p:txBody>
        </p:sp>
        <p:cxnSp>
          <p:nvCxnSpPr>
            <p:cNvPr id="16" name="米菲PPT20"/>
            <p:cNvCxnSpPr/>
            <p:nvPr/>
          </p:nvCxnSpPr>
          <p:spPr>
            <a:xfrm flipH="1">
              <a:off x="357" y="1761"/>
              <a:ext cx="1127" cy="0"/>
            </a:xfrm>
            <a:prstGeom prst="straightConnector1">
              <a:avLst/>
            </a:prstGeom>
            <a:ln w="15875">
              <a:solidFill>
                <a:schemeClr val="accent3">
                  <a:alpha val="60000"/>
                </a:schemeClr>
              </a:solidFill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米菲PPT21"/>
            <p:cNvCxnSpPr/>
            <p:nvPr/>
          </p:nvCxnSpPr>
          <p:spPr>
            <a:xfrm>
              <a:off x="3504" y="1765"/>
              <a:ext cx="1053" cy="0"/>
            </a:xfrm>
            <a:prstGeom prst="straightConnector1">
              <a:avLst/>
            </a:prstGeom>
            <a:ln w="15875">
              <a:solidFill>
                <a:schemeClr val="accent3">
                  <a:alpha val="60000"/>
                </a:schemeClr>
              </a:solidFill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6652895" y="991870"/>
            <a:ext cx="2666365" cy="321310"/>
            <a:chOff x="357" y="1512"/>
            <a:chExt cx="4199" cy="506"/>
          </a:xfrm>
        </p:grpSpPr>
        <p:sp>
          <p:nvSpPr>
            <p:cNvPr id="19" name="文本框 18"/>
            <p:cNvSpPr txBox="1"/>
            <p:nvPr/>
          </p:nvSpPr>
          <p:spPr>
            <a:xfrm>
              <a:off x="1504" y="1512"/>
              <a:ext cx="2019" cy="50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 cap="flat" cmpd="sng">
              <a:solidFill>
                <a:schemeClr val="accent3"/>
              </a:solidFill>
              <a:prstDash val="solid"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en-US" altLang="zh-CN" sz="1600" b="1" dirty="0">
                  <a:solidFill>
                    <a:schemeClr val="accent3">
                      <a:alpha val="70000"/>
                    </a:schemeClr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DM8</a:t>
              </a:r>
              <a:endParaRPr lang="en-US" altLang="zh-CN" sz="1600" b="1" dirty="0">
                <a:solidFill>
                  <a:schemeClr val="accent3">
                    <a:alpha val="70000"/>
                  </a:schemeClr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微软雅黑" panose="020B0503020204020204" pitchFamily="34" charset="-122"/>
                <a:sym typeface="Poppins" panose="02000000000000000000" pitchFamily="2" charset="0"/>
              </a:endParaRPr>
            </a:p>
          </p:txBody>
        </p:sp>
        <p:cxnSp>
          <p:nvCxnSpPr>
            <p:cNvPr id="20" name="米菲PPT20"/>
            <p:cNvCxnSpPr/>
            <p:nvPr/>
          </p:nvCxnSpPr>
          <p:spPr>
            <a:xfrm flipH="1">
              <a:off x="357" y="1761"/>
              <a:ext cx="1127" cy="0"/>
            </a:xfrm>
            <a:prstGeom prst="straightConnector1">
              <a:avLst/>
            </a:prstGeom>
            <a:ln w="15875">
              <a:solidFill>
                <a:schemeClr val="accent3">
                  <a:alpha val="60000"/>
                </a:schemeClr>
              </a:solidFill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米菲PPT21"/>
            <p:cNvCxnSpPr/>
            <p:nvPr/>
          </p:nvCxnSpPr>
          <p:spPr>
            <a:xfrm>
              <a:off x="3504" y="1765"/>
              <a:ext cx="1053" cy="0"/>
            </a:xfrm>
            <a:prstGeom prst="straightConnector1">
              <a:avLst/>
            </a:prstGeom>
            <a:ln w="15875">
              <a:solidFill>
                <a:schemeClr val="accent3">
                  <a:alpha val="60000"/>
                </a:schemeClr>
              </a:solidFill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9713595" y="991870"/>
            <a:ext cx="2324100" cy="321310"/>
            <a:chOff x="357" y="1512"/>
            <a:chExt cx="4199" cy="506"/>
          </a:xfrm>
        </p:grpSpPr>
        <p:sp>
          <p:nvSpPr>
            <p:cNvPr id="23" name="文本框 22"/>
            <p:cNvSpPr txBox="1"/>
            <p:nvPr/>
          </p:nvSpPr>
          <p:spPr>
            <a:xfrm>
              <a:off x="1504" y="1512"/>
              <a:ext cx="2019" cy="50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175" cap="flat" cmpd="sng">
              <a:solidFill>
                <a:schemeClr val="accent3"/>
              </a:solidFill>
              <a:prstDash val="solid"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lvl="0" algn="ctr">
                <a:buClrTx/>
                <a:buSzTx/>
                <a:buFont typeface="Wingdings" panose="05000000000000000000" charset="0"/>
              </a:pPr>
              <a:r>
                <a:rPr lang="en-US" altLang="zh-CN" sz="1600" b="1" dirty="0">
                  <a:solidFill>
                    <a:schemeClr val="bg1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DM9</a:t>
              </a:r>
              <a:endParaRPr lang="en-US" altLang="zh-CN" sz="1600" b="1" dirty="0">
                <a:solidFill>
                  <a:schemeClr val="bg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微软雅黑" panose="020B0503020204020204" pitchFamily="34" charset="-122"/>
                <a:sym typeface="Poppins" panose="02000000000000000000" pitchFamily="2" charset="0"/>
              </a:endParaRPr>
            </a:p>
          </p:txBody>
        </p:sp>
        <p:cxnSp>
          <p:nvCxnSpPr>
            <p:cNvPr id="24" name="米菲PPT20"/>
            <p:cNvCxnSpPr/>
            <p:nvPr/>
          </p:nvCxnSpPr>
          <p:spPr>
            <a:xfrm flipH="1">
              <a:off x="357" y="1761"/>
              <a:ext cx="1127" cy="0"/>
            </a:xfrm>
            <a:prstGeom prst="straightConnector1">
              <a:avLst/>
            </a:prstGeom>
            <a:ln w="15875">
              <a:solidFill>
                <a:schemeClr val="accent3">
                  <a:alpha val="60000"/>
                </a:schemeClr>
              </a:solidFill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米菲PPT21"/>
            <p:cNvCxnSpPr/>
            <p:nvPr/>
          </p:nvCxnSpPr>
          <p:spPr>
            <a:xfrm>
              <a:off x="3504" y="1765"/>
              <a:ext cx="1053" cy="0"/>
            </a:xfrm>
            <a:prstGeom prst="straightConnector1">
              <a:avLst/>
            </a:prstGeom>
            <a:ln w="15875">
              <a:solidFill>
                <a:schemeClr val="accent3">
                  <a:alpha val="60000"/>
                </a:schemeClr>
              </a:solidFill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7841020" y="2746870"/>
            <a:ext cx="4337232" cy="32409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43" name="矩形"/>
          <p:cNvSpPr/>
          <p:nvPr/>
        </p:nvSpPr>
        <p:spPr>
          <a:xfrm>
            <a:off x="167531" y="1134288"/>
            <a:ext cx="7797521" cy="5075593"/>
          </a:xfrm>
          <a:prstGeom prst="roundRect">
            <a:avLst>
              <a:gd name="adj" fmla="val 1819"/>
            </a:avLst>
          </a:prstGeom>
          <a:solidFill>
            <a:schemeClr val="bg1"/>
          </a:solidFill>
          <a:ln w="12700">
            <a:miter lim="400000"/>
          </a:ln>
          <a:effectLst>
            <a:outerShdw blurRad="355600" dist="127000" dir="3600000" algn="tl" rotWithShape="0">
              <a:srgbClr val="000050">
                <a:alpha val="18000"/>
              </a:srgbClr>
            </a:outerShdw>
          </a:effectLst>
        </p:spPr>
        <p:txBody>
          <a:bodyPr lIns="0" tIns="0" rIns="0" bIns="0"/>
          <a:lstStyle/>
          <a:p>
            <a:endParaRPr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0685" y="1331615"/>
            <a:ext cx="7507078" cy="4656231"/>
            <a:chOff x="989330" y="292100"/>
            <a:chExt cx="9898380" cy="6456677"/>
          </a:xfrm>
        </p:grpSpPr>
        <p:sp>
          <p:nvSpPr>
            <p:cNvPr id="3" name="矩形 2"/>
            <p:cNvSpPr/>
            <p:nvPr/>
          </p:nvSpPr>
          <p:spPr>
            <a:xfrm>
              <a:off x="989330" y="1499616"/>
              <a:ext cx="9898380" cy="5249161"/>
            </a:xfrm>
            <a:prstGeom prst="rect">
              <a:avLst/>
            </a:prstGeom>
            <a:solidFill>
              <a:srgbClr val="D1DDFF">
                <a:alpha val="50000"/>
              </a:srgbClr>
            </a:solidFill>
            <a:ln w="12700" cap="flat" cmpd="sng" algn="ctr">
              <a:noFill/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136650" y="2337432"/>
              <a:ext cx="4304030" cy="130873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1B1CF0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188651" y="2091687"/>
              <a:ext cx="4162715" cy="415925"/>
            </a:xfrm>
            <a:prstGeom prst="rect">
              <a:avLst/>
            </a:prstGeom>
            <a:solidFill>
              <a:srgbClr val="0000D2"/>
            </a:solidFill>
            <a:ln>
              <a:noFill/>
            </a:ln>
            <a:effectLst>
              <a:outerShdw blurRad="254000" dist="114300" dir="3600000" algn="t" rotWithShape="0">
                <a:srgbClr val="054AEA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200" b="1" dirty="0">
                  <a:solidFill>
                    <a:prstClr val="white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元数据服务节点</a:t>
              </a:r>
              <a:r>
                <a:rPr lang="en-US" altLang="zh-CN" sz="1200" b="1" dirty="0">
                  <a:solidFill>
                    <a:prstClr val="white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 MetaData Processor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6477635" y="2328542"/>
              <a:ext cx="4282440" cy="130873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1B1CF0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36650" y="4197347"/>
              <a:ext cx="9624060" cy="239649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000D2"/>
              </a:solidFill>
              <a:prstDash val="sysDash"/>
              <a:miter lim="800000"/>
            </a:ln>
            <a:effectLst/>
          </p:spPr>
          <p:txBody>
            <a:bodyPr l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391285" y="3965572"/>
              <a:ext cx="9113520" cy="417830"/>
            </a:xfrm>
            <a:prstGeom prst="rect">
              <a:avLst/>
            </a:prstGeom>
            <a:solidFill>
              <a:srgbClr val="0000D2"/>
            </a:solidFill>
            <a:ln>
              <a:noFill/>
            </a:ln>
            <a:effectLst>
              <a:outerShdw blurRad="254000" dist="114300" dir="3600000" algn="t" rotWithShape="0">
                <a:srgbClr val="054AEA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zh-CN" altLang="en-US" sz="1200" b="1" dirty="0">
                  <a:solidFill>
                    <a:prstClr val="white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数据存储节点</a:t>
              </a:r>
              <a:r>
                <a:rPr lang="en-US" altLang="zh-CN" sz="1200" b="1" dirty="0">
                  <a:solidFill>
                    <a:prstClr val="white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  Backend Processor</a:t>
              </a:r>
            </a:p>
          </p:txBody>
        </p:sp>
        <p:sp>
          <p:nvSpPr>
            <p:cNvPr id="9" name="圆角矩形 6"/>
            <p:cNvSpPr/>
            <p:nvPr/>
          </p:nvSpPr>
          <p:spPr>
            <a:xfrm>
              <a:off x="1561465" y="2821301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D2"/>
                  </a:solidFill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MP_A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989330" y="292100"/>
              <a:ext cx="9897744" cy="417600"/>
            </a:xfrm>
            <a:prstGeom prst="rect">
              <a:avLst/>
            </a:prstGeom>
            <a:solidFill>
              <a:srgbClr val="D1DDFF">
                <a:alpha val="50000"/>
              </a:srgbClr>
            </a:solidFill>
            <a:ln w="12700" cap="flat" cmpd="sng" algn="ctr">
              <a:noFill/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应用层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6833235" y="2099942"/>
              <a:ext cx="3627120" cy="415925"/>
            </a:xfrm>
            <a:prstGeom prst="rect">
              <a:avLst/>
            </a:prstGeom>
            <a:solidFill>
              <a:srgbClr val="0000D2"/>
            </a:solidFill>
            <a:ln>
              <a:noFill/>
            </a:ln>
            <a:effectLst>
              <a:outerShdw blurRad="254000" dist="114300" dir="3600000" algn="t" rotWithShape="0">
                <a:srgbClr val="054AEA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200" b="1">
                  <a:solidFill>
                    <a:prstClr val="white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计划生成节点</a:t>
              </a:r>
              <a:r>
                <a:rPr lang="en-US" altLang="zh-CN" sz="1200" b="1" dirty="0">
                  <a:solidFill>
                    <a:prstClr val="white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 SQL Processor</a:t>
              </a:r>
            </a:p>
          </p:txBody>
        </p:sp>
        <p:sp>
          <p:nvSpPr>
            <p:cNvPr id="12" name="圆角矩形 9"/>
            <p:cNvSpPr/>
            <p:nvPr/>
          </p:nvSpPr>
          <p:spPr>
            <a:xfrm>
              <a:off x="2787015" y="2821301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D2"/>
                  </a:solidFill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MP_B</a:t>
              </a:r>
            </a:p>
          </p:txBody>
        </p:sp>
        <p:sp>
          <p:nvSpPr>
            <p:cNvPr id="13" name="圆角矩形 10"/>
            <p:cNvSpPr/>
            <p:nvPr/>
          </p:nvSpPr>
          <p:spPr>
            <a:xfrm>
              <a:off x="4012565" y="2821301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D2"/>
                  </a:solidFill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MP_C</a:t>
              </a:r>
            </a:p>
          </p:txBody>
        </p:sp>
        <p:sp>
          <p:nvSpPr>
            <p:cNvPr id="14" name="圆角矩形 14"/>
            <p:cNvSpPr/>
            <p:nvPr/>
          </p:nvSpPr>
          <p:spPr>
            <a:xfrm>
              <a:off x="7040246" y="2821301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/>
              <a:r>
                <a:rPr lang="en-US" altLang="zh-CN" sz="1200" kern="0" dirty="0">
                  <a:solidFill>
                    <a:srgbClr val="0000D2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SP1</a:t>
              </a:r>
            </a:p>
          </p:txBody>
        </p:sp>
        <p:sp>
          <p:nvSpPr>
            <p:cNvPr id="15" name="圆角矩形 15"/>
            <p:cNvSpPr/>
            <p:nvPr/>
          </p:nvSpPr>
          <p:spPr>
            <a:xfrm>
              <a:off x="8265795" y="2821302"/>
              <a:ext cx="851535" cy="457200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......</a:t>
              </a:r>
            </a:p>
          </p:txBody>
        </p:sp>
        <p:sp>
          <p:nvSpPr>
            <p:cNvPr id="16" name="圆角矩形 16"/>
            <p:cNvSpPr/>
            <p:nvPr/>
          </p:nvSpPr>
          <p:spPr>
            <a:xfrm>
              <a:off x="9491345" y="2821301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/>
              <a:r>
                <a:rPr lang="en-US" altLang="zh-CN" sz="1200" kern="0" dirty="0">
                  <a:solidFill>
                    <a:srgbClr val="0000D2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SP n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989965" y="927735"/>
              <a:ext cx="9897745" cy="417600"/>
            </a:xfrm>
            <a:prstGeom prst="rect">
              <a:avLst/>
            </a:prstGeom>
            <a:solidFill>
              <a:srgbClr val="D1DDFF">
                <a:alpha val="50000"/>
              </a:srgbClr>
            </a:solidFill>
            <a:ln w="12700" cap="flat" cmpd="sng" algn="ctr">
              <a:noFill/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接口层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 JDBC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、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ODBC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、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.NET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、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PHP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、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Python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、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GO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等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365250" y="4508497"/>
              <a:ext cx="1518958" cy="1962785"/>
            </a:xfrm>
            <a:prstGeom prst="rect">
              <a:avLst/>
            </a:prstGeom>
            <a:noFill/>
            <a:ln w="3175" cap="flat" cmpd="sng" algn="ctr">
              <a:solidFill>
                <a:srgbClr val="0000D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255963" y="4508497"/>
              <a:ext cx="1518958" cy="1962785"/>
            </a:xfrm>
            <a:prstGeom prst="rect">
              <a:avLst/>
            </a:prstGeom>
            <a:noFill/>
            <a:ln w="3175" cap="flat" cmpd="sng" algn="ctr">
              <a:solidFill>
                <a:srgbClr val="0000D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146676" y="4508497"/>
              <a:ext cx="1518958" cy="1962785"/>
            </a:xfrm>
            <a:prstGeom prst="rect">
              <a:avLst/>
            </a:prstGeom>
            <a:noFill/>
            <a:ln w="3175" cap="flat" cmpd="sng" algn="ctr">
              <a:solidFill>
                <a:srgbClr val="0000D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037390" y="4508497"/>
              <a:ext cx="1518958" cy="1962785"/>
            </a:xfrm>
            <a:prstGeom prst="rect">
              <a:avLst/>
            </a:prstGeom>
            <a:noFill/>
            <a:ln w="3175" cap="flat" cmpd="sng" algn="ctr">
              <a:solidFill>
                <a:srgbClr val="0000D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22" name="圆角矩形 29"/>
            <p:cNvSpPr/>
            <p:nvPr/>
          </p:nvSpPr>
          <p:spPr>
            <a:xfrm>
              <a:off x="1698961" y="4650737"/>
              <a:ext cx="851535" cy="457200"/>
            </a:xfrm>
            <a:prstGeom prst="roundRect">
              <a:avLst/>
            </a:prstGeom>
            <a:solidFill>
              <a:srgbClr val="0000D2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D2"/>
                  </a:solidFill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BP1_A</a:t>
              </a:r>
            </a:p>
          </p:txBody>
        </p:sp>
        <p:sp>
          <p:nvSpPr>
            <p:cNvPr id="23" name="圆角矩形 30"/>
            <p:cNvSpPr/>
            <p:nvPr/>
          </p:nvSpPr>
          <p:spPr>
            <a:xfrm>
              <a:off x="1698961" y="5261607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BP3_B</a:t>
              </a:r>
            </a:p>
          </p:txBody>
        </p:sp>
        <p:sp>
          <p:nvSpPr>
            <p:cNvPr id="24" name="圆角矩形 31"/>
            <p:cNvSpPr/>
            <p:nvPr/>
          </p:nvSpPr>
          <p:spPr>
            <a:xfrm>
              <a:off x="1698961" y="5872476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BP2_C</a:t>
              </a:r>
            </a:p>
          </p:txBody>
        </p:sp>
        <p:sp>
          <p:nvSpPr>
            <p:cNvPr id="25" name="圆角矩形 32"/>
            <p:cNvSpPr/>
            <p:nvPr/>
          </p:nvSpPr>
          <p:spPr>
            <a:xfrm>
              <a:off x="3589675" y="4650737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BP2_A</a:t>
              </a:r>
            </a:p>
          </p:txBody>
        </p:sp>
        <p:sp>
          <p:nvSpPr>
            <p:cNvPr id="26" name="圆角矩形 33"/>
            <p:cNvSpPr/>
            <p:nvPr/>
          </p:nvSpPr>
          <p:spPr>
            <a:xfrm>
              <a:off x="3589675" y="5261607"/>
              <a:ext cx="851535" cy="457200"/>
            </a:xfrm>
            <a:prstGeom prst="roundRect">
              <a:avLst/>
            </a:prstGeom>
            <a:solidFill>
              <a:srgbClr val="0000D2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solidFill>
                    <a:srgbClr val="0000D2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BP1_B</a:t>
              </a:r>
            </a:p>
          </p:txBody>
        </p:sp>
        <p:sp>
          <p:nvSpPr>
            <p:cNvPr id="27" name="圆角矩形 34"/>
            <p:cNvSpPr/>
            <p:nvPr/>
          </p:nvSpPr>
          <p:spPr>
            <a:xfrm>
              <a:off x="3589675" y="5872476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BP3_C</a:t>
              </a:r>
            </a:p>
          </p:txBody>
        </p:sp>
        <p:sp>
          <p:nvSpPr>
            <p:cNvPr id="28" name="圆角矩形 35"/>
            <p:cNvSpPr/>
            <p:nvPr/>
          </p:nvSpPr>
          <p:spPr>
            <a:xfrm>
              <a:off x="5480388" y="4650737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BP3_A</a:t>
              </a:r>
            </a:p>
          </p:txBody>
        </p:sp>
        <p:sp>
          <p:nvSpPr>
            <p:cNvPr id="29" name="圆角矩形 36"/>
            <p:cNvSpPr/>
            <p:nvPr/>
          </p:nvSpPr>
          <p:spPr>
            <a:xfrm>
              <a:off x="5480388" y="5261607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BP2_B</a:t>
              </a:r>
            </a:p>
          </p:txBody>
        </p:sp>
        <p:sp>
          <p:nvSpPr>
            <p:cNvPr id="30" name="圆角矩形 37"/>
            <p:cNvSpPr/>
            <p:nvPr/>
          </p:nvSpPr>
          <p:spPr>
            <a:xfrm>
              <a:off x="5480388" y="5872476"/>
              <a:ext cx="851535" cy="457200"/>
            </a:xfrm>
            <a:prstGeom prst="roundRect">
              <a:avLst/>
            </a:prstGeom>
            <a:solidFill>
              <a:srgbClr val="0000D2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solidFill>
                    <a:srgbClr val="0000D2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BP1_C</a:t>
              </a:r>
            </a:p>
          </p:txBody>
        </p:sp>
        <p:sp>
          <p:nvSpPr>
            <p:cNvPr id="31" name="圆角矩形 38"/>
            <p:cNvSpPr/>
            <p:nvPr/>
          </p:nvSpPr>
          <p:spPr>
            <a:xfrm>
              <a:off x="7371101" y="4689472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......</a:t>
              </a:r>
            </a:p>
          </p:txBody>
        </p:sp>
        <p:sp>
          <p:nvSpPr>
            <p:cNvPr id="35" name="圆角矩形 39"/>
            <p:cNvSpPr/>
            <p:nvPr/>
          </p:nvSpPr>
          <p:spPr>
            <a:xfrm>
              <a:off x="7371101" y="5300341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......</a:t>
              </a:r>
            </a:p>
          </p:txBody>
        </p:sp>
        <p:sp>
          <p:nvSpPr>
            <p:cNvPr id="39" name="圆角矩形 40"/>
            <p:cNvSpPr/>
            <p:nvPr/>
          </p:nvSpPr>
          <p:spPr>
            <a:xfrm>
              <a:off x="7371101" y="5911212"/>
              <a:ext cx="851535" cy="457200"/>
            </a:xfrm>
            <a:prstGeom prst="roundRect">
              <a:avLst/>
            </a:prstGeom>
            <a:solidFill>
              <a:srgbClr val="0000D2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......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8928100" y="4508497"/>
              <a:ext cx="1518958" cy="1962785"/>
            </a:xfrm>
            <a:prstGeom prst="rect">
              <a:avLst/>
            </a:prstGeom>
            <a:noFill/>
            <a:ln w="3175" cap="flat" cmpd="sng" algn="ctr">
              <a:solidFill>
                <a:srgbClr val="0000D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44" name="圆角矩形 42"/>
            <p:cNvSpPr/>
            <p:nvPr/>
          </p:nvSpPr>
          <p:spPr>
            <a:xfrm>
              <a:off x="9261812" y="4688837"/>
              <a:ext cx="851535" cy="457200"/>
            </a:xfrm>
            <a:prstGeom prst="roundRect">
              <a:avLst/>
            </a:prstGeom>
            <a:solidFill>
              <a:srgbClr val="0000D2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solidFill>
                    <a:srgbClr val="0000D2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BPn_A</a:t>
              </a:r>
            </a:p>
          </p:txBody>
        </p:sp>
        <p:sp>
          <p:nvSpPr>
            <p:cNvPr id="49" name="圆角矩形 43"/>
            <p:cNvSpPr/>
            <p:nvPr/>
          </p:nvSpPr>
          <p:spPr>
            <a:xfrm>
              <a:off x="9261812" y="5299708"/>
              <a:ext cx="851535" cy="457200"/>
            </a:xfrm>
            <a:prstGeom prst="roundRect">
              <a:avLst/>
            </a:prstGeom>
            <a:solidFill>
              <a:srgbClr val="0000D2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solidFill>
                    <a:srgbClr val="0000D2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BPn_B</a:t>
              </a:r>
            </a:p>
          </p:txBody>
        </p:sp>
        <p:sp>
          <p:nvSpPr>
            <p:cNvPr id="53" name="圆角矩形 44"/>
            <p:cNvSpPr/>
            <p:nvPr/>
          </p:nvSpPr>
          <p:spPr>
            <a:xfrm>
              <a:off x="9261812" y="5910577"/>
              <a:ext cx="851535" cy="457200"/>
            </a:xfrm>
            <a:prstGeom prst="roundRect">
              <a:avLst/>
            </a:prstGeom>
            <a:solidFill>
              <a:srgbClr val="0000D2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algn="ctr" defTabSz="914400"/>
              <a:r>
                <a:rPr lang="en-US" altLang="zh-CN" sz="1200" kern="0" dirty="0">
                  <a:solidFill>
                    <a:srgbClr val="0000D2"/>
                  </a:solidFill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BPn_C</a:t>
              </a:r>
            </a:p>
          </p:txBody>
        </p:sp>
        <p:sp>
          <p:nvSpPr>
            <p:cNvPr id="54" name="上下箭头 46"/>
            <p:cNvSpPr/>
            <p:nvPr/>
          </p:nvSpPr>
          <p:spPr>
            <a:xfrm>
              <a:off x="2933700" y="3656327"/>
              <a:ext cx="201295" cy="309245"/>
            </a:xfrm>
            <a:prstGeom prst="upDownArrow">
              <a:avLst/>
            </a:prstGeom>
            <a:solidFill>
              <a:srgbClr val="0000D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55" name="上下箭头 47"/>
            <p:cNvSpPr/>
            <p:nvPr/>
          </p:nvSpPr>
          <p:spPr>
            <a:xfrm>
              <a:off x="8532495" y="3646802"/>
              <a:ext cx="201295" cy="309245"/>
            </a:xfrm>
            <a:prstGeom prst="upDownArrow">
              <a:avLst/>
            </a:prstGeom>
            <a:solidFill>
              <a:srgbClr val="0000D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56" name="左右箭头 49"/>
            <p:cNvSpPr/>
            <p:nvPr/>
          </p:nvSpPr>
          <p:spPr>
            <a:xfrm>
              <a:off x="5456555" y="2866387"/>
              <a:ext cx="1013460" cy="220980"/>
            </a:xfrm>
            <a:prstGeom prst="leftRightArrow">
              <a:avLst/>
            </a:prstGeom>
            <a:solidFill>
              <a:srgbClr val="0000D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58" name="上下箭头 51"/>
            <p:cNvSpPr/>
            <p:nvPr/>
          </p:nvSpPr>
          <p:spPr>
            <a:xfrm>
              <a:off x="5860733" y="709930"/>
              <a:ext cx="154940" cy="220980"/>
            </a:xfrm>
            <a:prstGeom prst="upDownArrow">
              <a:avLst/>
            </a:prstGeom>
            <a:solidFill>
              <a:srgbClr val="0000D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1042486" y="1931858"/>
              <a:ext cx="9844588" cy="4772074"/>
            </a:xfrm>
            <a:prstGeom prst="rect">
              <a:avLst/>
            </a:prstGeom>
            <a:noFill/>
            <a:ln w="19050" cap="flat" cmpd="sng" algn="ctr">
              <a:solidFill>
                <a:srgbClr val="EC1B34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5146676" y="1608008"/>
              <a:ext cx="1518956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D2"/>
                  </a:solidFill>
                  <a:effectLst/>
                  <a:uLnTx/>
                  <a:uFillTx/>
                  <a:latin typeface="Poppins" panose="02000000000000000000" pitchFamily="2" charset="0"/>
                  <a:ea typeface="HarmonyOS Sans SC" panose="00000500000000000000" pitchFamily="2" charset="-122"/>
                  <a:cs typeface="+mn-ea"/>
                  <a:sym typeface="Poppins" panose="02000000000000000000" pitchFamily="2" charset="0"/>
                </a:rPr>
                <a:t>DMDPC</a:t>
              </a:r>
            </a:p>
          </p:txBody>
        </p:sp>
        <p:sp>
          <p:nvSpPr>
            <p:cNvPr id="57" name="上下箭头 50"/>
            <p:cNvSpPr/>
            <p:nvPr/>
          </p:nvSpPr>
          <p:spPr>
            <a:xfrm>
              <a:off x="8441056" y="1350009"/>
              <a:ext cx="187325" cy="723474"/>
            </a:xfrm>
            <a:prstGeom prst="upDownArrow">
              <a:avLst/>
            </a:prstGeom>
            <a:solidFill>
              <a:srgbClr val="0000D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/>
              <a:endParaRPr lang="zh-CN" altLang="en-US" sz="1200" kern="0">
                <a:solidFill>
                  <a:srgbClr val="FFFFFF"/>
                </a:solidFill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</p:grpSp>
      <p:sp>
        <p:nvSpPr>
          <p:cNvPr id="61" name="标题 6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高性能</a:t>
            </a: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-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分布式集群技术突破上限</a:t>
            </a:r>
          </a:p>
        </p:txBody>
      </p:sp>
      <p:sp>
        <p:nvSpPr>
          <p:cNvPr id="33" name="矩形: 圆角 30"/>
          <p:cNvSpPr/>
          <p:nvPr/>
        </p:nvSpPr>
        <p:spPr>
          <a:xfrm>
            <a:off x="7989569" y="2793883"/>
            <a:ext cx="4041791" cy="270895"/>
          </a:xfrm>
          <a:prstGeom prst="roundRect">
            <a:avLst>
              <a:gd name="adj" fmla="val 50000"/>
            </a:avLst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179705" indent="-179705">
              <a:buBlip>
                <a:blip r:embed="rId2"/>
              </a:buBlip>
            </a:pPr>
            <a:r>
              <a:rPr kumimoji="1" lang="zh-CN" altLang="en-US" sz="1300" b="1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数据多副本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，支持异地多活灾备</a:t>
            </a:r>
          </a:p>
        </p:txBody>
      </p:sp>
      <p:sp>
        <p:nvSpPr>
          <p:cNvPr id="34" name="矩形: 圆角 30"/>
          <p:cNvSpPr/>
          <p:nvPr/>
        </p:nvSpPr>
        <p:spPr>
          <a:xfrm>
            <a:off x="7989718" y="5548233"/>
            <a:ext cx="4038687" cy="270895"/>
          </a:xfrm>
          <a:prstGeom prst="roundRect">
            <a:avLst>
              <a:gd name="adj" fmla="val 50000"/>
            </a:avLst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179705" indent="-179705">
              <a:buBlip>
                <a:blip r:embed="rId2"/>
              </a:buBlip>
            </a:pP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像</a:t>
            </a:r>
            <a:r>
              <a:rPr kumimoji="1" lang="zh-CN" altLang="en-US" sz="1300" b="1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集中式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数据库一样使用分布式数据库</a:t>
            </a:r>
          </a:p>
        </p:txBody>
      </p:sp>
      <p:sp>
        <p:nvSpPr>
          <p:cNvPr id="36" name="矩形: 圆角 30"/>
          <p:cNvSpPr/>
          <p:nvPr/>
        </p:nvSpPr>
        <p:spPr>
          <a:xfrm>
            <a:off x="7989718" y="4446493"/>
            <a:ext cx="4038687" cy="270895"/>
          </a:xfrm>
          <a:prstGeom prst="roundRect">
            <a:avLst>
              <a:gd name="adj" fmla="val 50000"/>
            </a:avLst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179705" indent="-179705">
              <a:buBlip>
                <a:blip r:embed="rId2"/>
              </a:buBlip>
            </a:pPr>
            <a:r>
              <a:rPr kumimoji="1" lang="en-US" altLang="zh-CN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SQL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操作符</a:t>
            </a:r>
            <a:r>
              <a:rPr kumimoji="1" lang="zh-CN" altLang="en-US" sz="1300" b="1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细粒度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下推，</a:t>
            </a:r>
            <a:r>
              <a:rPr kumimoji="1" lang="zh-CN" altLang="en-US" sz="1300" b="1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极致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提升数据访问效率</a:t>
            </a:r>
          </a:p>
        </p:txBody>
      </p:sp>
      <p:sp>
        <p:nvSpPr>
          <p:cNvPr id="37" name="矩形: 圆角 30"/>
          <p:cNvSpPr/>
          <p:nvPr/>
        </p:nvSpPr>
        <p:spPr>
          <a:xfrm>
            <a:off x="7989718" y="3895623"/>
            <a:ext cx="4038687" cy="270895"/>
          </a:xfrm>
          <a:prstGeom prst="roundRect">
            <a:avLst>
              <a:gd name="adj" fmla="val 50000"/>
            </a:avLst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179705" indent="-179705">
              <a:buBlip>
                <a:blip r:embed="rId2"/>
              </a:buBlip>
            </a:pP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强化分布式事务管理</a:t>
            </a:r>
            <a:r>
              <a:rPr kumimoji="1" lang="zh-CN" altLang="en-US" sz="1300" dirty="0"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，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确保分布式事务</a:t>
            </a:r>
            <a:r>
              <a:rPr kumimoji="1" lang="zh-CN" altLang="en-US" sz="1300" b="1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强一致</a:t>
            </a:r>
          </a:p>
        </p:txBody>
      </p:sp>
      <p:sp>
        <p:nvSpPr>
          <p:cNvPr id="38" name="矩形: 圆角 30"/>
          <p:cNvSpPr/>
          <p:nvPr/>
        </p:nvSpPr>
        <p:spPr>
          <a:xfrm>
            <a:off x="7989717" y="3344753"/>
            <a:ext cx="4336941" cy="270895"/>
          </a:xfrm>
          <a:prstGeom prst="roundRect">
            <a:avLst>
              <a:gd name="adj" fmla="val 50000"/>
            </a:avLst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179705" indent="-179705">
              <a:buBlip>
                <a:blip r:embed="rId2"/>
              </a:buBlip>
            </a:pPr>
            <a:r>
              <a:rPr kumimoji="1" lang="zh-CN" altLang="en-US" sz="1300" b="1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存算分离</a:t>
            </a:r>
            <a:r>
              <a:rPr kumimoji="1" lang="en-US" altLang="zh-CN" sz="1300" b="1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 </a:t>
            </a:r>
            <a:r>
              <a:rPr kumimoji="1" lang="zh-CN" altLang="en-US" sz="1300" b="1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独立扩展</a:t>
            </a:r>
            <a:r>
              <a:rPr kumimoji="1" lang="zh-CN" altLang="en-US" sz="1300" dirty="0"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，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避免资源捆绑</a:t>
            </a:r>
            <a:r>
              <a:rPr kumimoji="1" lang="en-US" altLang="zh-CN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 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提高资源利用率</a:t>
            </a:r>
          </a:p>
        </p:txBody>
      </p:sp>
      <p:sp>
        <p:nvSpPr>
          <p:cNvPr id="41" name="矩形: 圆角 30"/>
          <p:cNvSpPr/>
          <p:nvPr/>
        </p:nvSpPr>
        <p:spPr>
          <a:xfrm>
            <a:off x="7989718" y="4997363"/>
            <a:ext cx="4038687" cy="270895"/>
          </a:xfrm>
          <a:prstGeom prst="roundRect">
            <a:avLst>
              <a:gd name="adj" fmla="val 50000"/>
            </a:avLst>
          </a:pr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179705" indent="-179705">
              <a:buBlip>
                <a:blip r:embed="rId2"/>
              </a:buBlip>
            </a:pPr>
            <a:r>
              <a:rPr kumimoji="1" lang="zh-CN" altLang="en-US" sz="1300" b="1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多机并行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协同计算</a:t>
            </a:r>
            <a:r>
              <a:rPr kumimoji="1" lang="zh-CN" altLang="en-US" sz="1300" dirty="0"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，</a:t>
            </a:r>
            <a:r>
              <a:rPr kumimoji="1" lang="zh-CN" altLang="en-US" sz="1300" b="1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全维度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增强</a:t>
            </a:r>
            <a:r>
              <a:rPr kumimoji="1" lang="en-US" altLang="zh-CN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SQL</a:t>
            </a:r>
            <a:r>
              <a:rPr kumimoji="1" lang="zh-CN" altLang="en-US" sz="1300" dirty="0">
                <a:ln>
                  <a:noFill/>
                </a:ln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分析能力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高性能</a:t>
            </a:r>
            <a:r>
              <a:rPr lang="en-US" altLang="zh-CN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-</a:t>
            </a:r>
            <a:r>
              <a: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全国产平台性能优化</a:t>
            </a:r>
          </a:p>
        </p:txBody>
      </p:sp>
      <p:sp>
        <p:nvSpPr>
          <p:cNvPr id="76" name="矩形: 圆角 75"/>
          <p:cNvSpPr/>
          <p:nvPr/>
        </p:nvSpPr>
        <p:spPr>
          <a:xfrm>
            <a:off x="222278" y="1196613"/>
            <a:ext cx="2266530" cy="2455830"/>
          </a:xfrm>
          <a:prstGeom prst="roundRect">
            <a:avLst>
              <a:gd name="adj" fmla="val 8012"/>
            </a:avLst>
          </a:prstGeom>
          <a:solidFill>
            <a:schemeClr val="bg1"/>
          </a:solidFill>
          <a:ln w="25400">
            <a:noFill/>
            <a:miter lim="400000"/>
          </a:ln>
          <a:effectLst>
            <a:outerShdw blurRad="355600" dist="127000" dir="3600000" algn="tl" rotWithShape="0">
              <a:srgbClr val="00005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194" name="矩形: 圆角 193"/>
          <p:cNvSpPr/>
          <p:nvPr/>
        </p:nvSpPr>
        <p:spPr>
          <a:xfrm>
            <a:off x="2614683" y="1196613"/>
            <a:ext cx="2266530" cy="2455830"/>
          </a:xfrm>
          <a:prstGeom prst="roundRect">
            <a:avLst>
              <a:gd name="adj" fmla="val 8012"/>
            </a:avLst>
          </a:prstGeom>
          <a:solidFill>
            <a:schemeClr val="bg1"/>
          </a:solidFill>
          <a:ln w="25400">
            <a:noFill/>
            <a:miter lim="400000"/>
          </a:ln>
          <a:effectLst>
            <a:outerShdw blurRad="355600" dist="127000" dir="3600000" algn="tl" rotWithShape="0">
              <a:srgbClr val="00005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195" name="矩形: 圆角 194"/>
          <p:cNvSpPr/>
          <p:nvPr/>
        </p:nvSpPr>
        <p:spPr>
          <a:xfrm>
            <a:off x="5007088" y="1196613"/>
            <a:ext cx="2266530" cy="2455830"/>
          </a:xfrm>
          <a:prstGeom prst="roundRect">
            <a:avLst>
              <a:gd name="adj" fmla="val 8012"/>
            </a:avLst>
          </a:prstGeom>
          <a:solidFill>
            <a:schemeClr val="bg1"/>
          </a:solidFill>
          <a:ln w="25400">
            <a:noFill/>
            <a:miter lim="400000"/>
          </a:ln>
          <a:effectLst>
            <a:outerShdw blurRad="355600" dist="127000" dir="3600000" algn="tl" rotWithShape="0">
              <a:srgbClr val="00005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196" name="矩形: 圆角 195"/>
          <p:cNvSpPr/>
          <p:nvPr/>
        </p:nvSpPr>
        <p:spPr>
          <a:xfrm>
            <a:off x="7399492" y="1196613"/>
            <a:ext cx="2266530" cy="2455830"/>
          </a:xfrm>
          <a:prstGeom prst="roundRect">
            <a:avLst>
              <a:gd name="adj" fmla="val 8012"/>
            </a:avLst>
          </a:prstGeom>
          <a:solidFill>
            <a:schemeClr val="bg1"/>
          </a:solidFill>
          <a:ln w="25400">
            <a:noFill/>
            <a:miter lim="400000"/>
          </a:ln>
          <a:effectLst>
            <a:outerShdw blurRad="355600" dist="127000" dir="3600000" algn="tl" rotWithShape="0">
              <a:srgbClr val="00005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72170" y="1619111"/>
            <a:ext cx="1330286" cy="2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srgbClr val="A6A4A6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Storage Optimization</a:t>
            </a:r>
            <a:endParaRPr kumimoji="0" lang="zh-CN" altLang="en-US" sz="800" b="0" i="1" u="none" strike="noStrike" kern="0" cap="none" spc="0" normalizeH="0" baseline="0" noProof="0" dirty="0">
              <a:ln>
                <a:noFill/>
              </a:ln>
              <a:solidFill>
                <a:srgbClr val="A6A4A6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cxnSp>
        <p:nvCxnSpPr>
          <p:cNvPr id="80" name="直接连接符 79"/>
          <p:cNvCxnSpPr/>
          <p:nvPr/>
        </p:nvCxnSpPr>
        <p:spPr>
          <a:xfrm>
            <a:off x="336640" y="1714885"/>
            <a:ext cx="335026" cy="0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sp>
        <p:nvSpPr>
          <p:cNvPr id="109" name="文本框 91"/>
          <p:cNvSpPr txBox="1"/>
          <p:nvPr/>
        </p:nvSpPr>
        <p:spPr>
          <a:xfrm>
            <a:off x="278985" y="1795958"/>
            <a:ext cx="2159793" cy="104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多页预读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全局对象优化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ASM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镜像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&amp;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条带化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120" name="文本框 7"/>
          <p:cNvSpPr txBox="1"/>
          <p:nvPr/>
        </p:nvSpPr>
        <p:spPr>
          <a:xfrm>
            <a:off x="2721420" y="1795958"/>
            <a:ext cx="21597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多维统计信息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优化参数的自适应支持</a:t>
            </a:r>
          </a:p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视图条件下放优化增强</a:t>
            </a:r>
          </a:p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语句块独立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HINT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支持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MERGE 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原生操作符优化</a:t>
            </a:r>
          </a:p>
        </p:txBody>
      </p:sp>
      <p:sp>
        <p:nvSpPr>
          <p:cNvPr id="131" name="文本框 34"/>
          <p:cNvSpPr txBox="1"/>
          <p:nvPr/>
        </p:nvSpPr>
        <p:spPr>
          <a:xfrm>
            <a:off x="5148181" y="1795958"/>
            <a:ext cx="2319913" cy="1849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Redo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日志包</a:t>
            </a:r>
          </a:p>
          <a:p>
            <a:pPr marL="171450" indent="-171450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并行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Redo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日志</a:t>
            </a:r>
          </a:p>
          <a:p>
            <a:pPr marL="171450" indent="-171450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并行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Purge</a:t>
            </a:r>
          </a:p>
          <a:p>
            <a:pPr marL="171450" indent="-171450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独立的回滚段分片缓存</a:t>
            </a:r>
          </a:p>
          <a:p>
            <a:pPr marL="171450" indent="-171450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子任务为空时连接提前结束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物化视图功能增强</a:t>
            </a:r>
          </a:p>
          <a:p>
            <a:pPr marL="171450" indent="-171450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en-US" altLang="zh-CN" sz="1200" dirty="0" err="1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DBlink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 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增强</a:t>
            </a:r>
          </a:p>
        </p:txBody>
      </p:sp>
      <p:sp>
        <p:nvSpPr>
          <p:cNvPr id="142" name="文本框 23"/>
          <p:cNvSpPr txBox="1"/>
          <p:nvPr/>
        </p:nvSpPr>
        <p:spPr>
          <a:xfrm>
            <a:off x="7573324" y="1795958"/>
            <a:ext cx="2205675" cy="1325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子查询合并优化</a:t>
            </a:r>
          </a:p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复杂表达式优化</a:t>
            </a:r>
          </a:p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过滤表消除优化</a:t>
            </a:r>
          </a:p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排序算法优化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层次查询性能优化</a:t>
            </a:r>
          </a:p>
        </p:txBody>
      </p:sp>
      <p:cxnSp>
        <p:nvCxnSpPr>
          <p:cNvPr id="197" name="直接连接符 196"/>
          <p:cNvCxnSpPr/>
          <p:nvPr/>
        </p:nvCxnSpPr>
        <p:spPr>
          <a:xfrm>
            <a:off x="2758297" y="1714885"/>
            <a:ext cx="335026" cy="0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cxnSp>
        <p:nvCxnSpPr>
          <p:cNvPr id="198" name="直接连接符 197"/>
          <p:cNvCxnSpPr/>
          <p:nvPr/>
        </p:nvCxnSpPr>
        <p:spPr>
          <a:xfrm>
            <a:off x="5146294" y="1714885"/>
            <a:ext cx="335026" cy="0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cxnSp>
        <p:nvCxnSpPr>
          <p:cNvPr id="199" name="直接连接符 198"/>
          <p:cNvCxnSpPr/>
          <p:nvPr/>
        </p:nvCxnSpPr>
        <p:spPr>
          <a:xfrm>
            <a:off x="7602479" y="1714885"/>
            <a:ext cx="335026" cy="0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sp>
        <p:nvSpPr>
          <p:cNvPr id="200" name="矩形: 圆角 199"/>
          <p:cNvSpPr/>
          <p:nvPr/>
        </p:nvSpPr>
        <p:spPr>
          <a:xfrm>
            <a:off x="222278" y="3817970"/>
            <a:ext cx="2266530" cy="2455830"/>
          </a:xfrm>
          <a:prstGeom prst="roundRect">
            <a:avLst>
              <a:gd name="adj" fmla="val 8012"/>
            </a:avLst>
          </a:prstGeom>
          <a:solidFill>
            <a:schemeClr val="bg1"/>
          </a:solidFill>
          <a:ln w="25400">
            <a:noFill/>
            <a:miter lim="400000"/>
          </a:ln>
          <a:effectLst>
            <a:outerShdw blurRad="355600" dist="127000" dir="3600000" algn="tl" rotWithShape="0">
              <a:srgbClr val="00005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201" name="矩形: 圆角 200"/>
          <p:cNvSpPr/>
          <p:nvPr/>
        </p:nvSpPr>
        <p:spPr>
          <a:xfrm>
            <a:off x="2614683" y="3817970"/>
            <a:ext cx="2266530" cy="2455830"/>
          </a:xfrm>
          <a:prstGeom prst="roundRect">
            <a:avLst>
              <a:gd name="adj" fmla="val 8012"/>
            </a:avLst>
          </a:prstGeom>
          <a:solidFill>
            <a:schemeClr val="bg1"/>
          </a:solidFill>
          <a:ln w="25400">
            <a:noFill/>
            <a:miter lim="400000"/>
          </a:ln>
          <a:effectLst>
            <a:outerShdw blurRad="355600" dist="127000" dir="3600000" algn="tl" rotWithShape="0">
              <a:srgbClr val="00005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202" name="矩形: 圆角 201"/>
          <p:cNvSpPr/>
          <p:nvPr/>
        </p:nvSpPr>
        <p:spPr>
          <a:xfrm>
            <a:off x="5007088" y="3817970"/>
            <a:ext cx="2266530" cy="2455830"/>
          </a:xfrm>
          <a:prstGeom prst="roundRect">
            <a:avLst>
              <a:gd name="adj" fmla="val 8012"/>
            </a:avLst>
          </a:prstGeom>
          <a:solidFill>
            <a:schemeClr val="bg1"/>
          </a:solidFill>
          <a:ln w="25400">
            <a:noFill/>
            <a:miter lim="400000"/>
          </a:ln>
          <a:effectLst>
            <a:outerShdw blurRad="355600" dist="127000" dir="3600000" algn="tl" rotWithShape="0">
              <a:srgbClr val="00005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203" name="矩形: 圆角 202"/>
          <p:cNvSpPr/>
          <p:nvPr/>
        </p:nvSpPr>
        <p:spPr>
          <a:xfrm>
            <a:off x="7399492" y="3817970"/>
            <a:ext cx="2266530" cy="2455830"/>
          </a:xfrm>
          <a:prstGeom prst="roundRect">
            <a:avLst>
              <a:gd name="adj" fmla="val 8012"/>
            </a:avLst>
          </a:prstGeom>
          <a:solidFill>
            <a:schemeClr val="bg1"/>
          </a:solidFill>
          <a:ln w="25400">
            <a:noFill/>
            <a:miter lim="400000"/>
          </a:ln>
          <a:effectLst>
            <a:outerShdw blurRad="355600" dist="127000" dir="3600000" algn="tl" rotWithShape="0">
              <a:srgbClr val="000050">
                <a:alpha val="12000"/>
              </a:srgbClr>
            </a:outerShdw>
          </a:effectLst>
        </p:spPr>
        <p:txBody>
          <a:bodyPr lIns="0" tIns="0" rIns="0" bIns="0"/>
          <a:lstStyle/>
          <a:p>
            <a:endParaRPr lang="zh-CN" altLang="en-US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cxnSp>
        <p:nvCxnSpPr>
          <p:cNvPr id="204" name="直接连接符 203"/>
          <p:cNvCxnSpPr/>
          <p:nvPr/>
        </p:nvCxnSpPr>
        <p:spPr>
          <a:xfrm>
            <a:off x="336640" y="4336242"/>
            <a:ext cx="335026" cy="0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cxnSp>
        <p:nvCxnSpPr>
          <p:cNvPr id="213" name="直接连接符 212"/>
          <p:cNvCxnSpPr/>
          <p:nvPr/>
        </p:nvCxnSpPr>
        <p:spPr>
          <a:xfrm>
            <a:off x="2758297" y="4336242"/>
            <a:ext cx="335026" cy="0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cxnSp>
        <p:nvCxnSpPr>
          <p:cNvPr id="214" name="直接连接符 213"/>
          <p:cNvCxnSpPr/>
          <p:nvPr/>
        </p:nvCxnSpPr>
        <p:spPr>
          <a:xfrm>
            <a:off x="5146294" y="4336242"/>
            <a:ext cx="335026" cy="0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cxnSp>
        <p:nvCxnSpPr>
          <p:cNvPr id="215" name="直接连接符 214"/>
          <p:cNvCxnSpPr/>
          <p:nvPr/>
        </p:nvCxnSpPr>
        <p:spPr>
          <a:xfrm>
            <a:off x="7602479" y="4336242"/>
            <a:ext cx="335026" cy="0"/>
          </a:xfrm>
          <a:prstGeom prst="lin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miter lim="800000"/>
          </a:ln>
          <a:effectLst/>
        </p:spPr>
      </p:cxnSp>
      <p:sp>
        <p:nvSpPr>
          <p:cNvPr id="153" name="文本框 12"/>
          <p:cNvSpPr txBox="1"/>
          <p:nvPr/>
        </p:nvSpPr>
        <p:spPr>
          <a:xfrm>
            <a:off x="5049979" y="4362196"/>
            <a:ext cx="2327600" cy="1246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新并行算法：使用线程池来供应和管理并行线程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并行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select/update/insert/ 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创建索引 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/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 备份还原 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/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 </a:t>
            </a: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……</a:t>
            </a:r>
          </a:p>
        </p:txBody>
      </p:sp>
      <p:sp>
        <p:nvSpPr>
          <p:cNvPr id="164" name="文本框 91"/>
          <p:cNvSpPr txBox="1"/>
          <p:nvPr/>
        </p:nvSpPr>
        <p:spPr>
          <a:xfrm>
            <a:off x="278985" y="4341493"/>
            <a:ext cx="2315047" cy="175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大字段批量插入优化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快速装载支持间隔分区表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空间数据导入导出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支持带二级索引表快速装载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快速增量备份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175" name="文本框 91"/>
          <p:cNvSpPr txBox="1"/>
          <p:nvPr/>
        </p:nvSpPr>
        <p:spPr>
          <a:xfrm>
            <a:off x="2668570" y="4376772"/>
            <a:ext cx="2315047" cy="701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批量绑定参数优化快速装载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Java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版快速装载接口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186" name="文本框 91"/>
          <p:cNvSpPr txBox="1"/>
          <p:nvPr/>
        </p:nvSpPr>
        <p:spPr>
          <a:xfrm>
            <a:off x="7516786" y="4341397"/>
            <a:ext cx="2159793" cy="167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异步备库解耦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主备库页损坏修复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集群动态视图以及性能监控优化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Blip>
                <a:blip r:embed="rId2"/>
              </a:buBlip>
            </a:pPr>
            <a:r>
              <a:rPr lang="en-US" altLang="zh-CN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IPV6</a:t>
            </a:r>
            <a:r>
              <a:rPr lang="zh-CN" altLang="en-US" sz="1200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网卡接口自动适配</a:t>
            </a:r>
            <a:endParaRPr lang="en-US" altLang="zh-CN" sz="1200" dirty="0"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3130339" y="1619111"/>
            <a:ext cx="1589837" cy="2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srgbClr val="A6A4A6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Optimizer Optimization</a:t>
            </a:r>
            <a:endParaRPr kumimoji="0" lang="zh-CN" altLang="en-US" sz="800" b="0" i="1" u="none" strike="noStrike" kern="0" cap="none" spc="0" normalizeH="0" baseline="0" noProof="0" dirty="0">
              <a:ln>
                <a:noFill/>
              </a:ln>
              <a:solidFill>
                <a:srgbClr val="A6A4A6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74262" y="1619111"/>
            <a:ext cx="1589837" cy="2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srgbClr val="A6A4A6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Kernel Optimization</a:t>
            </a:r>
            <a:endParaRPr kumimoji="0" lang="zh-CN" altLang="en-US" sz="800" b="0" i="1" u="none" strike="noStrike" kern="0" cap="none" spc="0" normalizeH="0" baseline="0" noProof="0" dirty="0">
              <a:ln>
                <a:noFill/>
              </a:ln>
              <a:solidFill>
                <a:srgbClr val="A6A4A6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22887" y="1619111"/>
            <a:ext cx="1589837" cy="2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srgbClr val="A6A4A6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Query Optimization</a:t>
            </a:r>
            <a:endParaRPr kumimoji="0" lang="zh-CN" altLang="en-US" sz="800" b="0" i="1" u="none" strike="noStrike" kern="0" cap="none" spc="0" normalizeH="0" baseline="0" noProof="0" dirty="0">
              <a:ln>
                <a:noFill/>
              </a:ln>
              <a:solidFill>
                <a:srgbClr val="A6A4A6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2170" y="4231675"/>
            <a:ext cx="1330286" cy="2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srgbClr val="A6A4A6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 Import/Export</a:t>
            </a:r>
            <a:endParaRPr kumimoji="0" lang="zh-CN" altLang="en-US" sz="800" b="0" i="1" u="none" strike="noStrike" kern="0" cap="none" spc="0" normalizeH="0" baseline="0" noProof="0" dirty="0">
              <a:ln>
                <a:noFill/>
              </a:ln>
              <a:solidFill>
                <a:srgbClr val="A6A4A6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30339" y="4231675"/>
            <a:ext cx="1589837" cy="2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srgbClr val="A6A4A6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Development Language </a:t>
            </a:r>
            <a:endParaRPr kumimoji="0" lang="zh-CN" altLang="en-US" sz="800" b="0" i="1" u="none" strike="noStrike" kern="0" cap="none" spc="0" normalizeH="0" baseline="0" noProof="0" dirty="0">
              <a:ln>
                <a:noFill/>
              </a:ln>
              <a:solidFill>
                <a:srgbClr val="A6A4A6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74262" y="4231675"/>
            <a:ext cx="1589837" cy="2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srgbClr val="A6A4A6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Parallel Optimization</a:t>
            </a:r>
            <a:endParaRPr kumimoji="0" lang="zh-CN" altLang="en-US" sz="800" b="0" i="1" u="none" strike="noStrike" kern="0" cap="none" spc="0" normalizeH="0" baseline="0" noProof="0" dirty="0">
              <a:ln>
                <a:noFill/>
              </a:ln>
              <a:solidFill>
                <a:srgbClr val="A6A4A6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22887" y="4231675"/>
            <a:ext cx="1589837" cy="21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srgbClr val="A6A4A6"/>
                </a:solidFill>
                <a:effectLst/>
                <a:uLnTx/>
                <a:uFillTx/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rPr>
              <a:t>Clustering Optimization</a:t>
            </a:r>
            <a:endParaRPr kumimoji="0" lang="zh-CN" altLang="en-US" sz="800" b="0" i="1" u="none" strike="noStrike" kern="0" cap="none" spc="0" normalizeH="0" baseline="0" noProof="0" dirty="0">
              <a:ln>
                <a:noFill/>
              </a:ln>
              <a:solidFill>
                <a:srgbClr val="A6A4A6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sym typeface="Poppins" panose="02000000000000000000" pitchFamily="2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19507" y="1289634"/>
            <a:ext cx="1244399" cy="352481"/>
            <a:chOff x="4900615" y="2811294"/>
            <a:chExt cx="1283996" cy="352481"/>
          </a:xfrm>
        </p:grpSpPr>
        <p:sp>
          <p:nvSpPr>
            <p:cNvPr id="11" name="平行四边形 10"/>
            <p:cNvSpPr/>
            <p:nvPr/>
          </p:nvSpPr>
          <p:spPr>
            <a:xfrm>
              <a:off x="5929313" y="2811294"/>
              <a:ext cx="255298" cy="352481"/>
            </a:xfrm>
            <a:prstGeom prst="parallelogram">
              <a:avLst>
                <a:gd name="adj" fmla="val 38991"/>
              </a:avLst>
            </a:prstGeom>
            <a:solidFill>
              <a:srgbClr val="EC1B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4900615" y="2811294"/>
              <a:ext cx="1195385" cy="352481"/>
            </a:xfrm>
            <a:custGeom>
              <a:avLst/>
              <a:gdLst>
                <a:gd name="connsiteX0" fmla="*/ 0 w 1195385"/>
                <a:gd name="connsiteY0" fmla="*/ 0 h 352481"/>
                <a:gd name="connsiteX1" fmla="*/ 1195385 w 1195385"/>
                <a:gd name="connsiteY1" fmla="*/ 0 h 352481"/>
                <a:gd name="connsiteX2" fmla="*/ 1107265 w 1195385"/>
                <a:gd name="connsiteY2" fmla="*/ 352481 h 352481"/>
                <a:gd name="connsiteX3" fmla="*/ 0 w 1195385"/>
                <a:gd name="connsiteY3" fmla="*/ 352481 h 3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385" h="352481">
                  <a:moveTo>
                    <a:pt x="0" y="0"/>
                  </a:moveTo>
                  <a:lnTo>
                    <a:pt x="1195385" y="0"/>
                  </a:lnTo>
                  <a:lnTo>
                    <a:pt x="1107265" y="352481"/>
                  </a:lnTo>
                  <a:lnTo>
                    <a:pt x="0" y="35248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b="1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存储优化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594032" y="1289634"/>
            <a:ext cx="1534069" cy="352481"/>
            <a:chOff x="4900615" y="2811294"/>
            <a:chExt cx="1283996" cy="352481"/>
          </a:xfrm>
        </p:grpSpPr>
        <p:sp>
          <p:nvSpPr>
            <p:cNvPr id="14" name="平行四边形 13"/>
            <p:cNvSpPr/>
            <p:nvPr/>
          </p:nvSpPr>
          <p:spPr>
            <a:xfrm>
              <a:off x="5929313" y="2811294"/>
              <a:ext cx="255298" cy="352481"/>
            </a:xfrm>
            <a:prstGeom prst="parallelogram">
              <a:avLst>
                <a:gd name="adj" fmla="val 38991"/>
              </a:avLst>
            </a:prstGeom>
            <a:solidFill>
              <a:srgbClr val="EC1B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4900615" y="2811294"/>
              <a:ext cx="1195385" cy="352481"/>
            </a:xfrm>
            <a:custGeom>
              <a:avLst/>
              <a:gdLst>
                <a:gd name="connsiteX0" fmla="*/ 0 w 1195385"/>
                <a:gd name="connsiteY0" fmla="*/ 0 h 352481"/>
                <a:gd name="connsiteX1" fmla="*/ 1195385 w 1195385"/>
                <a:gd name="connsiteY1" fmla="*/ 0 h 352481"/>
                <a:gd name="connsiteX2" fmla="*/ 1107265 w 1195385"/>
                <a:gd name="connsiteY2" fmla="*/ 352481 h 352481"/>
                <a:gd name="connsiteX3" fmla="*/ 0 w 1195385"/>
                <a:gd name="connsiteY3" fmla="*/ 352481 h 3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385" h="352481">
                  <a:moveTo>
                    <a:pt x="0" y="0"/>
                  </a:moveTo>
                  <a:lnTo>
                    <a:pt x="1195385" y="0"/>
                  </a:lnTo>
                  <a:lnTo>
                    <a:pt x="1107265" y="352481"/>
                  </a:lnTo>
                  <a:lnTo>
                    <a:pt x="0" y="35248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b="1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优化器优化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992443" y="1289634"/>
            <a:ext cx="1307787" cy="352481"/>
            <a:chOff x="4900615" y="2811294"/>
            <a:chExt cx="1283996" cy="352481"/>
          </a:xfrm>
        </p:grpSpPr>
        <p:sp>
          <p:nvSpPr>
            <p:cNvPr id="17" name="平行四边形 16"/>
            <p:cNvSpPr/>
            <p:nvPr/>
          </p:nvSpPr>
          <p:spPr>
            <a:xfrm>
              <a:off x="5929313" y="2811294"/>
              <a:ext cx="255298" cy="352481"/>
            </a:xfrm>
            <a:prstGeom prst="parallelogram">
              <a:avLst>
                <a:gd name="adj" fmla="val 38991"/>
              </a:avLst>
            </a:prstGeom>
            <a:solidFill>
              <a:srgbClr val="EC1B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4900615" y="2811294"/>
              <a:ext cx="1195385" cy="352481"/>
            </a:xfrm>
            <a:custGeom>
              <a:avLst/>
              <a:gdLst>
                <a:gd name="connsiteX0" fmla="*/ 0 w 1195385"/>
                <a:gd name="connsiteY0" fmla="*/ 0 h 352481"/>
                <a:gd name="connsiteX1" fmla="*/ 1195385 w 1195385"/>
                <a:gd name="connsiteY1" fmla="*/ 0 h 352481"/>
                <a:gd name="connsiteX2" fmla="*/ 1107265 w 1195385"/>
                <a:gd name="connsiteY2" fmla="*/ 352481 h 352481"/>
                <a:gd name="connsiteX3" fmla="*/ 0 w 1195385"/>
                <a:gd name="connsiteY3" fmla="*/ 352481 h 3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385" h="352481">
                  <a:moveTo>
                    <a:pt x="0" y="0"/>
                  </a:moveTo>
                  <a:lnTo>
                    <a:pt x="1195385" y="0"/>
                  </a:lnTo>
                  <a:lnTo>
                    <a:pt x="1107265" y="352481"/>
                  </a:lnTo>
                  <a:lnTo>
                    <a:pt x="0" y="35248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b="1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内核优化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384507" y="1289634"/>
            <a:ext cx="1307787" cy="352481"/>
            <a:chOff x="4900615" y="2811294"/>
            <a:chExt cx="1283996" cy="352481"/>
          </a:xfrm>
        </p:grpSpPr>
        <p:sp>
          <p:nvSpPr>
            <p:cNvPr id="20" name="平行四边形 19"/>
            <p:cNvSpPr/>
            <p:nvPr/>
          </p:nvSpPr>
          <p:spPr>
            <a:xfrm>
              <a:off x="5929313" y="2811294"/>
              <a:ext cx="255298" cy="352481"/>
            </a:xfrm>
            <a:prstGeom prst="parallelogram">
              <a:avLst>
                <a:gd name="adj" fmla="val 38991"/>
              </a:avLst>
            </a:prstGeom>
            <a:solidFill>
              <a:srgbClr val="EC1B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4900615" y="2811294"/>
              <a:ext cx="1195385" cy="352481"/>
            </a:xfrm>
            <a:custGeom>
              <a:avLst/>
              <a:gdLst>
                <a:gd name="connsiteX0" fmla="*/ 0 w 1195385"/>
                <a:gd name="connsiteY0" fmla="*/ 0 h 352481"/>
                <a:gd name="connsiteX1" fmla="*/ 1195385 w 1195385"/>
                <a:gd name="connsiteY1" fmla="*/ 0 h 352481"/>
                <a:gd name="connsiteX2" fmla="*/ 1107265 w 1195385"/>
                <a:gd name="connsiteY2" fmla="*/ 352481 h 352481"/>
                <a:gd name="connsiteX3" fmla="*/ 0 w 1195385"/>
                <a:gd name="connsiteY3" fmla="*/ 352481 h 3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385" h="352481">
                  <a:moveTo>
                    <a:pt x="0" y="0"/>
                  </a:moveTo>
                  <a:lnTo>
                    <a:pt x="1195385" y="0"/>
                  </a:lnTo>
                  <a:lnTo>
                    <a:pt x="1107265" y="352481"/>
                  </a:lnTo>
                  <a:lnTo>
                    <a:pt x="0" y="35248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b="1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查询优化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19507" y="3906624"/>
            <a:ext cx="1244399" cy="352481"/>
            <a:chOff x="4900615" y="2811294"/>
            <a:chExt cx="1283996" cy="352481"/>
          </a:xfrm>
        </p:grpSpPr>
        <p:sp>
          <p:nvSpPr>
            <p:cNvPr id="23" name="平行四边形 22"/>
            <p:cNvSpPr/>
            <p:nvPr/>
          </p:nvSpPr>
          <p:spPr>
            <a:xfrm>
              <a:off x="5929313" y="2811294"/>
              <a:ext cx="255298" cy="352481"/>
            </a:xfrm>
            <a:prstGeom prst="parallelogram">
              <a:avLst>
                <a:gd name="adj" fmla="val 38991"/>
              </a:avLst>
            </a:prstGeom>
            <a:solidFill>
              <a:srgbClr val="EC1B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4900615" y="2811294"/>
              <a:ext cx="1195385" cy="352481"/>
            </a:xfrm>
            <a:custGeom>
              <a:avLst/>
              <a:gdLst>
                <a:gd name="connsiteX0" fmla="*/ 0 w 1195385"/>
                <a:gd name="connsiteY0" fmla="*/ 0 h 352481"/>
                <a:gd name="connsiteX1" fmla="*/ 1195385 w 1195385"/>
                <a:gd name="connsiteY1" fmla="*/ 0 h 352481"/>
                <a:gd name="connsiteX2" fmla="*/ 1107265 w 1195385"/>
                <a:gd name="connsiteY2" fmla="*/ 352481 h 352481"/>
                <a:gd name="connsiteX3" fmla="*/ 0 w 1195385"/>
                <a:gd name="connsiteY3" fmla="*/ 352481 h 3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385" h="352481">
                  <a:moveTo>
                    <a:pt x="0" y="0"/>
                  </a:moveTo>
                  <a:lnTo>
                    <a:pt x="1195385" y="0"/>
                  </a:lnTo>
                  <a:lnTo>
                    <a:pt x="1107265" y="352481"/>
                  </a:lnTo>
                  <a:lnTo>
                    <a:pt x="0" y="35248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b="1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导入导出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594032" y="3906624"/>
            <a:ext cx="1295470" cy="352481"/>
            <a:chOff x="4900615" y="2811294"/>
            <a:chExt cx="1283996" cy="352481"/>
          </a:xfrm>
        </p:grpSpPr>
        <p:sp>
          <p:nvSpPr>
            <p:cNvPr id="26" name="平行四边形 25"/>
            <p:cNvSpPr/>
            <p:nvPr/>
          </p:nvSpPr>
          <p:spPr>
            <a:xfrm>
              <a:off x="5929313" y="2811294"/>
              <a:ext cx="255298" cy="352481"/>
            </a:xfrm>
            <a:prstGeom prst="parallelogram">
              <a:avLst>
                <a:gd name="adj" fmla="val 38991"/>
              </a:avLst>
            </a:prstGeom>
            <a:solidFill>
              <a:srgbClr val="EC1B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4900615" y="2811294"/>
              <a:ext cx="1195385" cy="352481"/>
            </a:xfrm>
            <a:custGeom>
              <a:avLst/>
              <a:gdLst>
                <a:gd name="connsiteX0" fmla="*/ 0 w 1195385"/>
                <a:gd name="connsiteY0" fmla="*/ 0 h 352481"/>
                <a:gd name="connsiteX1" fmla="*/ 1195385 w 1195385"/>
                <a:gd name="connsiteY1" fmla="*/ 0 h 352481"/>
                <a:gd name="connsiteX2" fmla="*/ 1107265 w 1195385"/>
                <a:gd name="connsiteY2" fmla="*/ 352481 h 352481"/>
                <a:gd name="connsiteX3" fmla="*/ 0 w 1195385"/>
                <a:gd name="connsiteY3" fmla="*/ 352481 h 3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385" h="352481">
                  <a:moveTo>
                    <a:pt x="0" y="0"/>
                  </a:moveTo>
                  <a:lnTo>
                    <a:pt x="1195385" y="0"/>
                  </a:lnTo>
                  <a:lnTo>
                    <a:pt x="1107265" y="352481"/>
                  </a:lnTo>
                  <a:lnTo>
                    <a:pt x="0" y="35248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b="1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开发语言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992443" y="3906624"/>
            <a:ext cx="1307787" cy="352481"/>
            <a:chOff x="4900615" y="2811294"/>
            <a:chExt cx="1283996" cy="352481"/>
          </a:xfrm>
        </p:grpSpPr>
        <p:sp>
          <p:nvSpPr>
            <p:cNvPr id="29" name="平行四边形 28"/>
            <p:cNvSpPr/>
            <p:nvPr/>
          </p:nvSpPr>
          <p:spPr>
            <a:xfrm>
              <a:off x="5929313" y="2811294"/>
              <a:ext cx="255298" cy="352481"/>
            </a:xfrm>
            <a:prstGeom prst="parallelogram">
              <a:avLst>
                <a:gd name="adj" fmla="val 38991"/>
              </a:avLst>
            </a:prstGeom>
            <a:solidFill>
              <a:srgbClr val="EC1B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900615" y="2811294"/>
              <a:ext cx="1195385" cy="352481"/>
            </a:xfrm>
            <a:custGeom>
              <a:avLst/>
              <a:gdLst>
                <a:gd name="connsiteX0" fmla="*/ 0 w 1195385"/>
                <a:gd name="connsiteY0" fmla="*/ 0 h 352481"/>
                <a:gd name="connsiteX1" fmla="*/ 1195385 w 1195385"/>
                <a:gd name="connsiteY1" fmla="*/ 0 h 352481"/>
                <a:gd name="connsiteX2" fmla="*/ 1107265 w 1195385"/>
                <a:gd name="connsiteY2" fmla="*/ 352481 h 352481"/>
                <a:gd name="connsiteX3" fmla="*/ 0 w 1195385"/>
                <a:gd name="connsiteY3" fmla="*/ 352481 h 3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385" h="352481">
                  <a:moveTo>
                    <a:pt x="0" y="0"/>
                  </a:moveTo>
                  <a:lnTo>
                    <a:pt x="1195385" y="0"/>
                  </a:lnTo>
                  <a:lnTo>
                    <a:pt x="1107265" y="352481"/>
                  </a:lnTo>
                  <a:lnTo>
                    <a:pt x="0" y="35248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b="1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并行优化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384507" y="3906624"/>
            <a:ext cx="1307787" cy="352481"/>
            <a:chOff x="4900615" y="2811294"/>
            <a:chExt cx="1283996" cy="352481"/>
          </a:xfrm>
        </p:grpSpPr>
        <p:sp>
          <p:nvSpPr>
            <p:cNvPr id="32" name="平行四边形 31"/>
            <p:cNvSpPr/>
            <p:nvPr/>
          </p:nvSpPr>
          <p:spPr>
            <a:xfrm>
              <a:off x="5929313" y="2811294"/>
              <a:ext cx="255298" cy="352481"/>
            </a:xfrm>
            <a:prstGeom prst="parallelogram">
              <a:avLst>
                <a:gd name="adj" fmla="val 38991"/>
              </a:avLst>
            </a:prstGeom>
            <a:solidFill>
              <a:srgbClr val="EC1B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latin typeface="Poppins" panose="02000000000000000000" pitchFamily="2" charset="0"/>
                <a:ea typeface="HarmonyOS Sans SC" panose="00000500000000000000" pitchFamily="2" charset="-122"/>
                <a:sym typeface="Poppins" panose="02000000000000000000" pitchFamily="2" charset="0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4900615" y="2811294"/>
              <a:ext cx="1195385" cy="352481"/>
            </a:xfrm>
            <a:custGeom>
              <a:avLst/>
              <a:gdLst>
                <a:gd name="connsiteX0" fmla="*/ 0 w 1195385"/>
                <a:gd name="connsiteY0" fmla="*/ 0 h 352481"/>
                <a:gd name="connsiteX1" fmla="*/ 1195385 w 1195385"/>
                <a:gd name="connsiteY1" fmla="*/ 0 h 352481"/>
                <a:gd name="connsiteX2" fmla="*/ 1107265 w 1195385"/>
                <a:gd name="connsiteY2" fmla="*/ 352481 h 352481"/>
                <a:gd name="connsiteX3" fmla="*/ 0 w 1195385"/>
                <a:gd name="connsiteY3" fmla="*/ 352481 h 352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5385" h="352481">
                  <a:moveTo>
                    <a:pt x="0" y="0"/>
                  </a:moveTo>
                  <a:lnTo>
                    <a:pt x="1195385" y="0"/>
                  </a:lnTo>
                  <a:lnTo>
                    <a:pt x="1107265" y="352481"/>
                  </a:lnTo>
                  <a:lnTo>
                    <a:pt x="0" y="35248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r>
                <a:rPr lang="zh-CN" altLang="en-US" b="1" dirty="0">
                  <a:latin typeface="Poppins" panose="02000000000000000000" pitchFamily="2" charset="0"/>
                  <a:ea typeface="HarmonyOS Sans SC" panose="00000500000000000000" pitchFamily="2" charset="-122"/>
                  <a:sym typeface="Poppins" panose="02000000000000000000" pitchFamily="2" charset="0"/>
                </a:rPr>
                <a:t>集群优化</a:t>
              </a: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0233792" y="2206871"/>
            <a:ext cx="6771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产品应用于国家重大核心领域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cs typeface="HarmonyOS Sans SC" panose="00000500000000000000" charset="-122"/>
              <a:sym typeface="Poppins" panose="02000000000000000000" pitchFamily="2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135689" y="1686379"/>
            <a:ext cx="6771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Poppins" panose="02000000000000000000" pitchFamily="2" charset="0"/>
                <a:ea typeface="HarmonyOS Sans SC" panose="00000500000000000000" pitchFamily="2" charset="-122"/>
                <a:cs typeface="HarmonyOS Sans SC" panose="00000500000000000000" charset="-122"/>
                <a:sym typeface="Poppins" panose="02000000000000000000" pitchFamily="2" charset="0"/>
              </a:rPr>
              <a:t>大数据战略的亲历者和推动者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Poppins" panose="02000000000000000000" pitchFamily="2" charset="0"/>
              <a:ea typeface="HarmonyOS Sans SC" panose="00000500000000000000" pitchFamily="2" charset="-122"/>
              <a:cs typeface="HarmonyOS Sans SC" panose="00000500000000000000" charset="-122"/>
              <a:sym typeface="Poppins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12C0-23A6-3B15-C3C2-2D469071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3093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1588495,19981900,50046291,50045819,458820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1d6dc726-71a3-4b60-9d2c-b0ec8eb12b2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.44968503937008,&quot;left&quot;:52.91543307086614,&quot;top&quot;:20.75031496062992,&quot;width&quot;:847.4}"/>
</p:tagLst>
</file>

<file path=ppt/theme/theme1.xml><?xml version="1.0" encoding="utf-8"?>
<a:theme xmlns:a="http://schemas.openxmlformats.org/drawingml/2006/main" name="Office 主题​​">
  <a:themeElements>
    <a:clrScheme name="模版色">
      <a:dk1>
        <a:srgbClr val="020202"/>
      </a:dk1>
      <a:lt1>
        <a:sysClr val="window" lastClr="FFFFFF"/>
      </a:lt1>
      <a:dk2>
        <a:srgbClr val="595959"/>
      </a:dk2>
      <a:lt2>
        <a:srgbClr val="F3F4F8"/>
      </a:lt2>
      <a:accent1>
        <a:srgbClr val="0000D2"/>
      </a:accent1>
      <a:accent2>
        <a:srgbClr val="E6E6FB"/>
      </a:accent2>
      <a:accent3>
        <a:srgbClr val="EC1B34"/>
      </a:accent3>
      <a:accent4>
        <a:srgbClr val="003EEE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573</Words>
  <Application>Microsoft Office PowerPoint</Application>
  <PresentationFormat>宽屏</PresentationFormat>
  <Paragraphs>139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HarmonyOS Sans SC Black</vt:lpstr>
      <vt:lpstr>Arial</vt:lpstr>
      <vt:lpstr>Calibri</vt:lpstr>
      <vt:lpstr>Calibri Light</vt:lpstr>
      <vt:lpstr>HarmonyOS Sans SC</vt:lpstr>
      <vt:lpstr>Poppins</vt:lpstr>
      <vt:lpstr>Wingdings</vt:lpstr>
      <vt:lpstr>等线</vt:lpstr>
      <vt:lpstr>Office 主题​​</vt:lpstr>
      <vt:lpstr>PowerPoint 演示文稿</vt:lpstr>
      <vt:lpstr>PowerPoint 演示文稿</vt:lpstr>
      <vt:lpstr>01</vt:lpstr>
      <vt:lpstr>服务体系</vt:lpstr>
      <vt:lpstr>架构演进</vt:lpstr>
      <vt:lpstr>高性能-分布式集群技术突破上限</vt:lpstr>
      <vt:lpstr>高性能-全国产平台性能优化</vt:lpstr>
      <vt:lpstr>PowerPoint 演示文稿</vt:lpstr>
    </vt:vector>
  </TitlesOfParts>
  <Company>达梦数据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HC</dc:creator>
  <cp:lastModifiedBy>zhao lu</cp:lastModifiedBy>
  <cp:revision>209</cp:revision>
  <dcterms:created xsi:type="dcterms:W3CDTF">2026-04-30T08:34:00Z</dcterms:created>
  <dcterms:modified xsi:type="dcterms:W3CDTF">2026-07-17T02:43:29Z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C6F289293BEE43B6A83EF09FC18753B2_13</vt:lpwstr>
  </property>
  <property fmtid="{D5CDD505-2E9C-101B-9397-08002B2CF9AE}" pid="3" name="KSOProductBuildVer">
    <vt:lpwstr>2052-12.1.0.26895</vt:lpwstr>
  </property>
</Properties>
</file>